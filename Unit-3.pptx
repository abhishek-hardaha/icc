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2" r:id="rId1"/>
    <p:sldMasterId id="2147483736" r:id="rId2"/>
  </p:sldMasterIdLst>
  <p:notesMasterIdLst>
    <p:notesMasterId r:id="rId80"/>
  </p:notesMasterIdLst>
  <p:sldIdLst>
    <p:sldId id="311" r:id="rId3"/>
    <p:sldId id="312" r:id="rId4"/>
    <p:sldId id="335" r:id="rId5"/>
    <p:sldId id="336" r:id="rId6"/>
    <p:sldId id="337" r:id="rId7"/>
    <p:sldId id="269" r:id="rId8"/>
    <p:sldId id="270" r:id="rId9"/>
    <p:sldId id="271" r:id="rId10"/>
    <p:sldId id="272" r:id="rId11"/>
    <p:sldId id="338" r:id="rId12"/>
    <p:sldId id="339" r:id="rId13"/>
    <p:sldId id="343" r:id="rId14"/>
    <p:sldId id="344" r:id="rId15"/>
    <p:sldId id="345" r:id="rId16"/>
    <p:sldId id="340" r:id="rId17"/>
    <p:sldId id="347" r:id="rId18"/>
    <p:sldId id="346" r:id="rId19"/>
    <p:sldId id="364" r:id="rId20"/>
    <p:sldId id="365" r:id="rId21"/>
    <p:sldId id="366" r:id="rId22"/>
    <p:sldId id="273" r:id="rId23"/>
    <p:sldId id="341" r:id="rId24"/>
    <p:sldId id="348" r:id="rId25"/>
    <p:sldId id="349" r:id="rId26"/>
    <p:sldId id="350" r:id="rId27"/>
    <p:sldId id="351" r:id="rId28"/>
    <p:sldId id="352" r:id="rId29"/>
    <p:sldId id="353" r:id="rId30"/>
    <p:sldId id="354" r:id="rId31"/>
    <p:sldId id="367" r:id="rId32"/>
    <p:sldId id="368" r:id="rId33"/>
    <p:sldId id="369" r:id="rId34"/>
    <p:sldId id="370" r:id="rId35"/>
    <p:sldId id="374" r:id="rId36"/>
    <p:sldId id="342" r:id="rId37"/>
    <p:sldId id="355" r:id="rId38"/>
    <p:sldId id="356" r:id="rId39"/>
    <p:sldId id="357" r:id="rId40"/>
    <p:sldId id="358" r:id="rId41"/>
    <p:sldId id="359" r:id="rId42"/>
    <p:sldId id="360" r:id="rId43"/>
    <p:sldId id="361" r:id="rId44"/>
    <p:sldId id="371" r:id="rId45"/>
    <p:sldId id="372" r:id="rId46"/>
    <p:sldId id="373" r:id="rId47"/>
    <p:sldId id="287" r:id="rId48"/>
    <p:sldId id="288" r:id="rId49"/>
    <p:sldId id="289" r:id="rId50"/>
    <p:sldId id="290" r:id="rId51"/>
    <p:sldId id="263" r:id="rId52"/>
    <p:sldId id="292" r:id="rId53"/>
    <p:sldId id="301" r:id="rId54"/>
    <p:sldId id="293" r:id="rId55"/>
    <p:sldId id="295" r:id="rId56"/>
    <p:sldId id="296" r:id="rId57"/>
    <p:sldId id="297" r:id="rId58"/>
    <p:sldId id="298" r:id="rId59"/>
    <p:sldId id="299" r:id="rId60"/>
    <p:sldId id="294" r:id="rId61"/>
    <p:sldId id="300" r:id="rId62"/>
    <p:sldId id="275" r:id="rId63"/>
    <p:sldId id="264" r:id="rId64"/>
    <p:sldId id="274" r:id="rId65"/>
    <p:sldId id="265" r:id="rId66"/>
    <p:sldId id="266" r:id="rId67"/>
    <p:sldId id="267" r:id="rId68"/>
    <p:sldId id="268" r:id="rId69"/>
    <p:sldId id="363" r:id="rId70"/>
    <p:sldId id="362" r:id="rId71"/>
    <p:sldId id="279" r:id="rId72"/>
    <p:sldId id="280" r:id="rId73"/>
    <p:sldId id="281" r:id="rId74"/>
    <p:sldId id="282" r:id="rId75"/>
    <p:sldId id="283" r:id="rId76"/>
    <p:sldId id="284" r:id="rId77"/>
    <p:sldId id="285" r:id="rId78"/>
    <p:sldId id="286" r:id="rId79"/>
  </p:sldIdLst>
  <p:sldSz cx="9144000" cy="5143500" type="screen16x9"/>
  <p:notesSz cx="6858000" cy="9144000"/>
  <p:embeddedFontLst>
    <p:embeddedFont>
      <p:font typeface="Montserrat" panose="020B0604020202020204" charset="0"/>
      <p:regular r:id="rId81"/>
      <p:bold r:id="rId82"/>
      <p:italic r:id="rId83"/>
      <p:boldItalic r:id="rId84"/>
    </p:embeddedFont>
    <p:embeddedFont>
      <p:font typeface="Palatino Linotype" panose="02040502050505030304" pitchFamily="18" charset="0"/>
      <p:regular r:id="rId85"/>
      <p:bold r:id="rId86"/>
      <p:italic r:id="rId87"/>
      <p:boldItalic r:id="rId8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569" autoAdjust="0"/>
  </p:normalViewPr>
  <p:slideViewPr>
    <p:cSldViewPr snapToGrid="0">
      <p:cViewPr varScale="1">
        <p:scale>
          <a:sx n="142" d="100"/>
          <a:sy n="142" d="100"/>
        </p:scale>
        <p:origin x="738"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4.fntdata"/><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font" Target="fonts/font1.fntdata"/><Relationship Id="rId86"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7.fntdata"/><Relationship Id="rId61" Type="http://schemas.openxmlformats.org/officeDocument/2006/relationships/slide" Target="slides/slide59.xml"/><Relationship Id="rId82" Type="http://schemas.openxmlformats.org/officeDocument/2006/relationships/font" Target="fonts/font2.fntdata"/><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c09d61c06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3c09d61c0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3c09d61c06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3c09d61c06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3c09d61c06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3c09d61c06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3c09d61c06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3c09d61c06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3c09d61c06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3c09d61c06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3c09d61c06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3c09d61c06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3c09d61c06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3c09d61c06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852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8611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403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9575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335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0567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1899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68d8fcc4a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68d8fcc4a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0681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6b6e06fb2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6b6e06fb2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4019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6b6e06fb2c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6b6e06fb2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5208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6b6e06fb2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6b6e06fb2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8445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539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3d38d75f8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3d38d75f8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9786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5737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1680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1608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6383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26668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19029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5427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00637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9020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97867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21142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11119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2901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11906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84479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83331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307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86903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68d8fcc4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68d8fcc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59549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6b6e06fb2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6b6e06fb2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6b6e06fb2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6b6e06fb2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6b6e06fb2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6b6e06fb2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6b6e06fb2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6b6e06fb2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6b6e06fb2c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6b6e06fb2c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6b6e06fb2c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6b6e06fb2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93673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39937fd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539937fd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539937fd6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539937fd6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539937fd6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539937fd6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539937fd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539937fd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539937fd6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1539937fd6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539937fd6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1539937fd6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539937fd6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539937fd6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539937fd62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539937fd6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69829" y="601724"/>
            <a:ext cx="6421310"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69829" y="2648403"/>
            <a:ext cx="6421310"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smtClean="0"/>
              <a:t>8/25/2026</a:t>
            </a:fld>
            <a:endParaRPr lang="en-US" dirty="0"/>
          </a:p>
        </p:txBody>
      </p:sp>
      <p:sp>
        <p:nvSpPr>
          <p:cNvPr id="5" name="Footer Placeholder 4"/>
          <p:cNvSpPr>
            <a:spLocks noGrp="1"/>
          </p:cNvSpPr>
          <p:nvPr>
            <p:ph type="ftr" sz="quarter" idx="11"/>
          </p:nvPr>
        </p:nvSpPr>
        <p:spPr>
          <a:xfrm>
            <a:off x="1869829" y="246981"/>
            <a:ext cx="3672983"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a:off x="1750978" y="599230"/>
            <a:ext cx="0" cy="190856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72809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a:off x="1028765" y="599230"/>
            <a:ext cx="0" cy="80037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743400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1110" y="1317097"/>
            <a:ext cx="6421935"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151021" y="2854647"/>
            <a:ext cx="6412493"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578ACC-22D6-47C1-A373-4FD133E34F3C}"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a:off x="1028765" y="599230"/>
            <a:ext cx="0" cy="213383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42275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1022" y="603667"/>
            <a:ext cx="7140118"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51021" y="1508159"/>
            <a:ext cx="3456432" cy="257860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41095" y="1513007"/>
            <a:ext cx="3453098" cy="25811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1028765" y="599230"/>
            <a:ext cx="0" cy="80037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80994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1022" y="603123"/>
            <a:ext cx="7140118"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51021" y="1514662"/>
            <a:ext cx="3456432"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151021" y="2118202"/>
            <a:ext cx="3456432" cy="19833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41093" y="1517253"/>
            <a:ext cx="3456432"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841094" y="2116119"/>
            <a:ext cx="3456432" cy="19780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smtClean="0"/>
              <a:t>8/25/2026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11" name="Straight Connector 10"/>
          <p:cNvCxnSpPr/>
          <p:nvPr/>
        </p:nvCxnSpPr>
        <p:spPr>
          <a:xfrm>
            <a:off x="1028765" y="599230"/>
            <a:ext cx="0" cy="80037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11188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smtClean="0"/>
              <a:t>8/25/2026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7" name="Straight Connector 6"/>
          <p:cNvCxnSpPr/>
          <p:nvPr/>
        </p:nvCxnSpPr>
        <p:spPr>
          <a:xfrm>
            <a:off x="1028765" y="599230"/>
            <a:ext cx="0" cy="80037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445590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t>8/25/2026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94250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0982" y="599230"/>
            <a:ext cx="2387346"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1022" y="2404119"/>
            <a:ext cx="2388742"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331444B-B92B-4E27-8C94-BB93EAF5CB18}"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1028765" y="599230"/>
            <a:ext cx="0" cy="168533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9457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51771" y="847135"/>
            <a:ext cx="4085880"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151022" y="2359494"/>
            <a:ext cx="4080028"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1151021" y="4102393"/>
            <a:ext cx="4080029" cy="240092"/>
          </a:xfrm>
        </p:spPr>
        <p:txBody>
          <a:bodyPr/>
          <a:lstStyle>
            <a:lvl1pPr algn="l">
              <a:defRPr/>
            </a:lvl1pPr>
          </a:lstStyle>
          <a:p>
            <a:fld id="{363EFA5E-FA76-400D-B3DC-F0BA90E6D107}" type="datetimeFigureOut">
              <a:rPr lang="en-US" smtClean="0"/>
              <a:t>8/25/2026</a:t>
            </a:fld>
            <a:endParaRPr lang="en-US" dirty="0"/>
          </a:p>
        </p:txBody>
      </p:sp>
      <p:sp>
        <p:nvSpPr>
          <p:cNvPr id="6" name="Footer Placeholder 5"/>
          <p:cNvSpPr>
            <a:spLocks noGrp="1"/>
          </p:cNvSpPr>
          <p:nvPr>
            <p:ph type="ftr" sz="quarter" idx="11"/>
          </p:nvPr>
        </p:nvSpPr>
        <p:spPr>
          <a:xfrm>
            <a:off x="1151183" y="238981"/>
            <a:ext cx="4090106" cy="240698"/>
          </a:xfrm>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14" name="Straight Connector 13"/>
          <p:cNvCxnSpPr/>
          <p:nvPr/>
        </p:nvCxnSpPr>
        <p:spPr>
          <a:xfrm>
            <a:off x="1028765" y="599230"/>
            <a:ext cx="0" cy="1620843"/>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1356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a:off x="1028765" y="599230"/>
            <a:ext cx="0" cy="80037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89043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662898"/>
            <a:ext cx="1211807" cy="343124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51021" y="662898"/>
            <a:ext cx="5804105" cy="343124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78E61D-D431-422C-9764-11DAFE33AB63}"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flipH="1">
            <a:off x="7079333" y="539454"/>
            <a:ext cx="1211807"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8571974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40091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065692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46851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996156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55542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0713966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364036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886973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338868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2205736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4458602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2548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1511799"/>
            <a:ext cx="9144000" cy="3089122"/>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srcRect t="2769" b="-2769"/>
          <a:stretch/>
        </p:blipFill>
        <p:spPr>
          <a:xfrm>
            <a:off x="0" y="4601718"/>
            <a:ext cx="9144000" cy="557213"/>
          </a:xfrm>
          <a:prstGeom prst="rect">
            <a:avLst/>
          </a:prstGeom>
        </p:spPr>
      </p:pic>
      <p:sp>
        <p:nvSpPr>
          <p:cNvPr id="2" name="Title Placeholder 1"/>
          <p:cNvSpPr>
            <a:spLocks noGrp="1"/>
          </p:cNvSpPr>
          <p:nvPr>
            <p:ph type="title"/>
          </p:nvPr>
        </p:nvSpPr>
        <p:spPr>
          <a:xfrm>
            <a:off x="1151022" y="603390"/>
            <a:ext cx="7140119" cy="78692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1022" y="1511799"/>
            <a:ext cx="7140119" cy="258796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9D6E9DEC-419B-4CC5-A080-3B06BD5A8291}" type="datetimeFigureOut">
              <a:rPr lang="en-US" smtClean="0"/>
              <a:t>8/25/2026</a:t>
            </a:fld>
            <a:endParaRPr lang="en-US" dirty="0"/>
          </a:p>
        </p:txBody>
      </p:sp>
      <p:sp>
        <p:nvSpPr>
          <p:cNvPr id="5" name="Footer Placeholder 4"/>
          <p:cNvSpPr>
            <a:spLocks noGrp="1"/>
          </p:cNvSpPr>
          <p:nvPr>
            <p:ph type="ftr" sz="quarter" idx="3"/>
          </p:nvPr>
        </p:nvSpPr>
        <p:spPr>
          <a:xfrm>
            <a:off x="1151022" y="246981"/>
            <a:ext cx="4391789"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12" name="Straight Connector 11"/>
          <p:cNvCxnSpPr/>
          <p:nvPr/>
        </p:nvCxnSpPr>
        <p:spPr>
          <a:xfrm>
            <a:off x="0" y="460627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502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sldNum="0" hdr="0" ftr="0" dt="0"/>
  <p:txStyles>
    <p:titleStyle>
      <a:lvl1pPr algn="l" defTabSz="685800" rtl="0" eaLnBrk="1" latinLnBrk="0" hangingPunct="1">
        <a:lnSpc>
          <a:spcPct val="90000"/>
        </a:lnSpc>
        <a:spcBef>
          <a:spcPct val="0"/>
        </a:spcBef>
        <a:buNone/>
        <a:defRPr sz="2400" b="0" i="0" kern="1200" cap="none">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06422400"/>
      </p:ext>
    </p:extLst>
  </p:cSld>
  <p:clrMap bg1="lt1" tx1="dk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go4hosting.in/hosting-wiki/w/web-server"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8" Type="http://schemas.openxmlformats.org/officeDocument/2006/relationships/hyperlink" Target="https://aws.amazon.com/dynamodb" TargetMode="External"/><Relationship Id="rId3" Type="http://schemas.openxmlformats.org/officeDocument/2006/relationships/hyperlink" Target="https://aws.amazon.com/lambda" TargetMode="External"/><Relationship Id="rId7" Type="http://schemas.openxmlformats.org/officeDocument/2006/relationships/hyperlink" Target="https://aws.amazon.com/aurora" TargetMode="External"/><Relationship Id="rId2" Type="http://schemas.openxmlformats.org/officeDocument/2006/relationships/hyperlink" Target="https://aws.amazon.com/api-gateway" TargetMode="External"/><Relationship Id="rId1" Type="http://schemas.openxmlformats.org/officeDocument/2006/relationships/slideLayout" Target="../slideLayouts/slideLayout12.xml"/><Relationship Id="rId6" Type="http://schemas.openxmlformats.org/officeDocument/2006/relationships/hyperlink" Target="https://aws.amazon.com/s3" TargetMode="External"/><Relationship Id="rId5" Type="http://schemas.openxmlformats.org/officeDocument/2006/relationships/hyperlink" Target="https://aws.amazon.com/cloudfront" TargetMode="External"/><Relationship Id="rId4" Type="http://schemas.openxmlformats.org/officeDocument/2006/relationships/hyperlink" Target="https://docs.aws.amazon.com/apigateway/latest/developerguide/limits.html"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hyperlink" Target="http://stmarysguntur.com/wp-content/uploads/2018/02/UNIT-IV-Programming-Support-of-Google-App-Engine-AWS.pdf" TargetMode="External"/><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hyperlink" Target="https://docs.aws.amazon.com/cdk/v2/guide/languages.html#:~:text=The%20AWS%20CDK%20is%20developed,natural%20and%20intuitive%20as%20possible" TargetMode="Externa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hyperlink" Target="https://www.geeksforgeeks.org/java/" TargetMode="External"/><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hyperlink" Target="https://www.geeksforgeeks.org/ruby-programming-language/" TargetMode="External"/><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hyperlink" Target="https://www.geeksforgeeks.org/php/" TargetMode="External"/><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hyperlink" Target="https://www.geeksforgeeks.org/introduction-to-nodejs/" TargetMode="External"/><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D9EB-3412-47C4-AA25-C40ECE558616}"/>
              </a:ext>
            </a:extLst>
          </p:cNvPr>
          <p:cNvSpPr>
            <a:spLocks noGrp="1"/>
          </p:cNvSpPr>
          <p:nvPr>
            <p:ph type="title"/>
          </p:nvPr>
        </p:nvSpPr>
        <p:spPr>
          <a:xfrm>
            <a:off x="2353235" y="1843519"/>
            <a:ext cx="4504765" cy="1377052"/>
          </a:xfrm>
        </p:spPr>
        <p:txBody>
          <a:bodyPr>
            <a:normAutofit/>
          </a:bodyPr>
          <a:lstStyle/>
          <a:p>
            <a:pPr algn="ctr"/>
            <a:r>
              <a:rPr lang="en-GB" sz="3600" b="1" dirty="0"/>
              <a:t>Module 3</a:t>
            </a:r>
            <a:br>
              <a:rPr lang="en-GB" sz="3600" b="1" dirty="0"/>
            </a:br>
            <a:r>
              <a:rPr lang="en-GB" sz="3600" b="1" dirty="0"/>
              <a:t>Cloud Architecture</a:t>
            </a:r>
            <a:endParaRPr lang="en-IN" sz="3600" b="1" dirty="0"/>
          </a:p>
        </p:txBody>
      </p:sp>
    </p:spTree>
    <p:extLst>
      <p:ext uri="{BB962C8B-B14F-4D97-AF65-F5344CB8AC3E}">
        <p14:creationId xmlns:p14="http://schemas.microsoft.com/office/powerpoint/2010/main" val="2186482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B4FA4-97D7-486F-8AEC-1C9CB345D116}"/>
              </a:ext>
            </a:extLst>
          </p:cNvPr>
          <p:cNvSpPr>
            <a:spLocks noGrp="1"/>
          </p:cNvSpPr>
          <p:nvPr>
            <p:ph type="title"/>
          </p:nvPr>
        </p:nvSpPr>
        <p:spPr/>
        <p:txBody>
          <a:bodyPr/>
          <a:lstStyle/>
          <a:p>
            <a:pPr algn="ctr"/>
            <a:r>
              <a:rPr lang="en-GB" dirty="0"/>
              <a:t>Content</a:t>
            </a:r>
            <a:endParaRPr lang="en-IN" dirty="0"/>
          </a:p>
        </p:txBody>
      </p:sp>
      <p:sp>
        <p:nvSpPr>
          <p:cNvPr id="3" name="Text Placeholder 2">
            <a:extLst>
              <a:ext uri="{FF2B5EF4-FFF2-40B4-BE49-F238E27FC236}">
                <a16:creationId xmlns:a16="http://schemas.microsoft.com/office/drawing/2014/main" id="{7F61F9F1-450B-4E3E-A4FF-5460C869431D}"/>
              </a:ext>
            </a:extLst>
          </p:cNvPr>
          <p:cNvSpPr>
            <a:spLocks noGrp="1"/>
          </p:cNvSpPr>
          <p:nvPr>
            <p:ph type="body" idx="1"/>
          </p:nvPr>
        </p:nvSpPr>
        <p:spPr>
          <a:xfrm>
            <a:off x="1667436" y="1152475"/>
            <a:ext cx="7164864" cy="3416400"/>
          </a:xfrm>
        </p:spPr>
        <p:txBody>
          <a:bodyPr/>
          <a:lstStyle/>
          <a:p>
            <a:r>
              <a:rPr lang="en-GB" dirty="0"/>
              <a:t>Cloud Architecture- Layers and Models :Architecture for Cloud Application</a:t>
            </a:r>
          </a:p>
          <a:p>
            <a:r>
              <a:rPr lang="en-GB" dirty="0"/>
              <a:t>Cloud Application requirements</a:t>
            </a:r>
          </a:p>
          <a:p>
            <a:r>
              <a:rPr lang="en-GB" dirty="0"/>
              <a:t>SOA for Cloud applications</a:t>
            </a:r>
          </a:p>
          <a:p>
            <a:r>
              <a:rPr lang="en-GB" dirty="0"/>
              <a:t>Parallelization within Cloud Applications</a:t>
            </a:r>
          </a:p>
          <a:p>
            <a:r>
              <a:rPr lang="en-GB" dirty="0"/>
              <a:t>Multi-ties Application Architecture</a:t>
            </a:r>
          </a:p>
          <a:p>
            <a:r>
              <a:rPr lang="en-GB" dirty="0"/>
              <a:t>Study of Cloud Tools and Platforms 	</a:t>
            </a:r>
            <a:endParaRPr lang="en-IN" dirty="0"/>
          </a:p>
        </p:txBody>
      </p:sp>
    </p:spTree>
    <p:extLst>
      <p:ext uri="{BB962C8B-B14F-4D97-AF65-F5344CB8AC3E}">
        <p14:creationId xmlns:p14="http://schemas.microsoft.com/office/powerpoint/2010/main" val="238856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3"/>
          <p:cNvSpPr txBox="1">
            <a:spLocks noGrp="1"/>
          </p:cNvSpPr>
          <p:nvPr>
            <p:ph type="title"/>
          </p:nvPr>
        </p:nvSpPr>
        <p:spPr>
          <a:xfrm>
            <a:off x="363071" y="284611"/>
            <a:ext cx="8579223" cy="429525"/>
          </a:xfrm>
          <a:prstGeom prst="rect">
            <a:avLst/>
          </a:prstGeom>
        </p:spPr>
        <p:txBody>
          <a:bodyPr spcFirstLastPara="1" vert="horz" wrap="square" lIns="68569" tIns="68569" rIns="68569" bIns="68569" rtlCol="0" anchor="t" anchorCtr="0">
            <a:normAutofit fontScale="90000"/>
          </a:bodyPr>
          <a:lstStyle/>
          <a:p>
            <a:pPr algn="ctr"/>
            <a:r>
              <a:rPr lang="en" dirty="0"/>
              <a:t>Cloud Architecture- Layers and Models</a:t>
            </a:r>
            <a:endParaRPr dirty="0"/>
          </a:p>
        </p:txBody>
      </p:sp>
      <p:pic>
        <p:nvPicPr>
          <p:cNvPr id="112" name="Google Shape;112;p23" descr="The cloud computing layers, the layer types, and layer examples"/>
          <p:cNvPicPr preferRelativeResize="0"/>
          <p:nvPr/>
        </p:nvPicPr>
        <p:blipFill>
          <a:blip r:embed="rId3">
            <a:alphaModFix/>
          </a:blip>
          <a:stretch>
            <a:fillRect/>
          </a:stretch>
        </p:blipFill>
        <p:spPr>
          <a:xfrm>
            <a:off x="2103624" y="989077"/>
            <a:ext cx="4936751" cy="34282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4"/>
          <p:cNvSpPr txBox="1">
            <a:spLocks noGrp="1"/>
          </p:cNvSpPr>
          <p:nvPr>
            <p:ph type="body" idx="1"/>
          </p:nvPr>
        </p:nvSpPr>
        <p:spPr>
          <a:xfrm>
            <a:off x="376518" y="879498"/>
            <a:ext cx="8229600" cy="2786175"/>
          </a:xfrm>
          <a:prstGeom prst="rect">
            <a:avLst/>
          </a:prstGeom>
        </p:spPr>
        <p:txBody>
          <a:bodyPr spcFirstLastPara="1" vert="horz" wrap="square" lIns="68569" tIns="68569" rIns="68569" bIns="68569" rtlCol="0" anchor="t" anchorCtr="0">
            <a:noAutofit/>
          </a:bodyPr>
          <a:lstStyle/>
          <a:p>
            <a:pPr indent="-238125" algn="just">
              <a:spcBef>
                <a:spcPts val="1050"/>
              </a:spcBef>
              <a:buClr>
                <a:srgbClr val="252626"/>
              </a:buClr>
              <a:buSzPts val="1400"/>
            </a:pPr>
            <a:r>
              <a:rPr lang="en" sz="1400" b="1" dirty="0">
                <a:solidFill>
                  <a:srgbClr val="252626"/>
                </a:solidFill>
              </a:rPr>
              <a:t>Infrastructure as a Service (IaaS)</a:t>
            </a:r>
            <a:endParaRPr sz="1400" b="1" dirty="0">
              <a:solidFill>
                <a:srgbClr val="252626"/>
              </a:solidFill>
            </a:endParaRPr>
          </a:p>
          <a:p>
            <a:pPr lvl="1" indent="-233363" algn="just">
              <a:buClr>
                <a:srgbClr val="252626"/>
              </a:buClr>
              <a:buSzPts val="1300"/>
            </a:pPr>
            <a:r>
              <a:rPr lang="en" sz="1400" dirty="0">
                <a:solidFill>
                  <a:srgbClr val="252626"/>
                </a:solidFill>
              </a:rPr>
              <a:t>The basic layer of cloud is the infrastructure –IaaS (Infrastructure as a service). This layer is basically </a:t>
            </a:r>
            <a:r>
              <a:rPr lang="en" sz="1400" b="1" dirty="0">
                <a:solidFill>
                  <a:srgbClr val="252626"/>
                </a:solidFill>
              </a:rPr>
              <a:t>hardware and network</a:t>
            </a:r>
            <a:r>
              <a:rPr lang="en" sz="1400" dirty="0">
                <a:solidFill>
                  <a:srgbClr val="252626"/>
                </a:solidFill>
              </a:rPr>
              <a:t>. </a:t>
            </a:r>
            <a:endParaRPr sz="1400" dirty="0">
              <a:solidFill>
                <a:srgbClr val="252626"/>
              </a:solidFill>
            </a:endParaRPr>
          </a:p>
          <a:p>
            <a:pPr lvl="1" indent="-233363" algn="just">
              <a:buClr>
                <a:srgbClr val="252626"/>
              </a:buClr>
              <a:buSzPts val="1300"/>
            </a:pPr>
            <a:r>
              <a:rPr lang="en" sz="1400" dirty="0">
                <a:solidFill>
                  <a:srgbClr val="252626"/>
                </a:solidFill>
              </a:rPr>
              <a:t>What distinguishes this from a regular server or hosting company are mainly two things: </a:t>
            </a:r>
            <a:r>
              <a:rPr lang="en" sz="1400" b="1" dirty="0">
                <a:solidFill>
                  <a:srgbClr val="252626"/>
                </a:solidFill>
              </a:rPr>
              <a:t>scalability and virtualisation</a:t>
            </a:r>
            <a:r>
              <a:rPr lang="en" sz="1400" dirty="0">
                <a:solidFill>
                  <a:srgbClr val="252626"/>
                </a:solidFill>
              </a:rPr>
              <a:t>.</a:t>
            </a:r>
            <a:endParaRPr sz="1400" dirty="0">
              <a:solidFill>
                <a:srgbClr val="252626"/>
              </a:solidFill>
            </a:endParaRPr>
          </a:p>
          <a:p>
            <a:pPr lvl="1" indent="-233363" algn="just">
              <a:buClr>
                <a:srgbClr val="252626"/>
              </a:buClr>
              <a:buSzPts val="1300"/>
            </a:pPr>
            <a:r>
              <a:rPr lang="en" sz="1400" dirty="0">
                <a:solidFill>
                  <a:srgbClr val="333333"/>
                </a:solidFill>
                <a:highlight>
                  <a:srgbClr val="FFFFFF"/>
                </a:highlight>
              </a:rPr>
              <a:t>IaaS service providers scale this layer in such a manner that the additional cost of adding more storage or bandwidth is minimal. </a:t>
            </a:r>
            <a:endParaRPr sz="1400" dirty="0">
              <a:solidFill>
                <a:srgbClr val="333333"/>
              </a:solidFill>
              <a:highlight>
                <a:srgbClr val="FFFFFF"/>
              </a:highlight>
            </a:endParaRPr>
          </a:p>
          <a:p>
            <a:pPr lvl="1" indent="-233363" algn="just">
              <a:buClr>
                <a:srgbClr val="252626"/>
              </a:buClr>
              <a:buSzPts val="1300"/>
            </a:pPr>
            <a:r>
              <a:rPr lang="en" sz="1400" dirty="0">
                <a:solidFill>
                  <a:srgbClr val="333333"/>
                </a:solidFill>
                <a:highlight>
                  <a:srgbClr val="FFFFFF"/>
                </a:highlight>
              </a:rPr>
              <a:t>Owing to virtualisation, these providers are able to use up to 90% of their computing resources in contrast to traditional hosting services where servers may lay idle at times.</a:t>
            </a:r>
            <a:endParaRPr sz="1400" dirty="0">
              <a:solidFill>
                <a:srgbClr val="333333"/>
              </a:solidFill>
              <a:highlight>
                <a:srgbClr val="FFFFFF"/>
              </a:highlight>
            </a:endParaRPr>
          </a:p>
          <a:p>
            <a:pPr lvl="1" indent="-233363" algn="just">
              <a:buClr>
                <a:srgbClr val="333333"/>
              </a:buClr>
              <a:buSzPts val="1300"/>
            </a:pPr>
            <a:r>
              <a:rPr lang="en" sz="1400" dirty="0">
                <a:solidFill>
                  <a:srgbClr val="252626"/>
                </a:solidFill>
              </a:rPr>
              <a:t>One of the first services where this was seen was in Gmail, the Google email service where each user gets around 8 GB of free storage. In order to do this, Google built gigantic data centres consisting of (probably) millions of servers.</a:t>
            </a:r>
            <a:endParaRPr sz="1400" dirty="0">
              <a:solidFill>
                <a:srgbClr val="333333"/>
              </a:solidFill>
              <a:highlight>
                <a:srgbClr val="FFFFFF"/>
              </a:highlight>
            </a:endParaRPr>
          </a:p>
          <a:p>
            <a:pPr marL="0" indent="0">
              <a:spcBef>
                <a:spcPts val="300"/>
              </a:spcBef>
              <a:spcAft>
                <a:spcPts val="900"/>
              </a:spcAft>
              <a:buNone/>
            </a:pPr>
            <a:endParaRPr sz="1400" dirty="0"/>
          </a:p>
        </p:txBody>
      </p:sp>
      <p:sp>
        <p:nvSpPr>
          <p:cNvPr id="3" name="Google Shape;110;p23">
            <a:extLst>
              <a:ext uri="{FF2B5EF4-FFF2-40B4-BE49-F238E27FC236}">
                <a16:creationId xmlns:a16="http://schemas.microsoft.com/office/drawing/2014/main" id="{574663EC-AF16-420D-BAA6-A282ACCD23AD}"/>
              </a:ext>
            </a:extLst>
          </p:cNvPr>
          <p:cNvSpPr txBox="1">
            <a:spLocks noGrp="1"/>
          </p:cNvSpPr>
          <p:nvPr>
            <p:ph type="title"/>
          </p:nvPr>
        </p:nvSpPr>
        <p:spPr>
          <a:xfrm>
            <a:off x="1560022" y="284611"/>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5"/>
          <p:cNvSpPr txBox="1">
            <a:spLocks noGrp="1"/>
          </p:cNvSpPr>
          <p:nvPr>
            <p:ph type="body" idx="1"/>
          </p:nvPr>
        </p:nvSpPr>
        <p:spPr>
          <a:xfrm>
            <a:off x="793376" y="801338"/>
            <a:ext cx="8108576" cy="3540825"/>
          </a:xfrm>
          <a:prstGeom prst="rect">
            <a:avLst/>
          </a:prstGeom>
        </p:spPr>
        <p:txBody>
          <a:bodyPr spcFirstLastPara="1" vert="horz" wrap="square" lIns="68569" tIns="68569" rIns="68569" bIns="68569" rtlCol="0" anchor="t" anchorCtr="0">
            <a:noAutofit/>
          </a:bodyPr>
          <a:lstStyle/>
          <a:p>
            <a:pPr marL="0" indent="0" algn="just">
              <a:lnSpc>
                <a:spcPct val="115000"/>
              </a:lnSpc>
              <a:buNone/>
            </a:pPr>
            <a:r>
              <a:rPr lang="en" sz="1400" dirty="0">
                <a:solidFill>
                  <a:srgbClr val="282525"/>
                </a:solidFill>
                <a:highlight>
                  <a:srgbClr val="FFFFFF"/>
                </a:highlight>
              </a:rPr>
              <a:t>Key Features of IaaS</a:t>
            </a:r>
            <a:endParaRPr sz="1400" dirty="0">
              <a:solidFill>
                <a:srgbClr val="282525"/>
              </a:solidFill>
              <a:highlight>
                <a:srgbClr val="FFFFFF"/>
              </a:highlight>
            </a:endParaRPr>
          </a:p>
          <a:p>
            <a:pPr marL="471488" indent="-244971" algn="just">
              <a:lnSpc>
                <a:spcPct val="100000"/>
              </a:lnSpc>
              <a:buClr>
                <a:srgbClr val="282525"/>
              </a:buClr>
              <a:buSzPct val="100000"/>
            </a:pPr>
            <a:r>
              <a:rPr lang="en" sz="1400" dirty="0">
                <a:solidFill>
                  <a:srgbClr val="282525"/>
                </a:solidFill>
                <a:highlight>
                  <a:srgbClr val="FFFFFF"/>
                </a:highlight>
              </a:rPr>
              <a:t>Highly scalable resources</a:t>
            </a:r>
            <a:endParaRPr sz="1400" dirty="0">
              <a:solidFill>
                <a:srgbClr val="282525"/>
              </a:solidFill>
              <a:highlight>
                <a:srgbClr val="FFFFFF"/>
              </a:highlight>
            </a:endParaRPr>
          </a:p>
          <a:p>
            <a:pPr marL="471488" indent="-244971" algn="just">
              <a:lnSpc>
                <a:spcPct val="100000"/>
              </a:lnSpc>
              <a:buClr>
                <a:srgbClr val="282525"/>
              </a:buClr>
              <a:buSzPct val="100000"/>
            </a:pPr>
            <a:r>
              <a:rPr lang="en" sz="1400" dirty="0">
                <a:solidFill>
                  <a:srgbClr val="282525"/>
                </a:solidFill>
                <a:highlight>
                  <a:srgbClr val="FFFFFF"/>
                </a:highlight>
              </a:rPr>
              <a:t>Enterprise-grade infrastructure</a:t>
            </a:r>
            <a:endParaRPr sz="1400" dirty="0">
              <a:solidFill>
                <a:srgbClr val="282525"/>
              </a:solidFill>
              <a:highlight>
                <a:srgbClr val="FFFFFF"/>
              </a:highlight>
            </a:endParaRPr>
          </a:p>
          <a:p>
            <a:pPr marL="471488" indent="-244971" algn="just">
              <a:lnSpc>
                <a:spcPct val="100000"/>
              </a:lnSpc>
              <a:buClr>
                <a:srgbClr val="282525"/>
              </a:buClr>
              <a:buSzPct val="100000"/>
            </a:pPr>
            <a:r>
              <a:rPr lang="en" sz="1400" dirty="0">
                <a:solidFill>
                  <a:srgbClr val="282525"/>
                </a:solidFill>
                <a:highlight>
                  <a:srgbClr val="FFFFFF"/>
                </a:highlight>
              </a:rPr>
              <a:t>Cost depends on consumption</a:t>
            </a:r>
            <a:endParaRPr sz="1400" dirty="0">
              <a:solidFill>
                <a:srgbClr val="282525"/>
              </a:solidFill>
              <a:highlight>
                <a:srgbClr val="FFFFFF"/>
              </a:highlight>
            </a:endParaRPr>
          </a:p>
          <a:p>
            <a:pPr marL="471488" indent="-244971" algn="just">
              <a:lnSpc>
                <a:spcPct val="100000"/>
              </a:lnSpc>
              <a:buClr>
                <a:srgbClr val="282525"/>
              </a:buClr>
              <a:buSzPct val="100000"/>
            </a:pPr>
            <a:r>
              <a:rPr lang="en" sz="1400" dirty="0">
                <a:solidFill>
                  <a:srgbClr val="282525"/>
                </a:solidFill>
                <a:highlight>
                  <a:srgbClr val="FFFFFF"/>
                </a:highlight>
              </a:rPr>
              <a:t>Multitenant architecture, i.e. a single piece of hardware serves many users</a:t>
            </a:r>
            <a:endParaRPr sz="1400" dirty="0">
              <a:solidFill>
                <a:srgbClr val="282525"/>
              </a:solidFill>
              <a:highlight>
                <a:srgbClr val="FFFFFF"/>
              </a:highlight>
            </a:endParaRPr>
          </a:p>
          <a:p>
            <a:pPr marL="471488" indent="-244971" algn="just">
              <a:lnSpc>
                <a:spcPct val="100000"/>
              </a:lnSpc>
              <a:buClr>
                <a:srgbClr val="282525"/>
              </a:buClr>
              <a:buSzPct val="100000"/>
            </a:pPr>
            <a:r>
              <a:rPr lang="en" sz="1400" dirty="0">
                <a:solidFill>
                  <a:srgbClr val="282525"/>
                </a:solidFill>
                <a:highlight>
                  <a:srgbClr val="FFFFFF"/>
                </a:highlight>
              </a:rPr>
              <a:t>The client gets complete control over the infrastructure</a:t>
            </a:r>
            <a:endParaRPr sz="1400" dirty="0">
              <a:solidFill>
                <a:srgbClr val="282525"/>
              </a:solidFill>
              <a:highlight>
                <a:srgbClr val="FFFFFF"/>
              </a:highlight>
            </a:endParaRPr>
          </a:p>
          <a:p>
            <a:pPr marL="0" indent="0" algn="just">
              <a:lnSpc>
                <a:spcPct val="100000"/>
              </a:lnSpc>
              <a:buNone/>
            </a:pPr>
            <a:endParaRPr sz="1400" dirty="0">
              <a:solidFill>
                <a:schemeClr val="dk1"/>
              </a:solidFill>
            </a:endParaRPr>
          </a:p>
          <a:p>
            <a:pPr marL="0" indent="0" algn="just">
              <a:lnSpc>
                <a:spcPct val="100000"/>
              </a:lnSpc>
              <a:buNone/>
            </a:pPr>
            <a:r>
              <a:rPr lang="en" sz="1400" dirty="0">
                <a:solidFill>
                  <a:schemeClr val="dk1"/>
                </a:solidFill>
              </a:rPr>
              <a:t>IaaS Advantages</a:t>
            </a:r>
            <a:endParaRPr sz="1400" dirty="0">
              <a:solidFill>
                <a:schemeClr val="dk1"/>
              </a:solidFill>
            </a:endParaRPr>
          </a:p>
          <a:p>
            <a:pPr indent="-244971" algn="just">
              <a:lnSpc>
                <a:spcPct val="100000"/>
              </a:lnSpc>
              <a:buClr>
                <a:srgbClr val="282525"/>
              </a:buClr>
              <a:buSzPct val="100000"/>
            </a:pPr>
            <a:r>
              <a:rPr lang="en" sz="1400" dirty="0">
                <a:solidFill>
                  <a:srgbClr val="282525"/>
                </a:solidFill>
                <a:highlight>
                  <a:srgbClr val="FFFFFF"/>
                </a:highlight>
              </a:rPr>
              <a:t>The most flexible and dynamic model</a:t>
            </a:r>
            <a:endParaRPr sz="1400" dirty="0">
              <a:solidFill>
                <a:srgbClr val="282525"/>
              </a:solidFill>
              <a:highlight>
                <a:srgbClr val="FFFFFF"/>
              </a:highlight>
            </a:endParaRPr>
          </a:p>
          <a:p>
            <a:pPr indent="-244971" algn="just">
              <a:lnSpc>
                <a:spcPct val="100000"/>
              </a:lnSpc>
              <a:buClr>
                <a:srgbClr val="282525"/>
              </a:buClr>
              <a:buSzPct val="100000"/>
            </a:pPr>
            <a:r>
              <a:rPr lang="en" sz="1400" dirty="0">
                <a:solidFill>
                  <a:srgbClr val="282525"/>
                </a:solidFill>
                <a:highlight>
                  <a:srgbClr val="FFFFFF"/>
                </a:highlight>
              </a:rPr>
              <a:t>Cost-effective due to pay-as-you-go pricing</a:t>
            </a:r>
            <a:endParaRPr sz="1400" dirty="0">
              <a:solidFill>
                <a:srgbClr val="282525"/>
              </a:solidFill>
              <a:highlight>
                <a:srgbClr val="FFFFFF"/>
              </a:highlight>
            </a:endParaRPr>
          </a:p>
          <a:p>
            <a:pPr indent="-244971" algn="just">
              <a:buClr>
                <a:srgbClr val="282525"/>
              </a:buClr>
              <a:buSzPct val="100000"/>
            </a:pPr>
            <a:r>
              <a:rPr lang="en" sz="1400" dirty="0">
                <a:solidFill>
                  <a:srgbClr val="282525"/>
                </a:solidFill>
                <a:highlight>
                  <a:srgbClr val="FFFFFF"/>
                </a:highlight>
              </a:rPr>
              <a:t>Easy to use due to the  automated deployment of hardware</a:t>
            </a:r>
            <a:endParaRPr sz="1400" dirty="0">
              <a:solidFill>
                <a:srgbClr val="282525"/>
              </a:solidFill>
              <a:highlight>
                <a:srgbClr val="FFFFFF"/>
              </a:highlight>
            </a:endParaRPr>
          </a:p>
          <a:p>
            <a:pPr indent="-244971" algn="just">
              <a:buClr>
                <a:srgbClr val="282525"/>
              </a:buClr>
              <a:buSzPct val="100000"/>
            </a:pPr>
            <a:r>
              <a:rPr lang="en" sz="1400" dirty="0">
                <a:solidFill>
                  <a:srgbClr val="282525"/>
                </a:solidFill>
                <a:highlight>
                  <a:srgbClr val="FFFFFF"/>
                </a:highlight>
              </a:rPr>
              <a:t>Management tasks are virtualized, so employees have more free time for other tasks</a:t>
            </a:r>
            <a:endParaRPr sz="1400" dirty="0">
              <a:solidFill>
                <a:srgbClr val="282525"/>
              </a:solidFill>
              <a:highlight>
                <a:srgbClr val="FFFFFF"/>
              </a:highlight>
            </a:endParaRPr>
          </a:p>
          <a:p>
            <a:pPr marL="0" indent="0" algn="just">
              <a:lnSpc>
                <a:spcPct val="121250"/>
              </a:lnSpc>
              <a:spcBef>
                <a:spcPts val="2325"/>
              </a:spcBef>
              <a:buNone/>
            </a:pPr>
            <a:r>
              <a:rPr lang="en" sz="1400" dirty="0">
                <a:solidFill>
                  <a:srgbClr val="282525"/>
                </a:solidFill>
                <a:highlight>
                  <a:srgbClr val="FFFFFF"/>
                </a:highlight>
              </a:rPr>
              <a:t>IaaS Disadvantages</a:t>
            </a:r>
            <a:endParaRPr sz="1400" dirty="0">
              <a:solidFill>
                <a:srgbClr val="282525"/>
              </a:solidFill>
              <a:highlight>
                <a:srgbClr val="FFFFFF"/>
              </a:highlight>
            </a:endParaRPr>
          </a:p>
          <a:p>
            <a:pPr marL="385763" indent="-244971" algn="just">
              <a:lnSpc>
                <a:spcPct val="121250"/>
              </a:lnSpc>
              <a:spcBef>
                <a:spcPts val="525"/>
              </a:spcBef>
              <a:buClr>
                <a:srgbClr val="282525"/>
              </a:buClr>
              <a:buSzPct val="100000"/>
            </a:pPr>
            <a:r>
              <a:rPr lang="en" sz="1400" dirty="0">
                <a:solidFill>
                  <a:srgbClr val="282525"/>
                </a:solidFill>
                <a:highlight>
                  <a:srgbClr val="FFFFFF"/>
                </a:highlight>
              </a:rPr>
              <a:t>Data security issues due to multitenant architecture</a:t>
            </a:r>
            <a:endParaRPr sz="1400" dirty="0">
              <a:solidFill>
                <a:srgbClr val="282525"/>
              </a:solidFill>
              <a:highlight>
                <a:srgbClr val="FFFFFF"/>
              </a:highlight>
            </a:endParaRPr>
          </a:p>
          <a:p>
            <a:pPr marL="385763" indent="-244971" algn="just">
              <a:buClr>
                <a:srgbClr val="282525"/>
              </a:buClr>
              <a:buSzPct val="100000"/>
            </a:pPr>
            <a:r>
              <a:rPr lang="en" sz="1400" dirty="0">
                <a:solidFill>
                  <a:srgbClr val="282525"/>
                </a:solidFill>
                <a:highlight>
                  <a:srgbClr val="FFFFFF"/>
                </a:highlight>
              </a:rPr>
              <a:t>Vendor outages make customers unable to access their data for a while</a:t>
            </a:r>
            <a:endParaRPr sz="1400" dirty="0">
              <a:solidFill>
                <a:srgbClr val="282525"/>
              </a:solidFill>
              <a:highlight>
                <a:srgbClr val="FFFFFF"/>
              </a:highlight>
            </a:endParaRPr>
          </a:p>
          <a:p>
            <a:pPr marL="385763" indent="-244971" algn="just">
              <a:buClr>
                <a:srgbClr val="282525"/>
              </a:buClr>
              <a:buSzPct val="100000"/>
            </a:pPr>
            <a:r>
              <a:rPr lang="en" sz="1400" dirty="0">
                <a:solidFill>
                  <a:srgbClr val="282525"/>
                </a:solidFill>
                <a:highlight>
                  <a:srgbClr val="FFFFFF"/>
                </a:highlight>
              </a:rPr>
              <a:t>The need for team training to learn how to manage new infrastructure</a:t>
            </a:r>
            <a:endParaRPr sz="1400" dirty="0"/>
          </a:p>
        </p:txBody>
      </p:sp>
      <p:sp>
        <p:nvSpPr>
          <p:cNvPr id="3" name="Google Shape;110;p23">
            <a:extLst>
              <a:ext uri="{FF2B5EF4-FFF2-40B4-BE49-F238E27FC236}">
                <a16:creationId xmlns:a16="http://schemas.microsoft.com/office/drawing/2014/main" id="{B25A9C1B-3D8C-4202-8618-54F68A4D74A0}"/>
              </a:ext>
            </a:extLst>
          </p:cNvPr>
          <p:cNvSpPr txBox="1">
            <a:spLocks noGrp="1"/>
          </p:cNvSpPr>
          <p:nvPr>
            <p:ph type="title"/>
          </p:nvPr>
        </p:nvSpPr>
        <p:spPr>
          <a:xfrm>
            <a:off x="1560022" y="284611"/>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6"/>
          <p:cNvSpPr txBox="1">
            <a:spLocks noGrp="1"/>
          </p:cNvSpPr>
          <p:nvPr>
            <p:ph type="body" idx="1"/>
          </p:nvPr>
        </p:nvSpPr>
        <p:spPr>
          <a:xfrm>
            <a:off x="302559" y="377959"/>
            <a:ext cx="8397687" cy="2776950"/>
          </a:xfrm>
          <a:prstGeom prst="rect">
            <a:avLst/>
          </a:prstGeom>
        </p:spPr>
        <p:txBody>
          <a:bodyPr spcFirstLastPara="1" vert="horz" wrap="square" lIns="68569" tIns="68569" rIns="68569" bIns="68569" rtlCol="0" anchor="t" anchorCtr="0">
            <a:noAutofit/>
          </a:bodyPr>
          <a:lstStyle/>
          <a:p>
            <a:pPr algn="just">
              <a:spcBef>
                <a:spcPts val="1050"/>
              </a:spcBef>
            </a:pPr>
            <a:r>
              <a:rPr lang="en" sz="1400" b="1" dirty="0">
                <a:solidFill>
                  <a:srgbClr val="252626"/>
                </a:solidFill>
              </a:rPr>
              <a:t>Platform as a Service (PaaS)</a:t>
            </a:r>
            <a:endParaRPr sz="1400" b="1" dirty="0">
              <a:solidFill>
                <a:srgbClr val="252626"/>
              </a:solidFill>
            </a:endParaRPr>
          </a:p>
          <a:p>
            <a:pPr lvl="1" indent="-233363" algn="just">
              <a:buClr>
                <a:srgbClr val="252626"/>
              </a:buClr>
              <a:buSzPts val="1300"/>
            </a:pPr>
            <a:r>
              <a:rPr lang="en" sz="1400" dirty="0">
                <a:solidFill>
                  <a:srgbClr val="252626"/>
                </a:solidFill>
              </a:rPr>
              <a:t>The second layer of the cloud is the platform – the PaaS (Platform as a service). The platform layer provides resources to actually </a:t>
            </a:r>
            <a:r>
              <a:rPr lang="en" sz="1400" b="1" dirty="0">
                <a:solidFill>
                  <a:srgbClr val="252626"/>
                </a:solidFill>
              </a:rPr>
              <a:t>build applications</a:t>
            </a:r>
            <a:r>
              <a:rPr lang="en" sz="1400" dirty="0">
                <a:solidFill>
                  <a:srgbClr val="252626"/>
                </a:solidFill>
              </a:rPr>
              <a:t>. </a:t>
            </a:r>
            <a:endParaRPr sz="1400" dirty="0">
              <a:solidFill>
                <a:srgbClr val="252626"/>
              </a:solidFill>
            </a:endParaRPr>
          </a:p>
          <a:p>
            <a:pPr lvl="1" indent="-233363" algn="just">
              <a:buClr>
                <a:srgbClr val="252626"/>
              </a:buClr>
              <a:buSzPts val="1300"/>
            </a:pPr>
            <a:r>
              <a:rPr lang="en" sz="1400" dirty="0">
                <a:solidFill>
                  <a:srgbClr val="252626"/>
                </a:solidFill>
              </a:rPr>
              <a:t>In combination with IaaS, PaaS provides the ability to develop, test, run, and host applications.</a:t>
            </a:r>
            <a:endParaRPr sz="1400" dirty="0">
              <a:solidFill>
                <a:srgbClr val="252626"/>
              </a:solidFill>
            </a:endParaRPr>
          </a:p>
          <a:p>
            <a:pPr lvl="1" indent="-233363" algn="just">
              <a:buClr>
                <a:srgbClr val="252626"/>
              </a:buClr>
              <a:buSzPts val="1300"/>
            </a:pPr>
            <a:r>
              <a:rPr lang="en" sz="1400" dirty="0">
                <a:solidFill>
                  <a:srgbClr val="333333"/>
                </a:solidFill>
                <a:highlight>
                  <a:srgbClr val="FFFFFF"/>
                </a:highlight>
              </a:rPr>
              <a:t>This layer of the cloud caters to the requirements of software developers as it is the place where new applications are developed. </a:t>
            </a:r>
            <a:endParaRPr sz="1400" dirty="0">
              <a:solidFill>
                <a:srgbClr val="333333"/>
              </a:solidFill>
              <a:highlight>
                <a:srgbClr val="FFFFFF"/>
              </a:highlight>
            </a:endParaRPr>
          </a:p>
          <a:p>
            <a:pPr lvl="1" indent="-233363" algn="just">
              <a:buClr>
                <a:srgbClr val="252626"/>
              </a:buClr>
              <a:buSzPts val="1300"/>
            </a:pPr>
            <a:r>
              <a:rPr lang="en" sz="1400" dirty="0">
                <a:solidFill>
                  <a:srgbClr val="333333"/>
                </a:solidFill>
                <a:highlight>
                  <a:srgbClr val="FFFFFF"/>
                </a:highlight>
              </a:rPr>
              <a:t>You can use PaaS services to build and test your applications on the cloud before deploying them. </a:t>
            </a:r>
            <a:endParaRPr sz="1400" dirty="0">
              <a:solidFill>
                <a:srgbClr val="333333"/>
              </a:solidFill>
              <a:highlight>
                <a:srgbClr val="FFFFFF"/>
              </a:highlight>
            </a:endParaRPr>
          </a:p>
          <a:p>
            <a:pPr lvl="1" indent="-233363" algn="just">
              <a:buClr>
                <a:srgbClr val="252626"/>
              </a:buClr>
              <a:buSzPts val="1300"/>
            </a:pPr>
            <a:r>
              <a:rPr lang="en" sz="1400" dirty="0">
                <a:solidFill>
                  <a:srgbClr val="333333"/>
                </a:solidFill>
                <a:highlight>
                  <a:srgbClr val="FFFFFF"/>
                </a:highlight>
              </a:rPr>
              <a:t>In fact, it is designed in such a manner that it supports the entire lifecycle of an application, right from building, testing and deployment to maintenance and updating. Like IaaS, PaaS includes infrastructure, but also includes development tools, database management systems and much more.</a:t>
            </a:r>
            <a:endParaRPr sz="1400" dirty="0">
              <a:solidFill>
                <a:srgbClr val="333333"/>
              </a:solidFill>
              <a:highlight>
                <a:srgbClr val="FFFFFF"/>
              </a:highlight>
            </a:endParaRPr>
          </a:p>
          <a:p>
            <a:pPr lvl="1" indent="-233363" algn="just">
              <a:buClr>
                <a:srgbClr val="333333"/>
              </a:buClr>
              <a:buSzPts val="1300"/>
            </a:pPr>
            <a:r>
              <a:rPr lang="en" sz="1400" dirty="0">
                <a:solidFill>
                  <a:srgbClr val="252626"/>
                </a:solidFill>
              </a:rPr>
              <a:t>An example of a well-known PaaS is Microsoft Azure. This platform provides developers with swift access to a full development and deployment environment and even let you host the application you are building.</a:t>
            </a:r>
            <a:endParaRPr sz="1400" dirty="0">
              <a:solidFill>
                <a:srgbClr val="333333"/>
              </a:solidFill>
              <a:highlight>
                <a:srgbClr val="FFFFFF"/>
              </a:highlight>
            </a:endParaRPr>
          </a:p>
          <a:p>
            <a:pPr indent="0">
              <a:spcBef>
                <a:spcPts val="300"/>
              </a:spcBef>
              <a:spcAft>
                <a:spcPts val="900"/>
              </a:spcAft>
              <a:buNone/>
            </a:pPr>
            <a:endParaRPr sz="1400" dirty="0"/>
          </a:p>
        </p:txBody>
      </p:sp>
      <p:sp>
        <p:nvSpPr>
          <p:cNvPr id="3" name="Google Shape;110;p23">
            <a:extLst>
              <a:ext uri="{FF2B5EF4-FFF2-40B4-BE49-F238E27FC236}">
                <a16:creationId xmlns:a16="http://schemas.microsoft.com/office/drawing/2014/main" id="{F0EDDC64-2A67-4A87-8D49-7D0CB879B163}"/>
              </a:ext>
            </a:extLst>
          </p:cNvPr>
          <p:cNvSpPr txBox="1">
            <a:spLocks noGrp="1"/>
          </p:cNvSpPr>
          <p:nvPr>
            <p:ph type="title"/>
          </p:nvPr>
        </p:nvSpPr>
        <p:spPr>
          <a:xfrm>
            <a:off x="1600363" y="0"/>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7"/>
          <p:cNvSpPr txBox="1">
            <a:spLocks noGrp="1"/>
          </p:cNvSpPr>
          <p:nvPr>
            <p:ph type="body" idx="1"/>
          </p:nvPr>
        </p:nvSpPr>
        <p:spPr>
          <a:xfrm>
            <a:off x="1089212" y="894000"/>
            <a:ext cx="7389159" cy="3312000"/>
          </a:xfrm>
          <a:prstGeom prst="rect">
            <a:avLst/>
          </a:prstGeom>
        </p:spPr>
        <p:txBody>
          <a:bodyPr spcFirstLastPara="1" vert="horz" wrap="square" lIns="68569" tIns="68569" rIns="68569" bIns="68569" rtlCol="0" anchor="t" anchorCtr="0">
            <a:noAutofit/>
          </a:bodyPr>
          <a:lstStyle/>
          <a:p>
            <a:pPr marL="0" indent="0" algn="just">
              <a:buNone/>
            </a:pPr>
            <a:r>
              <a:rPr lang="en" sz="1200" dirty="0">
                <a:solidFill>
                  <a:srgbClr val="282525"/>
                </a:solidFill>
                <a:highlight>
                  <a:srgbClr val="FFFFFF"/>
                </a:highlight>
              </a:rPr>
              <a:t>Key Features of PaaS</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Allows for developing, testing and hosting apps in the same environment</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Resources can be scaled up and down depending on business needs</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Multiple users can access the same app in development</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The user doesn’t have complete control over the infrastructure</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Web services and databases are integrated</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Remote teams can collaborate easily</a:t>
            </a:r>
            <a:endParaRPr sz="1200" dirty="0">
              <a:solidFill>
                <a:srgbClr val="282525"/>
              </a:solidFill>
              <a:highlight>
                <a:srgbClr val="FFFFFF"/>
              </a:highlight>
            </a:endParaRPr>
          </a:p>
          <a:p>
            <a:pPr marL="0" indent="0" algn="just">
              <a:lnSpc>
                <a:spcPct val="100000"/>
              </a:lnSpc>
              <a:buNone/>
            </a:pPr>
            <a:r>
              <a:rPr lang="en" sz="1200" dirty="0">
                <a:solidFill>
                  <a:srgbClr val="282525"/>
                </a:solidFill>
                <a:highlight>
                  <a:srgbClr val="FFFFFF"/>
                </a:highlight>
              </a:rPr>
              <a:t>PaaS Advantages</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PaaS-built software is highly scalable, available and multi-tenant, as it is cloud-based</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The development process is quickened and simplified</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Reduced expenses for creating, testing and launching apps</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Automated company policy</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Reduced amount of coding required</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Allows for easy migrating to the hybrid cloud</a:t>
            </a:r>
            <a:endParaRPr sz="1200" dirty="0">
              <a:solidFill>
                <a:srgbClr val="282525"/>
              </a:solidFill>
              <a:highlight>
                <a:srgbClr val="FFFFFF"/>
              </a:highlight>
            </a:endParaRPr>
          </a:p>
          <a:p>
            <a:pPr marL="0" indent="0" algn="just">
              <a:buNone/>
            </a:pPr>
            <a:r>
              <a:rPr lang="en" sz="1200" dirty="0">
                <a:solidFill>
                  <a:srgbClr val="282525"/>
                </a:solidFill>
                <a:highlight>
                  <a:srgbClr val="FFFFFF"/>
                </a:highlight>
              </a:rPr>
              <a:t>PaaS Disadvantages</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Data security issues</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Compatibility of existing infrastructure (not every element can be cloud-enabled)</a:t>
            </a:r>
            <a:endParaRPr sz="1200" dirty="0">
              <a:solidFill>
                <a:srgbClr val="282525"/>
              </a:solidFill>
              <a:highlight>
                <a:srgbClr val="FFFFFF"/>
              </a:highlight>
            </a:endParaRPr>
          </a:p>
          <a:p>
            <a:pPr indent="-233363" algn="just">
              <a:buClr>
                <a:srgbClr val="282525"/>
              </a:buClr>
              <a:buSzPct val="100000"/>
            </a:pPr>
            <a:r>
              <a:rPr lang="en" sz="1200" dirty="0">
                <a:solidFill>
                  <a:srgbClr val="282525"/>
                </a:solidFill>
                <a:highlight>
                  <a:srgbClr val="FFFFFF"/>
                </a:highlight>
              </a:rPr>
              <a:t>Dependency on vendor’s speed, reliability and support</a:t>
            </a:r>
            <a:endParaRPr sz="1200" dirty="0">
              <a:solidFill>
                <a:srgbClr val="282525"/>
              </a:solidFill>
              <a:highlight>
                <a:srgbClr val="FFFFFF"/>
              </a:highlight>
            </a:endParaRPr>
          </a:p>
          <a:p>
            <a:pPr marL="0" indent="0">
              <a:spcBef>
                <a:spcPts val="2325"/>
              </a:spcBef>
              <a:buNone/>
            </a:pPr>
            <a:endParaRPr sz="1200" dirty="0">
              <a:solidFill>
                <a:srgbClr val="282525"/>
              </a:solidFill>
              <a:highlight>
                <a:srgbClr val="FFFFFF"/>
              </a:highlight>
            </a:endParaRPr>
          </a:p>
          <a:p>
            <a:pPr marL="0" indent="0">
              <a:spcBef>
                <a:spcPts val="2325"/>
              </a:spcBef>
              <a:buNone/>
            </a:pPr>
            <a:endParaRPr sz="1200" dirty="0">
              <a:solidFill>
                <a:srgbClr val="282525"/>
              </a:solidFill>
              <a:highlight>
                <a:srgbClr val="FFFFFF"/>
              </a:highlight>
            </a:endParaRPr>
          </a:p>
          <a:p>
            <a:pPr marL="0" indent="0">
              <a:spcBef>
                <a:spcPts val="2325"/>
              </a:spcBef>
              <a:spcAft>
                <a:spcPts val="900"/>
              </a:spcAft>
              <a:buNone/>
            </a:pPr>
            <a:endParaRPr sz="1200" dirty="0"/>
          </a:p>
        </p:txBody>
      </p:sp>
      <p:sp>
        <p:nvSpPr>
          <p:cNvPr id="3" name="Google Shape;110;p23">
            <a:extLst>
              <a:ext uri="{FF2B5EF4-FFF2-40B4-BE49-F238E27FC236}">
                <a16:creationId xmlns:a16="http://schemas.microsoft.com/office/drawing/2014/main" id="{E03D2649-66A9-4CE1-923B-EDED76A71DBA}"/>
              </a:ext>
            </a:extLst>
          </p:cNvPr>
          <p:cNvSpPr txBox="1">
            <a:spLocks noGrp="1"/>
          </p:cNvSpPr>
          <p:nvPr>
            <p:ph type="title"/>
          </p:nvPr>
        </p:nvSpPr>
        <p:spPr>
          <a:xfrm>
            <a:off x="1560022" y="284611"/>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8"/>
          <p:cNvSpPr txBox="1">
            <a:spLocks noGrp="1"/>
          </p:cNvSpPr>
          <p:nvPr>
            <p:ph type="body" idx="1"/>
          </p:nvPr>
        </p:nvSpPr>
        <p:spPr>
          <a:xfrm>
            <a:off x="329453" y="984009"/>
            <a:ext cx="8370794" cy="2587950"/>
          </a:xfrm>
          <a:prstGeom prst="rect">
            <a:avLst/>
          </a:prstGeom>
        </p:spPr>
        <p:txBody>
          <a:bodyPr spcFirstLastPara="1" vert="horz" wrap="square" lIns="68569" tIns="68569" rIns="68569" bIns="68569" rtlCol="0" anchor="t" anchorCtr="0">
            <a:noAutofit/>
          </a:bodyPr>
          <a:lstStyle/>
          <a:p>
            <a:pPr indent="-238125" algn="just">
              <a:spcBef>
                <a:spcPts val="1050"/>
              </a:spcBef>
              <a:buClr>
                <a:srgbClr val="252626"/>
              </a:buClr>
              <a:buSzPts val="1400"/>
            </a:pPr>
            <a:r>
              <a:rPr lang="en" sz="1400" b="1" dirty="0">
                <a:solidFill>
                  <a:srgbClr val="252626"/>
                </a:solidFill>
              </a:rPr>
              <a:t>Software as a Service (SaaS)</a:t>
            </a:r>
            <a:endParaRPr sz="1400" b="1" dirty="0">
              <a:solidFill>
                <a:srgbClr val="252626"/>
              </a:solidFill>
            </a:endParaRPr>
          </a:p>
          <a:p>
            <a:pPr lvl="1" indent="-233363" algn="just">
              <a:buClr>
                <a:srgbClr val="252626"/>
              </a:buClr>
              <a:buSzPts val="1300"/>
            </a:pPr>
            <a:r>
              <a:rPr lang="en" sz="1400" dirty="0">
                <a:solidFill>
                  <a:srgbClr val="252626"/>
                </a:solidFill>
              </a:rPr>
              <a:t>The third cloud layer is the actual Software – the SaaS (Software as a service). SaaS has been used for many years, but in a Cloud setting, it is the layer in which the user consumes the offering from the service provider.</a:t>
            </a:r>
            <a:endParaRPr sz="1400" dirty="0">
              <a:solidFill>
                <a:srgbClr val="252626"/>
              </a:solidFill>
            </a:endParaRPr>
          </a:p>
          <a:p>
            <a:pPr lvl="1" indent="-233363" algn="just">
              <a:buClr>
                <a:srgbClr val="252626"/>
              </a:buClr>
              <a:buSzPts val="1300"/>
            </a:pPr>
            <a:r>
              <a:rPr lang="en" sz="1400" dirty="0">
                <a:solidFill>
                  <a:srgbClr val="333333"/>
                </a:solidFill>
                <a:highlight>
                  <a:srgbClr val="FFFFFF"/>
                </a:highlight>
              </a:rPr>
              <a:t>Here, organizations rent the usage of a SaaS application, and users connect to it by means of the internet.</a:t>
            </a:r>
            <a:endParaRPr sz="1400" dirty="0">
              <a:solidFill>
                <a:srgbClr val="333333"/>
              </a:solidFill>
              <a:highlight>
                <a:srgbClr val="FFFFFF"/>
              </a:highlight>
            </a:endParaRPr>
          </a:p>
          <a:p>
            <a:pPr lvl="1" indent="-233363" algn="just">
              <a:buClr>
                <a:srgbClr val="252626"/>
              </a:buClr>
              <a:buSzPts val="1300"/>
            </a:pPr>
            <a:r>
              <a:rPr lang="en" sz="1400" dirty="0">
                <a:solidFill>
                  <a:srgbClr val="333333"/>
                </a:solidFill>
                <a:highlight>
                  <a:srgbClr val="FFFFFF"/>
                </a:highlight>
              </a:rPr>
              <a:t>The application, therefore, needs to be </a:t>
            </a:r>
            <a:r>
              <a:rPr lang="en" sz="1400" dirty="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web-based server</a:t>
            </a:r>
            <a:r>
              <a:rPr lang="en" sz="1400" dirty="0">
                <a:solidFill>
                  <a:schemeClr val="dk1"/>
                </a:solidFill>
                <a:highlight>
                  <a:srgbClr val="FFFFFF"/>
                </a:highlight>
              </a:rPr>
              <a:t> </a:t>
            </a:r>
            <a:r>
              <a:rPr lang="en" sz="1400" dirty="0">
                <a:solidFill>
                  <a:srgbClr val="333333"/>
                </a:solidFill>
                <a:highlight>
                  <a:srgbClr val="FFFFFF"/>
                </a:highlight>
              </a:rPr>
              <a:t>so that it can be accessed from anywhere.</a:t>
            </a:r>
            <a:endParaRPr sz="1400" dirty="0">
              <a:solidFill>
                <a:srgbClr val="333333"/>
              </a:solidFill>
              <a:highlight>
                <a:srgbClr val="FFFFFF"/>
              </a:highlight>
            </a:endParaRPr>
          </a:p>
          <a:p>
            <a:pPr lvl="1" indent="-233363" algn="just">
              <a:buClr>
                <a:srgbClr val="252626"/>
              </a:buClr>
              <a:buSzPts val="1300"/>
            </a:pPr>
            <a:r>
              <a:rPr lang="en" sz="1400" dirty="0">
                <a:solidFill>
                  <a:srgbClr val="333333"/>
                </a:solidFill>
                <a:highlight>
                  <a:srgbClr val="FFFFFF"/>
                </a:highlight>
              </a:rPr>
              <a:t> In this case, the service provider offers both the software and the hardware.</a:t>
            </a:r>
            <a:endParaRPr sz="1400" dirty="0">
              <a:solidFill>
                <a:srgbClr val="333333"/>
              </a:solidFill>
              <a:highlight>
                <a:srgbClr val="FFFFFF"/>
              </a:highlight>
            </a:endParaRPr>
          </a:p>
          <a:p>
            <a:pPr lvl="1" indent="-233363" algn="just">
              <a:buClr>
                <a:srgbClr val="333333"/>
              </a:buClr>
              <a:buSzPts val="1300"/>
            </a:pPr>
            <a:r>
              <a:rPr lang="en" sz="1400" dirty="0">
                <a:solidFill>
                  <a:srgbClr val="252626"/>
                </a:solidFill>
              </a:rPr>
              <a:t>The SaaS layer must be web-based and hence accessible from everywhere and preferably on any device. The key is to understand that it makes no sense to ask whether a service is cloud or SaaS, as SaaS is a layer in the cloud stack.</a:t>
            </a:r>
            <a:endParaRPr sz="1400" dirty="0">
              <a:solidFill>
                <a:srgbClr val="333333"/>
              </a:solidFill>
              <a:highlight>
                <a:srgbClr val="FFFFFF"/>
              </a:highlight>
            </a:endParaRPr>
          </a:p>
          <a:p>
            <a:pPr marL="0" indent="0">
              <a:spcBef>
                <a:spcPts val="300"/>
              </a:spcBef>
              <a:spcAft>
                <a:spcPts val="900"/>
              </a:spcAft>
              <a:buNone/>
            </a:pPr>
            <a:endParaRPr sz="1400" dirty="0"/>
          </a:p>
        </p:txBody>
      </p:sp>
      <p:sp>
        <p:nvSpPr>
          <p:cNvPr id="3" name="Google Shape;110;p23">
            <a:extLst>
              <a:ext uri="{FF2B5EF4-FFF2-40B4-BE49-F238E27FC236}">
                <a16:creationId xmlns:a16="http://schemas.microsoft.com/office/drawing/2014/main" id="{5EB307B1-C20F-476F-8877-5846CE586050}"/>
              </a:ext>
            </a:extLst>
          </p:cNvPr>
          <p:cNvSpPr txBox="1">
            <a:spLocks noGrp="1"/>
          </p:cNvSpPr>
          <p:nvPr>
            <p:ph type="title"/>
          </p:nvPr>
        </p:nvSpPr>
        <p:spPr>
          <a:xfrm>
            <a:off x="1560022" y="284611"/>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9"/>
          <p:cNvSpPr txBox="1">
            <a:spLocks noGrp="1"/>
          </p:cNvSpPr>
          <p:nvPr>
            <p:ph type="body" idx="1"/>
          </p:nvPr>
        </p:nvSpPr>
        <p:spPr>
          <a:xfrm>
            <a:off x="1193528" y="429525"/>
            <a:ext cx="6708825" cy="3504150"/>
          </a:xfrm>
          <a:prstGeom prst="rect">
            <a:avLst/>
          </a:prstGeom>
        </p:spPr>
        <p:txBody>
          <a:bodyPr spcFirstLastPara="1" vert="horz" wrap="square" lIns="68569" tIns="68569" rIns="68569" bIns="68569" rtlCol="0" anchor="t" anchorCtr="0">
            <a:noAutofit/>
          </a:bodyPr>
          <a:lstStyle/>
          <a:p>
            <a:pPr marL="0" indent="0" algn="just">
              <a:lnSpc>
                <a:spcPct val="121250"/>
              </a:lnSpc>
              <a:spcBef>
                <a:spcPts val="225"/>
              </a:spcBef>
              <a:buClr>
                <a:schemeClr val="dk1"/>
              </a:buClr>
              <a:buSzPts val="1100"/>
              <a:buNone/>
            </a:pPr>
            <a:r>
              <a:rPr lang="en" sz="1400" dirty="0">
                <a:solidFill>
                  <a:schemeClr val="dk1"/>
                </a:solidFill>
                <a:highlight>
                  <a:srgbClr val="FFFFFF"/>
                </a:highlight>
              </a:rPr>
              <a:t>Key Features</a:t>
            </a:r>
            <a:endParaRPr sz="1400" dirty="0">
              <a:solidFill>
                <a:schemeClr val="dk1"/>
              </a:solidFill>
              <a:highlight>
                <a:srgbClr val="FFFFFF"/>
              </a:highlight>
            </a:endParaRPr>
          </a:p>
          <a:p>
            <a:pPr indent="-233363" algn="just">
              <a:lnSpc>
                <a:spcPct val="100000"/>
              </a:lnSpc>
              <a:spcBef>
                <a:spcPts val="525"/>
              </a:spcBef>
              <a:buClr>
                <a:schemeClr val="dk1"/>
              </a:buClr>
              <a:buSzPts val="1300"/>
            </a:pPr>
            <a:r>
              <a:rPr lang="en" sz="1400" dirty="0">
                <a:solidFill>
                  <a:schemeClr val="dk1"/>
                </a:solidFill>
                <a:highlight>
                  <a:srgbClr val="FFFFFF"/>
                </a:highlight>
              </a:rPr>
              <a:t>The subscription model of utilizing</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No need to download, install or upgrade software</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Resources can be scaled depending on requirements</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Apps are accessible from any connected device</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The provider is responsible for everything</a:t>
            </a:r>
            <a:endParaRPr sz="1400" dirty="0">
              <a:solidFill>
                <a:schemeClr val="dk1"/>
              </a:solidFill>
              <a:highlight>
                <a:srgbClr val="FFFFFF"/>
              </a:highlight>
            </a:endParaRPr>
          </a:p>
          <a:p>
            <a:pPr marL="0" indent="0" algn="just">
              <a:lnSpc>
                <a:spcPct val="100000"/>
              </a:lnSpc>
              <a:buNone/>
            </a:pPr>
            <a:r>
              <a:rPr lang="en" sz="1400" dirty="0">
                <a:solidFill>
                  <a:schemeClr val="dk1"/>
                </a:solidFill>
                <a:highlight>
                  <a:srgbClr val="FFFFFF"/>
                </a:highlight>
              </a:rPr>
              <a:t>SaaS Advantages</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No hardware costs</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No initial setup costs</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Automated upgrades</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Cross-device compatibility</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Accessible from any location</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Pay-as-you-go model</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Scalability</a:t>
            </a:r>
            <a:endParaRPr sz="1400" dirty="0">
              <a:solidFill>
                <a:schemeClr val="dk1"/>
              </a:solidFill>
              <a:highlight>
                <a:srgbClr val="FFFFFF"/>
              </a:highlight>
            </a:endParaRPr>
          </a:p>
          <a:p>
            <a:pPr indent="-233363" algn="just">
              <a:lnSpc>
                <a:spcPct val="100000"/>
              </a:lnSpc>
              <a:buClr>
                <a:schemeClr val="dk1"/>
              </a:buClr>
              <a:buSzPts val="1300"/>
            </a:pPr>
            <a:r>
              <a:rPr lang="en" sz="1400" dirty="0">
                <a:solidFill>
                  <a:schemeClr val="dk1"/>
                </a:solidFill>
                <a:highlight>
                  <a:srgbClr val="FFFFFF"/>
                </a:highlight>
              </a:rPr>
              <a:t>Easy customization</a:t>
            </a:r>
            <a:endParaRPr sz="1400" dirty="0">
              <a:solidFill>
                <a:schemeClr val="dk1"/>
              </a:solidFill>
              <a:highlight>
                <a:srgbClr val="FFFFFF"/>
              </a:highlight>
            </a:endParaRPr>
          </a:p>
          <a:p>
            <a:pPr marL="0" indent="0" algn="just">
              <a:lnSpc>
                <a:spcPct val="100000"/>
              </a:lnSpc>
              <a:buNone/>
            </a:pPr>
            <a:r>
              <a:rPr lang="en" sz="1400" dirty="0">
                <a:solidFill>
                  <a:schemeClr val="dk1"/>
                </a:solidFill>
                <a:highlight>
                  <a:srgbClr val="FFFFFF"/>
                </a:highlight>
              </a:rPr>
              <a:t>SaaS Disadvantages</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Loss of control</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Limited range of solutions</a:t>
            </a:r>
            <a:endParaRPr sz="1400" dirty="0">
              <a:solidFill>
                <a:schemeClr val="dk1"/>
              </a:solidFill>
              <a:highlight>
                <a:srgbClr val="FFFFFF"/>
              </a:highlight>
            </a:endParaRPr>
          </a:p>
          <a:p>
            <a:pPr indent="-233363" algn="just">
              <a:buClr>
                <a:schemeClr val="dk1"/>
              </a:buClr>
              <a:buSzPts val="1300"/>
            </a:pPr>
            <a:r>
              <a:rPr lang="en" sz="1400" dirty="0">
                <a:solidFill>
                  <a:schemeClr val="dk1"/>
                </a:solidFill>
                <a:highlight>
                  <a:srgbClr val="FFFFFF"/>
                </a:highlight>
              </a:rPr>
              <a:t>Connectivity is a must</a:t>
            </a:r>
            <a:endParaRPr sz="1400" dirty="0">
              <a:solidFill>
                <a:schemeClr val="dk1"/>
              </a:solidFill>
              <a:highlight>
                <a:srgbClr val="FFFFFF"/>
              </a:highlight>
            </a:endParaRPr>
          </a:p>
        </p:txBody>
      </p:sp>
      <p:sp>
        <p:nvSpPr>
          <p:cNvPr id="3" name="Google Shape;110;p23">
            <a:extLst>
              <a:ext uri="{FF2B5EF4-FFF2-40B4-BE49-F238E27FC236}">
                <a16:creationId xmlns:a16="http://schemas.microsoft.com/office/drawing/2014/main" id="{B12CF666-FF01-4E8F-B2B8-3F133F1211AF}"/>
              </a:ext>
            </a:extLst>
          </p:cNvPr>
          <p:cNvSpPr txBox="1">
            <a:spLocks noGrp="1"/>
          </p:cNvSpPr>
          <p:nvPr>
            <p:ph type="title"/>
          </p:nvPr>
        </p:nvSpPr>
        <p:spPr>
          <a:xfrm>
            <a:off x="1511903" y="0"/>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a:spLocks noGrp="1"/>
          </p:cNvSpPr>
          <p:nvPr>
            <p:ph type="body" idx="1"/>
          </p:nvPr>
        </p:nvSpPr>
        <p:spPr>
          <a:xfrm>
            <a:off x="726142" y="944421"/>
            <a:ext cx="7846358" cy="2733075"/>
          </a:xfrm>
          <a:prstGeom prst="rect">
            <a:avLst/>
          </a:prstGeom>
        </p:spPr>
        <p:txBody>
          <a:bodyPr spcFirstLastPara="1" vert="horz" wrap="square" lIns="68569" tIns="68569" rIns="68569" bIns="68569" rtlCol="0" anchor="t" anchorCtr="0">
            <a:noAutofit/>
          </a:bodyPr>
          <a:lstStyle/>
          <a:p>
            <a:pPr marL="0" indent="0" algn="just">
              <a:buNone/>
            </a:pPr>
            <a:r>
              <a:rPr lang="en" sz="1400" b="1" dirty="0">
                <a:solidFill>
                  <a:schemeClr val="dk1"/>
                </a:solidFill>
              </a:rPr>
              <a:t>Service Provider</a:t>
            </a:r>
            <a:endParaRPr sz="1400" b="1" dirty="0">
              <a:solidFill>
                <a:schemeClr val="dk1"/>
              </a:solidFill>
            </a:endParaRPr>
          </a:p>
          <a:p>
            <a:pPr indent="-235744" algn="just">
              <a:spcBef>
                <a:spcPts val="900"/>
              </a:spcBef>
              <a:buClr>
                <a:schemeClr val="dk1"/>
              </a:buClr>
              <a:buSzPts val="1350"/>
            </a:pPr>
            <a:r>
              <a:rPr lang="en" sz="1400" dirty="0">
                <a:solidFill>
                  <a:schemeClr val="dk1"/>
                </a:solidFill>
                <a:highlight>
                  <a:srgbClr val="FFFFFF"/>
                </a:highlight>
              </a:rPr>
              <a:t>A cloud service provider is a third-party company offering a cloud-based platform, infrastructure, application or storage services. Much like a homeowner would pay for a utility such as electricity or gas, companies typically have to pay only for the amount of cloud services they use, as business demands require.</a:t>
            </a:r>
            <a:endParaRPr sz="1400" dirty="0">
              <a:solidFill>
                <a:schemeClr val="dk1"/>
              </a:solidFill>
              <a:highlight>
                <a:srgbClr val="FFFFFF"/>
              </a:highlight>
            </a:endParaRPr>
          </a:p>
          <a:p>
            <a:pPr indent="-235744" algn="just">
              <a:buClr>
                <a:schemeClr val="dk1"/>
              </a:buClr>
              <a:buSzPts val="1350"/>
            </a:pPr>
            <a:r>
              <a:rPr lang="en" sz="1400" dirty="0">
                <a:solidFill>
                  <a:schemeClr val="dk1"/>
                </a:solidFill>
                <a:highlight>
                  <a:srgbClr val="FFFFFF"/>
                </a:highlight>
              </a:rPr>
              <a:t>Besides the pay-per-use model, cloud service providers also give companies a wide range of benefits. Businesses can take advantage of scalability and flexibility by not being limited to physical constraints of on-premises servers, the reliability of multiple data centers with multiple redundancies, customisation by configuring servers to your preferences and responsive load balancing which can easily respond to changing demands. </a:t>
            </a:r>
            <a:endParaRPr sz="1400" dirty="0">
              <a:solidFill>
                <a:schemeClr val="dk1"/>
              </a:solidFill>
              <a:highlight>
                <a:srgbClr val="FFFFFF"/>
              </a:highlight>
            </a:endParaRPr>
          </a:p>
          <a:p>
            <a:pPr indent="-235744" algn="just">
              <a:buClr>
                <a:schemeClr val="dk1"/>
              </a:buClr>
              <a:buSzPts val="1350"/>
            </a:pPr>
            <a:r>
              <a:rPr lang="en" sz="1400" dirty="0">
                <a:solidFill>
                  <a:schemeClr val="dk1"/>
                </a:solidFill>
                <a:highlight>
                  <a:srgbClr val="FFFFFF"/>
                </a:highlight>
              </a:rPr>
              <a:t>Though businesses should also evaluate security considerations of storing information in the cloud to ensure industry-recommended access and compliance management configurations and practices are enacted and met.</a:t>
            </a:r>
            <a:endParaRPr sz="1400" dirty="0">
              <a:solidFill>
                <a:schemeClr val="dk1"/>
              </a:solidFill>
              <a:highlight>
                <a:srgbClr val="FFFFFF"/>
              </a:highlight>
            </a:endParaRPr>
          </a:p>
        </p:txBody>
      </p:sp>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1560022" y="284611"/>
            <a:ext cx="6390450" cy="429525"/>
          </a:xfrm>
          <a:prstGeom prst="rect">
            <a:avLst/>
          </a:prstGeom>
        </p:spPr>
        <p:txBody>
          <a:bodyPr spcFirstLastPara="1" vert="horz" wrap="square" lIns="68569" tIns="68569" rIns="68569" bIns="68569" rtlCol="0" anchor="t" anchorCtr="0">
            <a:normAutofit fontScale="90000"/>
          </a:bodyPr>
          <a:lstStyle/>
          <a:p>
            <a:r>
              <a:rPr lang="en" dirty="0"/>
              <a:t>Cloud Architecture- Layers and Models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a:spLocks noGrp="1"/>
          </p:cNvSpPr>
          <p:nvPr>
            <p:ph type="body" idx="1"/>
          </p:nvPr>
        </p:nvSpPr>
        <p:spPr>
          <a:xfrm>
            <a:off x="302559" y="411576"/>
            <a:ext cx="8841441" cy="2733075"/>
          </a:xfrm>
          <a:prstGeom prst="rect">
            <a:avLst/>
          </a:prstGeom>
        </p:spPr>
        <p:txBody>
          <a:bodyPr spcFirstLastPara="1" vert="horz" wrap="square" lIns="68569" tIns="68569" rIns="68569" bIns="68569" rtlCol="0" anchor="t" anchorCtr="0">
            <a:noAutofit/>
          </a:bodyPr>
          <a:lstStyle/>
          <a:p>
            <a:pPr marL="0" indent="0" algn="just">
              <a:buNone/>
            </a:pPr>
            <a:r>
              <a:rPr lang="en-GB" sz="1400" b="1" dirty="0">
                <a:solidFill>
                  <a:schemeClr val="dk1"/>
                </a:solidFill>
              </a:rPr>
              <a:t>Step 1: Requirement Analysis</a:t>
            </a:r>
          </a:p>
          <a:p>
            <a:pPr marL="285750" indent="-285750" algn="just"/>
            <a:r>
              <a:rPr lang="en-GB" sz="1400" dirty="0">
                <a:solidFill>
                  <a:schemeClr val="dk1"/>
                </a:solidFill>
              </a:rPr>
              <a:t>Identify the business problem and objectives.</a:t>
            </a:r>
          </a:p>
          <a:p>
            <a:pPr marL="285750" indent="-285750" algn="just"/>
            <a:r>
              <a:rPr lang="en-GB" sz="1400" dirty="0">
                <a:solidFill>
                  <a:schemeClr val="dk1"/>
                </a:solidFill>
              </a:rPr>
              <a:t>Determine user requirements and expected services.</a:t>
            </a:r>
          </a:p>
          <a:p>
            <a:pPr marL="285750" indent="-285750" algn="just"/>
            <a:r>
              <a:rPr lang="en-GB" sz="1400" dirty="0" err="1">
                <a:solidFill>
                  <a:schemeClr val="dk1"/>
                </a:solidFill>
              </a:rPr>
              <a:t>Analyze</a:t>
            </a:r>
            <a:r>
              <a:rPr lang="en-GB" sz="1400" dirty="0">
                <a:solidFill>
                  <a:schemeClr val="dk1"/>
                </a:solidFill>
              </a:rPr>
              <a:t> workload characteristics and usage patterns.</a:t>
            </a:r>
          </a:p>
          <a:p>
            <a:pPr marL="285750" indent="-285750" algn="just"/>
            <a:r>
              <a:rPr lang="en-GB" sz="1400" dirty="0">
                <a:solidFill>
                  <a:schemeClr val="dk1"/>
                </a:solidFill>
              </a:rPr>
              <a:t>Example: An online learning platform needs video streaming, user authentication, and assessment modules.</a:t>
            </a:r>
          </a:p>
          <a:p>
            <a:pPr marL="0" indent="0" algn="just">
              <a:buNone/>
            </a:pPr>
            <a:r>
              <a:rPr lang="en-GB" sz="1400" b="1" dirty="0">
                <a:solidFill>
                  <a:schemeClr val="dk1"/>
                </a:solidFill>
              </a:rPr>
              <a:t>Step 2: Scalability Requirement </a:t>
            </a:r>
          </a:p>
          <a:p>
            <a:pPr marL="285750" indent="-285750" algn="just"/>
            <a:r>
              <a:rPr lang="en-GB" sz="1400" dirty="0">
                <a:solidFill>
                  <a:schemeClr val="dk1"/>
                </a:solidFill>
              </a:rPr>
              <a:t>The application should support increasing or decreasing workloads.</a:t>
            </a:r>
          </a:p>
          <a:p>
            <a:pPr marL="285750" indent="-285750" algn="just"/>
            <a:r>
              <a:rPr lang="en-GB" sz="1400" dirty="0">
                <a:solidFill>
                  <a:schemeClr val="dk1"/>
                </a:solidFill>
              </a:rPr>
              <a:t>Resources must be allocated dynamically based on demand.</a:t>
            </a:r>
          </a:p>
          <a:p>
            <a:pPr marL="285750" indent="-285750" algn="just"/>
            <a:r>
              <a:rPr lang="en-GB" sz="1400" dirty="0">
                <a:solidFill>
                  <a:schemeClr val="dk1"/>
                </a:solidFill>
              </a:rPr>
              <a:t>Example: During online examinations, the system should automatically add servers to handle </a:t>
            </a:r>
            <a:r>
              <a:rPr lang="en-GB" sz="1400" b="1" dirty="0">
                <a:solidFill>
                  <a:schemeClr val="dk1"/>
                </a:solidFill>
              </a:rPr>
              <a:t>more users.</a:t>
            </a:r>
          </a:p>
          <a:p>
            <a:pPr marL="0" indent="0" algn="just">
              <a:buNone/>
            </a:pPr>
            <a:r>
              <a:rPr lang="en-GB" sz="1400" b="1" dirty="0">
                <a:solidFill>
                  <a:schemeClr val="dk1"/>
                </a:solidFill>
              </a:rPr>
              <a:t>Step 3: Availability Requirement</a:t>
            </a:r>
          </a:p>
          <a:p>
            <a:pPr marL="285750" indent="-285750" algn="just"/>
            <a:r>
              <a:rPr lang="en-GB" sz="1400" dirty="0">
                <a:solidFill>
                  <a:schemeClr val="dk1"/>
                </a:solidFill>
              </a:rPr>
              <a:t>The application should remain accessible with minimal downtime.</a:t>
            </a:r>
          </a:p>
          <a:p>
            <a:pPr marL="285750" indent="-285750" algn="just"/>
            <a:r>
              <a:rPr lang="en-GB" sz="1400" dirty="0">
                <a:solidFill>
                  <a:schemeClr val="dk1"/>
                </a:solidFill>
              </a:rPr>
              <a:t>Redundant resources and failover mechanisms should be implemented.</a:t>
            </a:r>
          </a:p>
          <a:p>
            <a:pPr marL="285750" indent="-285750" algn="just"/>
            <a:r>
              <a:rPr lang="en-GB" sz="1400" dirty="0">
                <a:solidFill>
                  <a:schemeClr val="dk1"/>
                </a:solidFill>
              </a:rPr>
              <a:t>Example: E-commerce websites must remain available during festive sales.</a:t>
            </a:r>
          </a:p>
          <a:p>
            <a:pPr marL="0" indent="0" algn="just">
              <a:buNone/>
            </a:pPr>
            <a:r>
              <a:rPr lang="en-GB" sz="1400" b="1" dirty="0">
                <a:solidFill>
                  <a:schemeClr val="dk1"/>
                </a:solidFill>
              </a:rPr>
              <a:t>Step 4: Reliability Requirement</a:t>
            </a:r>
          </a:p>
          <a:p>
            <a:pPr marL="285750" indent="-285750" algn="just"/>
            <a:r>
              <a:rPr lang="en-GB" sz="1400" dirty="0">
                <a:solidFill>
                  <a:schemeClr val="dk1"/>
                </a:solidFill>
              </a:rPr>
              <a:t>The system should perform consistently without failures.</a:t>
            </a:r>
          </a:p>
          <a:p>
            <a:pPr marL="285750" indent="-285750" algn="just"/>
            <a:r>
              <a:rPr lang="en-GB" sz="1400" dirty="0">
                <a:solidFill>
                  <a:schemeClr val="dk1"/>
                </a:solidFill>
              </a:rPr>
              <a:t>Data integrity and fault tolerance mechanisms should be incorporated.</a:t>
            </a:r>
          </a:p>
          <a:p>
            <a:pPr marL="285750" indent="-285750" algn="just"/>
            <a:r>
              <a:rPr lang="en-GB" sz="1400" dirty="0">
                <a:solidFill>
                  <a:schemeClr val="dk1"/>
                </a:solidFill>
              </a:rPr>
              <a:t>Example: Banking applications must ensure every transaction is completed accurately.</a:t>
            </a:r>
          </a:p>
          <a:p>
            <a:pPr marL="285750" indent="-285750" algn="just"/>
            <a:endParaRPr lang="en-GB" sz="1400" b="1" dirty="0">
              <a:solidFill>
                <a:schemeClr val="dk1"/>
              </a:solidFill>
            </a:endParaRPr>
          </a:p>
          <a:p>
            <a:pPr marL="0" indent="0" algn="just">
              <a:buNone/>
            </a:pPr>
            <a:endParaRPr sz="1400" dirty="0">
              <a:solidFill>
                <a:schemeClr val="dk1"/>
              </a:solidFill>
              <a:highlight>
                <a:srgbClr val="FFFFFF"/>
              </a:highlight>
            </a:endParaRPr>
          </a:p>
        </p:txBody>
      </p:sp>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1586916" y="0"/>
            <a:ext cx="6390450" cy="429525"/>
          </a:xfrm>
          <a:prstGeom prst="rect">
            <a:avLst/>
          </a:prstGeom>
        </p:spPr>
        <p:txBody>
          <a:bodyPr spcFirstLastPara="1" vert="horz" wrap="square" lIns="68569" tIns="68569" rIns="68569" bIns="68569" rtlCol="0" anchor="t" anchorCtr="0">
            <a:normAutofit fontScale="90000"/>
          </a:bodyPr>
          <a:lstStyle/>
          <a:p>
            <a:r>
              <a:rPr lang="en" dirty="0"/>
              <a:t>Cloud A</a:t>
            </a:r>
            <a:r>
              <a:rPr lang="en-IN" dirty="0" err="1"/>
              <a:t>pplication</a:t>
            </a:r>
            <a:r>
              <a:rPr lang="en-IN" dirty="0"/>
              <a:t> Requirements</a:t>
            </a:r>
            <a:endParaRPr dirty="0"/>
          </a:p>
        </p:txBody>
      </p:sp>
    </p:spTree>
    <p:extLst>
      <p:ext uri="{BB962C8B-B14F-4D97-AF65-F5344CB8AC3E}">
        <p14:creationId xmlns:p14="http://schemas.microsoft.com/office/powerpoint/2010/main" val="2456342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a:spLocks noGrp="1"/>
          </p:cNvSpPr>
          <p:nvPr>
            <p:ph type="body" idx="1"/>
          </p:nvPr>
        </p:nvSpPr>
        <p:spPr>
          <a:xfrm>
            <a:off x="705971" y="446879"/>
            <a:ext cx="7846358" cy="2733075"/>
          </a:xfrm>
          <a:prstGeom prst="rect">
            <a:avLst/>
          </a:prstGeom>
        </p:spPr>
        <p:txBody>
          <a:bodyPr spcFirstLastPara="1" vert="horz" wrap="square" lIns="68569" tIns="68569" rIns="68569" bIns="68569" rtlCol="0" anchor="t" anchorCtr="0">
            <a:noAutofit/>
          </a:bodyPr>
          <a:lstStyle/>
          <a:p>
            <a:pPr marL="0" indent="0" algn="just">
              <a:buNone/>
            </a:pPr>
            <a:r>
              <a:rPr lang="en-GB" sz="1400" b="1" dirty="0">
                <a:solidFill>
                  <a:schemeClr val="dk1"/>
                </a:solidFill>
              </a:rPr>
              <a:t>Step 5: Performance Requirement</a:t>
            </a:r>
          </a:p>
          <a:p>
            <a:pPr marL="285750" indent="-285750" algn="just"/>
            <a:r>
              <a:rPr lang="en-GB" sz="1400" dirty="0">
                <a:solidFill>
                  <a:schemeClr val="dk1"/>
                </a:solidFill>
              </a:rPr>
              <a:t>Applications should provide fast response times and efficient processing.</a:t>
            </a:r>
          </a:p>
          <a:p>
            <a:pPr marL="285750" indent="-285750" algn="just"/>
            <a:r>
              <a:rPr lang="en-GB" sz="1400" dirty="0">
                <a:solidFill>
                  <a:schemeClr val="dk1"/>
                </a:solidFill>
              </a:rPr>
              <a:t>Load balancing and resource optimization should be used.</a:t>
            </a:r>
          </a:p>
          <a:p>
            <a:pPr marL="285750" indent="-285750" algn="just"/>
            <a:r>
              <a:rPr lang="en-GB" sz="1400" dirty="0">
                <a:solidFill>
                  <a:schemeClr val="dk1"/>
                </a:solidFill>
              </a:rPr>
              <a:t>Example: Search results on a shopping website should appear within seconds.</a:t>
            </a:r>
          </a:p>
          <a:p>
            <a:pPr marL="0" indent="0" algn="just">
              <a:buNone/>
            </a:pPr>
            <a:r>
              <a:rPr lang="en-GB" sz="1400" b="1" dirty="0">
                <a:solidFill>
                  <a:schemeClr val="dk1"/>
                </a:solidFill>
              </a:rPr>
              <a:t>Step 6: Security Requirement</a:t>
            </a:r>
          </a:p>
          <a:p>
            <a:pPr marL="285750" indent="-285750" algn="just"/>
            <a:r>
              <a:rPr lang="en-GB" sz="1400" dirty="0">
                <a:solidFill>
                  <a:schemeClr val="dk1"/>
                </a:solidFill>
              </a:rPr>
              <a:t>Protect data, applications, and infrastructure from unauthorized access.</a:t>
            </a:r>
          </a:p>
          <a:p>
            <a:pPr marL="285750" indent="-285750" algn="just"/>
            <a:r>
              <a:rPr lang="en-GB" sz="1400" dirty="0">
                <a:solidFill>
                  <a:schemeClr val="dk1"/>
                </a:solidFill>
              </a:rPr>
              <a:t>Implement authentication, authorization, encryption, and auditing.</a:t>
            </a:r>
          </a:p>
          <a:p>
            <a:pPr marL="285750" indent="-285750" algn="just"/>
            <a:r>
              <a:rPr lang="en-GB" sz="1400" dirty="0">
                <a:solidFill>
                  <a:schemeClr val="dk1"/>
                </a:solidFill>
              </a:rPr>
              <a:t>Example: Cloud-based healthcare systems must secure patient records.</a:t>
            </a:r>
          </a:p>
          <a:p>
            <a:pPr marL="0" indent="0" algn="just">
              <a:buNone/>
            </a:pPr>
            <a:r>
              <a:rPr lang="en-GB" sz="1400" b="1" dirty="0">
                <a:solidFill>
                  <a:schemeClr val="dk1"/>
                </a:solidFill>
              </a:rPr>
              <a:t>Step 7: Data Management Requirement</a:t>
            </a:r>
          </a:p>
          <a:p>
            <a:pPr marL="285750" indent="-285750" algn="just"/>
            <a:r>
              <a:rPr lang="en-GB" sz="1400" dirty="0">
                <a:solidFill>
                  <a:schemeClr val="dk1"/>
                </a:solidFill>
              </a:rPr>
              <a:t>Efficient storage, retrieval, backup, and recovery of data.</a:t>
            </a:r>
          </a:p>
          <a:p>
            <a:pPr marL="285750" indent="-285750" algn="just"/>
            <a:r>
              <a:rPr lang="en-GB" sz="1400" dirty="0">
                <a:solidFill>
                  <a:schemeClr val="dk1"/>
                </a:solidFill>
              </a:rPr>
              <a:t>Support for distributed databases and big data processing.</a:t>
            </a:r>
          </a:p>
          <a:p>
            <a:pPr marL="285750" indent="-285750" algn="just"/>
            <a:r>
              <a:rPr lang="en-GB" sz="1400" dirty="0">
                <a:solidFill>
                  <a:schemeClr val="dk1"/>
                </a:solidFill>
              </a:rPr>
              <a:t>Example: Social media platforms store and manage billions of user posts and images.</a:t>
            </a:r>
          </a:p>
          <a:p>
            <a:pPr marL="0" indent="0" algn="just">
              <a:buNone/>
            </a:pPr>
            <a:r>
              <a:rPr lang="en-GB" sz="1400" b="1" dirty="0">
                <a:solidFill>
                  <a:schemeClr val="dk1"/>
                </a:solidFill>
              </a:rPr>
              <a:t>Step 8: Interoperability Requirement</a:t>
            </a:r>
          </a:p>
          <a:p>
            <a:pPr marL="285750" indent="-285750" algn="just"/>
            <a:r>
              <a:rPr lang="en-GB" sz="1400" dirty="0">
                <a:solidFill>
                  <a:schemeClr val="dk1"/>
                </a:solidFill>
              </a:rPr>
              <a:t>The application should work across different cloud platforms and services.</a:t>
            </a:r>
          </a:p>
          <a:p>
            <a:pPr marL="285750" indent="-285750" algn="just"/>
            <a:r>
              <a:rPr lang="en-GB" sz="1400" dirty="0">
                <a:solidFill>
                  <a:schemeClr val="dk1"/>
                </a:solidFill>
              </a:rPr>
              <a:t>Standard APIs and protocols should be used.</a:t>
            </a:r>
          </a:p>
          <a:p>
            <a:pPr marL="285750" indent="-285750" algn="just"/>
            <a:r>
              <a:rPr lang="en-GB" sz="1400" dirty="0">
                <a:solidFill>
                  <a:schemeClr val="dk1"/>
                </a:solidFill>
              </a:rPr>
              <a:t>Example: An application deployed on AWS should be able to interact with services hosted on Azure.</a:t>
            </a:r>
          </a:p>
          <a:p>
            <a:pPr marL="285750" indent="-285750" algn="just"/>
            <a:endParaRPr lang="en-GB" sz="1400" dirty="0">
              <a:solidFill>
                <a:schemeClr val="dk1"/>
              </a:solidFill>
            </a:endParaRPr>
          </a:p>
        </p:txBody>
      </p:sp>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1580192" y="69458"/>
            <a:ext cx="6390450" cy="429525"/>
          </a:xfrm>
          <a:prstGeom prst="rect">
            <a:avLst/>
          </a:prstGeom>
        </p:spPr>
        <p:txBody>
          <a:bodyPr spcFirstLastPara="1" vert="horz" wrap="square" lIns="68569" tIns="68569" rIns="68569" bIns="68569" rtlCol="0" anchor="t" anchorCtr="0">
            <a:normAutofit fontScale="90000"/>
          </a:bodyPr>
          <a:lstStyle/>
          <a:p>
            <a:r>
              <a:rPr lang="en" dirty="0"/>
              <a:t>Cloud A</a:t>
            </a:r>
            <a:r>
              <a:rPr lang="en-IN" dirty="0" err="1"/>
              <a:t>pplication</a:t>
            </a:r>
            <a:r>
              <a:rPr lang="en-IN" dirty="0"/>
              <a:t> Requirements</a:t>
            </a:r>
            <a:endParaRPr dirty="0"/>
          </a:p>
        </p:txBody>
      </p:sp>
    </p:spTree>
    <p:extLst>
      <p:ext uri="{BB962C8B-B14F-4D97-AF65-F5344CB8AC3E}">
        <p14:creationId xmlns:p14="http://schemas.microsoft.com/office/powerpoint/2010/main" val="2702721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a:spLocks noGrp="1"/>
          </p:cNvSpPr>
          <p:nvPr>
            <p:ph type="body" idx="1"/>
          </p:nvPr>
        </p:nvSpPr>
        <p:spPr>
          <a:xfrm>
            <a:off x="753036" y="429525"/>
            <a:ext cx="8390964" cy="2733075"/>
          </a:xfrm>
          <a:prstGeom prst="rect">
            <a:avLst/>
          </a:prstGeom>
        </p:spPr>
        <p:txBody>
          <a:bodyPr spcFirstLastPara="1" vert="horz" wrap="square" lIns="68569" tIns="68569" rIns="68569" bIns="68569" rtlCol="0" anchor="t" anchorCtr="0">
            <a:noAutofit/>
          </a:bodyPr>
          <a:lstStyle/>
          <a:p>
            <a:pPr marL="0" indent="0" algn="just">
              <a:buNone/>
            </a:pPr>
            <a:r>
              <a:rPr lang="en-GB" sz="1400" b="1" dirty="0">
                <a:solidFill>
                  <a:schemeClr val="dk1"/>
                </a:solidFill>
              </a:rPr>
              <a:t>Step 9: Elasticity Requirement</a:t>
            </a:r>
          </a:p>
          <a:p>
            <a:pPr marL="285750" indent="-285750" algn="just"/>
            <a:r>
              <a:rPr lang="en-GB" sz="1400" dirty="0">
                <a:solidFill>
                  <a:schemeClr val="dk1"/>
                </a:solidFill>
              </a:rPr>
              <a:t>Resources should be automatically provisioned and released based on demand.</a:t>
            </a:r>
          </a:p>
          <a:p>
            <a:pPr marL="285750" indent="-285750" algn="just"/>
            <a:r>
              <a:rPr lang="en-GB" sz="1400" dirty="0">
                <a:solidFill>
                  <a:schemeClr val="dk1"/>
                </a:solidFill>
              </a:rPr>
              <a:t>Pay only for resources actually used.</a:t>
            </a:r>
          </a:p>
          <a:p>
            <a:pPr marL="285750" indent="-285750" algn="just"/>
            <a:r>
              <a:rPr lang="en-GB" sz="1400" dirty="0">
                <a:solidFill>
                  <a:schemeClr val="dk1"/>
                </a:solidFill>
              </a:rPr>
              <a:t>Example: Video streaming services allocate additional resources during live events.</a:t>
            </a:r>
          </a:p>
          <a:p>
            <a:pPr marL="0" indent="0" algn="just">
              <a:buNone/>
            </a:pPr>
            <a:r>
              <a:rPr lang="en-GB" sz="1400" b="1" dirty="0">
                <a:solidFill>
                  <a:schemeClr val="dk1"/>
                </a:solidFill>
              </a:rPr>
              <a:t>Step 10: Cost Efficiency Requirement</a:t>
            </a:r>
          </a:p>
          <a:p>
            <a:pPr marL="285750" indent="-285750" algn="just"/>
            <a:r>
              <a:rPr lang="en-GB" sz="1400" dirty="0">
                <a:solidFill>
                  <a:schemeClr val="dk1"/>
                </a:solidFill>
              </a:rPr>
              <a:t>Optimize resource utilization to reduce operational costs.</a:t>
            </a:r>
          </a:p>
          <a:p>
            <a:pPr marL="285750" indent="-285750" algn="just"/>
            <a:r>
              <a:rPr lang="en-GB" sz="1400" dirty="0">
                <a:solidFill>
                  <a:schemeClr val="dk1"/>
                </a:solidFill>
              </a:rPr>
              <a:t>Select appropriate cloud service models (IaaS, PaaS, SaaS).</a:t>
            </a:r>
          </a:p>
          <a:p>
            <a:pPr marL="285750" indent="-285750" algn="just"/>
            <a:r>
              <a:rPr lang="en-GB" sz="1400" dirty="0">
                <a:solidFill>
                  <a:schemeClr val="dk1"/>
                </a:solidFill>
              </a:rPr>
              <a:t>Example: </a:t>
            </a:r>
            <a:r>
              <a:rPr lang="en-GB" sz="1400" dirty="0" err="1">
                <a:solidFill>
                  <a:schemeClr val="dk1"/>
                </a:solidFill>
              </a:rPr>
              <a:t>Startups</a:t>
            </a:r>
            <a:r>
              <a:rPr lang="en-GB" sz="1400" dirty="0">
                <a:solidFill>
                  <a:schemeClr val="dk1"/>
                </a:solidFill>
              </a:rPr>
              <a:t> often use SaaS solutions to avoid infrastructure costs.</a:t>
            </a:r>
          </a:p>
          <a:p>
            <a:pPr marL="0" indent="0" algn="just">
              <a:buNone/>
            </a:pPr>
            <a:r>
              <a:rPr lang="en-GB" sz="1400" b="1" dirty="0">
                <a:solidFill>
                  <a:schemeClr val="dk1"/>
                </a:solidFill>
              </a:rPr>
              <a:t>Step 11: Compliance and Governance Requirement</a:t>
            </a:r>
          </a:p>
          <a:p>
            <a:pPr marL="285750" indent="-285750" algn="just"/>
            <a:r>
              <a:rPr lang="en-GB" sz="1400" dirty="0">
                <a:solidFill>
                  <a:schemeClr val="dk1"/>
                </a:solidFill>
              </a:rPr>
              <a:t>Ensure adherence to legal, regulatory, and organizational policies.</a:t>
            </a:r>
          </a:p>
          <a:p>
            <a:pPr marL="285750" indent="-285750" algn="just"/>
            <a:r>
              <a:rPr lang="en-GB" sz="1400" dirty="0">
                <a:solidFill>
                  <a:schemeClr val="dk1"/>
                </a:solidFill>
              </a:rPr>
              <a:t>Maintain audit trails and data privacy standards.</a:t>
            </a:r>
          </a:p>
          <a:p>
            <a:pPr marL="285750" indent="-285750" algn="just"/>
            <a:r>
              <a:rPr lang="en-GB" sz="1400" dirty="0">
                <a:solidFill>
                  <a:schemeClr val="dk1"/>
                </a:solidFill>
              </a:rPr>
              <a:t>Example: Financial institutions must comply with RBI and data protection regulations.</a:t>
            </a:r>
          </a:p>
          <a:p>
            <a:pPr marL="0" indent="0" algn="just">
              <a:buNone/>
            </a:pPr>
            <a:r>
              <a:rPr lang="en-GB" sz="1400" b="1" dirty="0">
                <a:solidFill>
                  <a:schemeClr val="dk1"/>
                </a:solidFill>
              </a:rPr>
              <a:t>Step 12: Monitoring and Maintenance Requirement</a:t>
            </a:r>
          </a:p>
          <a:p>
            <a:pPr marL="285750" indent="-285750" algn="just"/>
            <a:r>
              <a:rPr lang="en-GB" sz="1400" dirty="0">
                <a:solidFill>
                  <a:schemeClr val="dk1"/>
                </a:solidFill>
              </a:rPr>
              <a:t>Continuously monitor application performance and resource usage.</a:t>
            </a:r>
          </a:p>
          <a:p>
            <a:pPr marL="285750" indent="-285750" algn="just"/>
            <a:r>
              <a:rPr lang="en-GB" sz="1400" dirty="0">
                <a:solidFill>
                  <a:schemeClr val="dk1"/>
                </a:solidFill>
              </a:rPr>
              <a:t>Implement logging, alerting, and automated maintenance.</a:t>
            </a:r>
          </a:p>
          <a:p>
            <a:pPr marL="285750" indent="-285750" algn="just"/>
            <a:r>
              <a:rPr lang="en-GB" sz="1400" dirty="0">
                <a:solidFill>
                  <a:schemeClr val="dk1"/>
                </a:solidFill>
              </a:rPr>
              <a:t>Example: Cloud monitoring tools detect server failures and notify administrators immediately.</a:t>
            </a:r>
            <a:endParaRPr sz="1400" dirty="0">
              <a:solidFill>
                <a:schemeClr val="dk1"/>
              </a:solidFill>
              <a:highlight>
                <a:srgbClr val="FFFFFF"/>
              </a:highlight>
            </a:endParaRPr>
          </a:p>
        </p:txBody>
      </p:sp>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1586916" y="0"/>
            <a:ext cx="6390450" cy="429525"/>
          </a:xfrm>
          <a:prstGeom prst="rect">
            <a:avLst/>
          </a:prstGeom>
        </p:spPr>
        <p:txBody>
          <a:bodyPr spcFirstLastPara="1" vert="horz" wrap="square" lIns="68569" tIns="68569" rIns="68569" bIns="68569" rtlCol="0" anchor="t" anchorCtr="0">
            <a:normAutofit fontScale="90000"/>
          </a:bodyPr>
          <a:lstStyle/>
          <a:p>
            <a:r>
              <a:rPr lang="en" dirty="0"/>
              <a:t>Cloud A</a:t>
            </a:r>
            <a:r>
              <a:rPr lang="en-IN" dirty="0" err="1"/>
              <a:t>pplication</a:t>
            </a:r>
            <a:r>
              <a:rPr lang="en-IN" dirty="0"/>
              <a:t> Requirements</a:t>
            </a:r>
            <a:endParaRPr dirty="0"/>
          </a:p>
        </p:txBody>
      </p:sp>
    </p:spTree>
    <p:extLst>
      <p:ext uri="{BB962C8B-B14F-4D97-AF65-F5344CB8AC3E}">
        <p14:creationId xmlns:p14="http://schemas.microsoft.com/office/powerpoint/2010/main" val="2326830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0" name="Picture 9">
            <a:extLst>
              <a:ext uri="{FF2B5EF4-FFF2-40B4-BE49-F238E27FC236}">
                <a16:creationId xmlns:a16="http://schemas.microsoft.com/office/drawing/2014/main" id="{BB21FFDC-18CC-4C67-986C-2BA91202A24A}"/>
              </a:ext>
            </a:extLst>
          </p:cNvPr>
          <p:cNvPicPr>
            <a:picLocks noChangeAspect="1"/>
          </p:cNvPicPr>
          <p:nvPr/>
        </p:nvPicPr>
        <p:blipFill>
          <a:blip r:embed="rId3"/>
          <a:stretch>
            <a:fillRect/>
          </a:stretch>
        </p:blipFill>
        <p:spPr>
          <a:xfrm>
            <a:off x="714375" y="0"/>
            <a:ext cx="7715250" cy="5143500"/>
          </a:xfrm>
          <a:prstGeom prst="rect">
            <a:avLst/>
          </a:prstGeom>
        </p:spPr>
      </p:pic>
    </p:spTree>
    <p:extLst>
      <p:ext uri="{BB962C8B-B14F-4D97-AF65-F5344CB8AC3E}">
        <p14:creationId xmlns:p14="http://schemas.microsoft.com/office/powerpoint/2010/main" val="2962083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726142" y="62735"/>
            <a:ext cx="7537076" cy="429525"/>
          </a:xfrm>
          <a:prstGeom prst="rect">
            <a:avLst/>
          </a:prstGeom>
        </p:spPr>
        <p:txBody>
          <a:bodyPr spcFirstLastPara="1" vert="horz" wrap="square" lIns="68569" tIns="68569" rIns="68569" bIns="68569" rtlCol="0" anchor="t" anchorCtr="0">
            <a:normAutofit fontScale="90000"/>
          </a:bodyPr>
          <a:lstStyle/>
          <a:p>
            <a:r>
              <a:rPr lang="en-IN" dirty="0"/>
              <a:t>Service Oriented Architecture (SOA) for </a:t>
            </a:r>
            <a:r>
              <a:rPr lang="en" dirty="0"/>
              <a:t>Cloud </a:t>
            </a:r>
            <a:r>
              <a:rPr lang="en-IN" dirty="0"/>
              <a:t>Application</a:t>
            </a:r>
            <a:endParaRPr dirty="0"/>
          </a:p>
        </p:txBody>
      </p:sp>
      <p:pic>
        <p:nvPicPr>
          <p:cNvPr id="6" name="Picture 5">
            <a:extLst>
              <a:ext uri="{FF2B5EF4-FFF2-40B4-BE49-F238E27FC236}">
                <a16:creationId xmlns:a16="http://schemas.microsoft.com/office/drawing/2014/main" id="{179E99F9-49AA-460D-B0B5-3C4C8749279C}"/>
              </a:ext>
            </a:extLst>
          </p:cNvPr>
          <p:cNvPicPr>
            <a:picLocks noChangeAspect="1"/>
          </p:cNvPicPr>
          <p:nvPr/>
        </p:nvPicPr>
        <p:blipFill>
          <a:blip r:embed="rId3"/>
          <a:stretch>
            <a:fillRect/>
          </a:stretch>
        </p:blipFill>
        <p:spPr>
          <a:xfrm>
            <a:off x="714375" y="0"/>
            <a:ext cx="7715250" cy="5143500"/>
          </a:xfrm>
          <a:prstGeom prst="rect">
            <a:avLst/>
          </a:prstGeom>
        </p:spPr>
      </p:pic>
    </p:spTree>
    <p:extLst>
      <p:ext uri="{BB962C8B-B14F-4D97-AF65-F5344CB8AC3E}">
        <p14:creationId xmlns:p14="http://schemas.microsoft.com/office/powerpoint/2010/main" val="2627766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726142" y="62735"/>
            <a:ext cx="7537076" cy="429525"/>
          </a:xfrm>
          <a:prstGeom prst="rect">
            <a:avLst/>
          </a:prstGeom>
        </p:spPr>
        <p:txBody>
          <a:bodyPr spcFirstLastPara="1" vert="horz" wrap="square" lIns="68569" tIns="68569" rIns="68569" bIns="68569" rtlCol="0" anchor="t" anchorCtr="0">
            <a:normAutofit fontScale="90000"/>
          </a:bodyPr>
          <a:lstStyle/>
          <a:p>
            <a:r>
              <a:rPr lang="en-IN" dirty="0"/>
              <a:t>Service Oriented Architecture (SOA) for </a:t>
            </a:r>
            <a:r>
              <a:rPr lang="en" dirty="0"/>
              <a:t>Cloud </a:t>
            </a:r>
            <a:r>
              <a:rPr lang="en-IN" dirty="0"/>
              <a:t>Application</a:t>
            </a:r>
            <a:endParaRPr dirty="0"/>
          </a:p>
        </p:txBody>
      </p:sp>
      <p:sp>
        <p:nvSpPr>
          <p:cNvPr id="4" name="Google Shape;147;p30">
            <a:extLst>
              <a:ext uri="{FF2B5EF4-FFF2-40B4-BE49-F238E27FC236}">
                <a16:creationId xmlns:a16="http://schemas.microsoft.com/office/drawing/2014/main" id="{6CE395BB-BBF0-4450-8688-4EE4418EE614}"/>
              </a:ext>
            </a:extLst>
          </p:cNvPr>
          <p:cNvSpPr txBox="1">
            <a:spLocks noGrp="1"/>
          </p:cNvSpPr>
          <p:nvPr>
            <p:ph type="body" idx="1"/>
          </p:nvPr>
        </p:nvSpPr>
        <p:spPr>
          <a:xfrm>
            <a:off x="188259" y="662032"/>
            <a:ext cx="8505265" cy="2733075"/>
          </a:xfrm>
          <a:prstGeom prst="rect">
            <a:avLst/>
          </a:prstGeom>
        </p:spPr>
        <p:txBody>
          <a:bodyPr spcFirstLastPara="1" vert="horz" wrap="square" lIns="68569" tIns="68569" rIns="68569" bIns="68569" rtlCol="0" anchor="t" anchorCtr="0">
            <a:noAutofit/>
          </a:bodyPr>
          <a:lstStyle/>
          <a:p>
            <a:pPr marL="342900" algn="just">
              <a:buAutoNum type="arabicPeriod"/>
            </a:pPr>
            <a:r>
              <a:rPr lang="en-GB" sz="1400" b="1" dirty="0">
                <a:solidFill>
                  <a:schemeClr val="dk1"/>
                </a:solidFill>
              </a:rPr>
              <a:t>Service Consumer: </a:t>
            </a:r>
            <a:r>
              <a:rPr lang="en-GB" sz="1400" dirty="0">
                <a:solidFill>
                  <a:schemeClr val="dk1"/>
                </a:solidFill>
              </a:rPr>
              <a:t>The client or application that requests a service. It can be a web application, mobile app, or another service. Example: Customer placing an order through an e-commerce website.</a:t>
            </a:r>
          </a:p>
          <a:p>
            <a:pPr marL="342900" algn="just">
              <a:buAutoNum type="arabicPeriod"/>
            </a:pPr>
            <a:r>
              <a:rPr lang="en-GB" sz="1400" b="1" dirty="0">
                <a:solidFill>
                  <a:schemeClr val="dk1"/>
                </a:solidFill>
              </a:rPr>
              <a:t>Service Provider: </a:t>
            </a:r>
            <a:r>
              <a:rPr lang="en-GB" sz="1400" dirty="0">
                <a:solidFill>
                  <a:schemeClr val="dk1"/>
                </a:solidFill>
              </a:rPr>
              <a:t>Creates and provides the service. Publishes service details for users. Example: Payment Service providing online payment functionality.</a:t>
            </a:r>
          </a:p>
          <a:p>
            <a:pPr marL="342900" algn="just">
              <a:buAutoNum type="arabicPeriod"/>
            </a:pPr>
            <a:r>
              <a:rPr lang="en-GB" sz="1400" b="1" dirty="0">
                <a:solidFill>
                  <a:schemeClr val="dk1"/>
                </a:solidFill>
              </a:rPr>
              <a:t>Service Registry: </a:t>
            </a:r>
            <a:r>
              <a:rPr lang="en-GB" sz="1400" dirty="0">
                <a:solidFill>
                  <a:schemeClr val="dk1"/>
                </a:solidFill>
              </a:rPr>
              <a:t>Directory where available services are registered. Helps consumers discover services dynamically. Example: UDDI, Eureka Server, Consul.</a:t>
            </a:r>
          </a:p>
          <a:p>
            <a:pPr marL="342900" algn="just">
              <a:buAutoNum type="arabicPeriod"/>
            </a:pPr>
            <a:r>
              <a:rPr lang="en-GB" sz="1400" b="1" dirty="0">
                <a:solidFill>
                  <a:schemeClr val="dk1"/>
                </a:solidFill>
              </a:rPr>
              <a:t>Enterprise Service Bus (ESB): </a:t>
            </a:r>
            <a:r>
              <a:rPr lang="en-GB" sz="1400" dirty="0">
                <a:solidFill>
                  <a:schemeClr val="dk1"/>
                </a:solidFill>
              </a:rPr>
              <a:t>Middleware that enables communication among services. Handles routing, transformation, security, and protocol conversion. Functions: Message routing Data transformation Load balancing Security enforcement</a:t>
            </a:r>
          </a:p>
          <a:p>
            <a:pPr marL="342900" algn="just">
              <a:buAutoNum type="arabicPeriod"/>
            </a:pPr>
            <a:r>
              <a:rPr lang="en-GB" sz="1400" b="1" dirty="0">
                <a:solidFill>
                  <a:schemeClr val="dk1"/>
                </a:solidFill>
              </a:rPr>
              <a:t>Cloud Services: </a:t>
            </a:r>
            <a:r>
              <a:rPr lang="en-GB" sz="1400" dirty="0">
                <a:solidFill>
                  <a:schemeClr val="dk1"/>
                </a:solidFill>
              </a:rPr>
              <a:t>Each business functionality is implemented as an independent service. Examples: Authentication Service Inventory Service Payment Service Shipping Service Notification Service</a:t>
            </a:r>
          </a:p>
          <a:p>
            <a:pPr marL="342900" algn="just">
              <a:buAutoNum type="arabicPeriod"/>
            </a:pPr>
            <a:r>
              <a:rPr lang="en-GB" sz="1400" b="1" dirty="0">
                <a:solidFill>
                  <a:schemeClr val="dk1"/>
                </a:solidFill>
              </a:rPr>
              <a:t>Cloud Infrastructure Provides: </a:t>
            </a:r>
            <a:r>
              <a:rPr lang="en-GB" sz="1400" dirty="0">
                <a:solidFill>
                  <a:schemeClr val="dk1"/>
                </a:solidFill>
              </a:rPr>
              <a:t>Compute resources Storage Networking Virtualization Examples: AWS EC2Microsoft, Azure, Google Cloud Platform</a:t>
            </a:r>
          </a:p>
          <a:p>
            <a:pPr marL="0" indent="0" algn="just">
              <a:buNone/>
            </a:pPr>
            <a:endParaRPr lang="en-GB" sz="1400" dirty="0">
              <a:solidFill>
                <a:schemeClr val="dk1"/>
              </a:solidFill>
              <a:highlight>
                <a:srgbClr val="FFFFFF"/>
              </a:highlight>
            </a:endParaRPr>
          </a:p>
        </p:txBody>
      </p:sp>
    </p:spTree>
    <p:extLst>
      <p:ext uri="{BB962C8B-B14F-4D97-AF65-F5344CB8AC3E}">
        <p14:creationId xmlns:p14="http://schemas.microsoft.com/office/powerpoint/2010/main" val="191617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7" name="Picture 6">
            <a:extLst>
              <a:ext uri="{FF2B5EF4-FFF2-40B4-BE49-F238E27FC236}">
                <a16:creationId xmlns:a16="http://schemas.microsoft.com/office/drawing/2014/main" id="{3B5E300C-574C-449B-99C5-0B5A57D563C1}"/>
              </a:ext>
            </a:extLst>
          </p:cNvPr>
          <p:cNvPicPr>
            <a:picLocks noChangeAspect="1"/>
          </p:cNvPicPr>
          <p:nvPr/>
        </p:nvPicPr>
        <p:blipFill>
          <a:blip r:embed="rId3"/>
          <a:stretch>
            <a:fillRect/>
          </a:stretch>
        </p:blipFill>
        <p:spPr>
          <a:xfrm>
            <a:off x="714375" y="-6724"/>
            <a:ext cx="7715250" cy="5143500"/>
          </a:xfrm>
          <a:prstGeom prst="rect">
            <a:avLst/>
          </a:prstGeom>
        </p:spPr>
      </p:pic>
    </p:spTree>
    <p:extLst>
      <p:ext uri="{BB962C8B-B14F-4D97-AF65-F5344CB8AC3E}">
        <p14:creationId xmlns:p14="http://schemas.microsoft.com/office/powerpoint/2010/main" val="1462862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7"/>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2400"/>
              </a:spcBef>
              <a:spcAft>
                <a:spcPts val="0"/>
              </a:spcAft>
              <a:buClr>
                <a:schemeClr val="dk1"/>
              </a:buClr>
              <a:buSzPct val="47826"/>
              <a:buFont typeface="Arial"/>
              <a:buNone/>
            </a:pPr>
            <a:r>
              <a:rPr lang="en" sz="2300" b="1"/>
              <a:t>Role of Service-Oriented Architecture in Cloud Computing</a:t>
            </a:r>
            <a:endParaRPr sz="2300" b="1"/>
          </a:p>
          <a:p>
            <a:pPr marL="0" lvl="0" indent="0" algn="l" rtl="0">
              <a:spcBef>
                <a:spcPts val="600"/>
              </a:spcBef>
              <a:spcAft>
                <a:spcPts val="0"/>
              </a:spcAft>
              <a:buNone/>
            </a:pPr>
            <a:endParaRPr/>
          </a:p>
        </p:txBody>
      </p:sp>
      <p:sp>
        <p:nvSpPr>
          <p:cNvPr id="129" name="Google Shape;129;p27"/>
          <p:cNvSpPr txBox="1">
            <a:spLocks noGrp="1"/>
          </p:cNvSpPr>
          <p:nvPr>
            <p:ph type="body" idx="1"/>
          </p:nvPr>
        </p:nvSpPr>
        <p:spPr>
          <a:xfrm>
            <a:off x="311700" y="794600"/>
            <a:ext cx="8520600" cy="4112700"/>
          </a:xfrm>
          <a:prstGeom prst="rect">
            <a:avLst/>
          </a:prstGeom>
        </p:spPr>
        <p:txBody>
          <a:bodyPr spcFirstLastPara="1" wrap="square" lIns="91425" tIns="91425" rIns="91425" bIns="91425" anchor="t" anchorCtr="0">
            <a:normAutofit fontScale="62500" lnSpcReduction="20000"/>
          </a:bodyPr>
          <a:lstStyle/>
          <a:p>
            <a:pPr marL="0" lvl="0" indent="0" algn="l" rtl="0">
              <a:spcBef>
                <a:spcPts val="1200"/>
              </a:spcBef>
              <a:spcAft>
                <a:spcPts val="0"/>
              </a:spcAft>
              <a:buClr>
                <a:schemeClr val="dk1"/>
              </a:buClr>
              <a:buSzPct val="61111"/>
              <a:buFont typeface="Arial"/>
              <a:buNone/>
            </a:pPr>
            <a:r>
              <a:rPr lang="en">
                <a:solidFill>
                  <a:schemeClr val="dk1"/>
                </a:solidFill>
              </a:rPr>
              <a:t>Service-Oriented Architecture is a service-oriented approach that allows multiple service entities to communicate and share information through a single system. SOA does this by implementing a method called “loose coupling.”</a:t>
            </a:r>
            <a:endParaRPr>
              <a:solidFill>
                <a:schemeClr val="dk1"/>
              </a:solidFill>
            </a:endParaRPr>
          </a:p>
          <a:p>
            <a:pPr marL="0" lvl="0" indent="0" algn="l" rtl="0">
              <a:spcBef>
                <a:spcPts val="1200"/>
              </a:spcBef>
              <a:spcAft>
                <a:spcPts val="0"/>
              </a:spcAft>
              <a:buClr>
                <a:schemeClr val="dk1"/>
              </a:buClr>
              <a:buSzPct val="61111"/>
              <a:buFont typeface="Arial"/>
              <a:buNone/>
            </a:pPr>
            <a:r>
              <a:rPr lang="en">
                <a:solidFill>
                  <a:schemeClr val="dk1"/>
                </a:solidFill>
              </a:rPr>
              <a:t>Loose coupling makes the services and users to be less dependent on each other. In this way, the client applications remain uninterrupted even if the service functionality changes at any stage.</a:t>
            </a:r>
            <a:endParaRPr>
              <a:solidFill>
                <a:schemeClr val="dk1"/>
              </a:solidFill>
            </a:endParaRPr>
          </a:p>
          <a:p>
            <a:pPr marL="0" lvl="0" indent="0" algn="l" rtl="0">
              <a:spcBef>
                <a:spcPts val="1200"/>
              </a:spcBef>
              <a:spcAft>
                <a:spcPts val="0"/>
              </a:spcAft>
              <a:buClr>
                <a:schemeClr val="dk1"/>
              </a:buClr>
              <a:buSzPct val="61111"/>
              <a:buFont typeface="Arial"/>
              <a:buNone/>
            </a:pPr>
            <a:r>
              <a:rPr lang="en">
                <a:solidFill>
                  <a:schemeClr val="dk1"/>
                </a:solidFill>
              </a:rPr>
              <a:t>An SOA is a set of multiple services. Applications can be formed by making use of those facilities available across different platforms regardless of the languages or vendors.</a:t>
            </a:r>
            <a:endParaRPr>
              <a:solidFill>
                <a:schemeClr val="dk1"/>
              </a:solidFill>
            </a:endParaRPr>
          </a:p>
          <a:p>
            <a:pPr marL="0" lvl="0" indent="0" algn="l" rtl="0">
              <a:spcBef>
                <a:spcPts val="1200"/>
              </a:spcBef>
              <a:spcAft>
                <a:spcPts val="0"/>
              </a:spcAft>
              <a:buClr>
                <a:schemeClr val="dk1"/>
              </a:buClr>
              <a:buSzPct val="61111"/>
              <a:buFont typeface="Arial"/>
              <a:buNone/>
            </a:pPr>
            <a:r>
              <a:rPr lang="en">
                <a:solidFill>
                  <a:schemeClr val="dk1"/>
                </a:solidFill>
              </a:rPr>
              <a:t>The main focus of SOA in the cloud is to align users’ business with information technology and other resources better. It improves business workflows while providing-</a:t>
            </a:r>
            <a:endParaRPr>
              <a:solidFill>
                <a:schemeClr val="dk1"/>
              </a:solidFill>
            </a:endParaRPr>
          </a:p>
          <a:p>
            <a:pPr marL="457200" lvl="0" indent="-277495" algn="l" rtl="0">
              <a:spcBef>
                <a:spcPts val="1200"/>
              </a:spcBef>
              <a:spcAft>
                <a:spcPts val="0"/>
              </a:spcAft>
              <a:buClr>
                <a:schemeClr val="dk1"/>
              </a:buClr>
              <a:buSzPct val="61111"/>
              <a:buAutoNum type="arabicPeriod"/>
            </a:pPr>
            <a:r>
              <a:rPr lang="en">
                <a:solidFill>
                  <a:schemeClr val="dk1"/>
                </a:solidFill>
              </a:rPr>
              <a:t>Access management services</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Ease of monitoring and management</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Easy data exchange</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Interoperability</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Platform-neutral approach</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Reliability</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Reusable codes and services</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Service change impact</a:t>
            </a:r>
            <a:endParaRPr>
              <a:solidFill>
                <a:schemeClr val="dk1"/>
              </a:solidFill>
            </a:endParaRPr>
          </a:p>
          <a:p>
            <a:pPr marL="457200" lvl="0" indent="-277495" algn="l" rtl="0">
              <a:spcBef>
                <a:spcPts val="0"/>
              </a:spcBef>
              <a:spcAft>
                <a:spcPts val="0"/>
              </a:spcAft>
              <a:buClr>
                <a:schemeClr val="dk1"/>
              </a:buClr>
              <a:buSzPct val="61111"/>
              <a:buAutoNum type="arabicPeriod"/>
            </a:pPr>
            <a:r>
              <a:rPr lang="en">
                <a:solidFill>
                  <a:schemeClr val="dk1"/>
                </a:solidFill>
              </a:rPr>
              <a:t>Straightforward system integrations</a:t>
            </a:r>
            <a:endParaRPr>
              <a:solidFill>
                <a:schemeClr val="dk1"/>
              </a:solidFill>
            </a:endParaRPr>
          </a:p>
        </p:txBody>
      </p:sp>
    </p:spTree>
    <p:extLst>
      <p:ext uri="{BB962C8B-B14F-4D97-AF65-F5344CB8AC3E}">
        <p14:creationId xmlns:p14="http://schemas.microsoft.com/office/powerpoint/2010/main" val="3545611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8"/>
          <p:cNvSpPr txBox="1">
            <a:spLocks noGrp="1"/>
          </p:cNvSpPr>
          <p:nvPr>
            <p:ph type="body" idx="1"/>
          </p:nvPr>
        </p:nvSpPr>
        <p:spPr>
          <a:xfrm>
            <a:off x="311700" y="794600"/>
            <a:ext cx="8520600" cy="3774300"/>
          </a:xfrm>
          <a:prstGeom prst="rect">
            <a:avLst/>
          </a:prstGeom>
        </p:spPr>
        <p:txBody>
          <a:bodyPr spcFirstLastPara="1" wrap="square" lIns="91425" tIns="91425" rIns="91425" bIns="91425" anchor="t" anchorCtr="0">
            <a:normAutofit lnSpcReduction="10000"/>
          </a:bodyPr>
          <a:lstStyle/>
          <a:p>
            <a:pPr marL="0" lvl="0" indent="0" algn="l" rtl="0">
              <a:spcBef>
                <a:spcPts val="1800"/>
              </a:spcBef>
              <a:spcAft>
                <a:spcPts val="0"/>
              </a:spcAft>
              <a:buClr>
                <a:schemeClr val="dk1"/>
              </a:buClr>
              <a:buSzPts val="1100"/>
              <a:buFont typeface="Arial"/>
              <a:buNone/>
            </a:pPr>
            <a:r>
              <a:rPr lang="en" sz="1700" b="1">
                <a:solidFill>
                  <a:schemeClr val="dk1"/>
                </a:solidFill>
              </a:rPr>
              <a:t>Importance of Service Oriented Architecture in Cloud Computing</a:t>
            </a:r>
            <a:endParaRPr sz="1700" b="1">
              <a:solidFill>
                <a:schemeClr val="dk1"/>
              </a:solidFill>
            </a:endParaRPr>
          </a:p>
          <a:p>
            <a:pPr marL="457200" lvl="0" indent="-330200" algn="l" rtl="0">
              <a:spcBef>
                <a:spcPts val="1200"/>
              </a:spcBef>
              <a:spcAft>
                <a:spcPts val="0"/>
              </a:spcAft>
              <a:buClr>
                <a:schemeClr val="dk1"/>
              </a:buClr>
              <a:buSzPts val="1600"/>
              <a:buChar char="●"/>
            </a:pPr>
            <a:r>
              <a:rPr lang="en" sz="1600">
                <a:solidFill>
                  <a:schemeClr val="dk1"/>
                </a:solidFill>
              </a:rPr>
              <a:t>Migrating to the cloud is a significant and practical step for any enterprise to do. With SOA integration in the cloud environment, businesses reap many benefits like enhanced performance, security, faster deployments, and better monitoring.</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With the SOA, the client does not need to be familiar with any of its underlying programming languages used by the service. Its characteristics are independent of products, technologies, or vendors.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While the SOA and cloud computing does exist separately and concurrently, the two technology complement each other well.</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For a seamless business transition, it’s beneficial to integrate SOA into your workloads first. This will eliminate any complexities of cloud computing integration into your business model.</a:t>
            </a:r>
            <a:endParaRPr sz="1600">
              <a:solidFill>
                <a:schemeClr val="dk1"/>
              </a:solidFill>
            </a:endParaRPr>
          </a:p>
        </p:txBody>
      </p:sp>
    </p:spTree>
    <p:extLst>
      <p:ext uri="{BB962C8B-B14F-4D97-AF65-F5344CB8AC3E}">
        <p14:creationId xmlns:p14="http://schemas.microsoft.com/office/powerpoint/2010/main" val="2508759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9"/>
          <p:cNvSpPr txBox="1">
            <a:spLocks noGrp="1"/>
          </p:cNvSpPr>
          <p:nvPr>
            <p:ph type="body" idx="1"/>
          </p:nvPr>
        </p:nvSpPr>
        <p:spPr>
          <a:xfrm>
            <a:off x="311700" y="1170450"/>
            <a:ext cx="8520600" cy="34791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 sz="1500">
                <a:solidFill>
                  <a:schemeClr val="dk1"/>
                </a:solidFill>
              </a:rPr>
              <a:t>Service-Oriented Architecture makes it easier to deploy SaaS (software-as-a-service) in a cloud platform, while the cloud supplies the processing power and other resources required for the process.</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SOA and cloud integration makes it easier for your organization to collaborate within, and with IT as well.</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Cloud technology lays out a strong foundation for SOA through its storage and other platform services.</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With SOA in their cloud computing, businesses can reuse the already designed services, making it cost beneficial and increased usability of software inventory.</a:t>
            </a:r>
            <a:endParaRPr sz="1500">
              <a:solidFill>
                <a:schemeClr val="dk1"/>
              </a:solidFill>
            </a:endParaRPr>
          </a:p>
          <a:p>
            <a:pPr marL="0" lvl="0" indent="0" algn="l" rtl="0">
              <a:spcBef>
                <a:spcPts val="1200"/>
              </a:spcBef>
              <a:spcAft>
                <a:spcPts val="1200"/>
              </a:spcAft>
              <a:buNone/>
            </a:pPr>
            <a:endParaRPr>
              <a:solidFill>
                <a:schemeClr val="dk1"/>
              </a:solidFill>
            </a:endParaRPr>
          </a:p>
        </p:txBody>
      </p:sp>
    </p:spTree>
    <p:extLst>
      <p:ext uri="{BB962C8B-B14F-4D97-AF65-F5344CB8AC3E}">
        <p14:creationId xmlns:p14="http://schemas.microsoft.com/office/powerpoint/2010/main" val="3235823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28564" algn="l" rtl="0">
              <a:spcBef>
                <a:spcPts val="1200"/>
              </a:spcBef>
              <a:spcAft>
                <a:spcPts val="0"/>
              </a:spcAft>
              <a:buClr>
                <a:schemeClr val="dk1"/>
              </a:buClr>
              <a:buSzPts val="1574"/>
              <a:buChar char="●"/>
            </a:pPr>
            <a:r>
              <a:rPr lang="en" sz="1574">
                <a:solidFill>
                  <a:schemeClr val="dk1"/>
                </a:solidFill>
              </a:rPr>
              <a:t>The reusability of existing services automatically skips the extensive and detailed testing process.</a:t>
            </a:r>
            <a:endParaRPr sz="1574">
              <a:solidFill>
                <a:schemeClr val="dk1"/>
              </a:solidFill>
            </a:endParaRPr>
          </a:p>
          <a:p>
            <a:pPr marL="457200" lvl="0" indent="-328564" algn="l" rtl="0">
              <a:spcBef>
                <a:spcPts val="0"/>
              </a:spcBef>
              <a:spcAft>
                <a:spcPts val="0"/>
              </a:spcAft>
              <a:buClr>
                <a:schemeClr val="dk1"/>
              </a:buClr>
              <a:buSzPts val="1574"/>
              <a:buChar char="●"/>
            </a:pPr>
            <a:r>
              <a:rPr lang="en" sz="1574">
                <a:solidFill>
                  <a:schemeClr val="dk1"/>
                </a:solidFill>
              </a:rPr>
              <a:t>Each element in SOA is a relatively autonomous unit. So, when you extend the cloud resources to it, SOA provides strong and direct interfaces and architectures for a robust cloud computing platform.</a:t>
            </a:r>
            <a:endParaRPr sz="1574">
              <a:solidFill>
                <a:schemeClr val="dk1"/>
              </a:solidFill>
            </a:endParaRPr>
          </a:p>
          <a:p>
            <a:pPr marL="457200" lvl="0" indent="-328564" algn="l" rtl="0">
              <a:spcBef>
                <a:spcPts val="0"/>
              </a:spcBef>
              <a:spcAft>
                <a:spcPts val="0"/>
              </a:spcAft>
              <a:buClr>
                <a:schemeClr val="dk1"/>
              </a:buClr>
              <a:buSzPts val="1574"/>
              <a:buChar char="●"/>
            </a:pPr>
            <a:r>
              <a:rPr lang="en" sz="1574">
                <a:solidFill>
                  <a:schemeClr val="dk1"/>
                </a:solidFill>
              </a:rPr>
              <a:t>Developers can find the required services to assemble any new application quickly. That gives the company the ability to respond to any business or technological shifts promptly.</a:t>
            </a:r>
            <a:endParaRPr sz="1574">
              <a:solidFill>
                <a:schemeClr val="dk1"/>
              </a:solidFill>
            </a:endParaRPr>
          </a:p>
          <a:p>
            <a:pPr marL="457200" lvl="0" indent="-328564" algn="l" rtl="0">
              <a:spcBef>
                <a:spcPts val="0"/>
              </a:spcBef>
              <a:spcAft>
                <a:spcPts val="0"/>
              </a:spcAft>
              <a:buClr>
                <a:schemeClr val="dk1"/>
              </a:buClr>
              <a:buSzPts val="1574"/>
              <a:buChar char="●"/>
            </a:pPr>
            <a:r>
              <a:rPr lang="en" sz="1574">
                <a:solidFill>
                  <a:schemeClr val="dk1"/>
                </a:solidFill>
              </a:rPr>
              <a:t>The SOA interface successfully processes the transmission of data and information while coordinating perfectly between various applications and service activities. Enterprises gain agility in run-time response to any changes, with lesser complexity and disbursement.</a:t>
            </a:r>
            <a:endParaRPr sz="1574">
              <a:solidFill>
                <a:schemeClr val="dk1"/>
              </a:solidFill>
            </a:endParaRPr>
          </a:p>
          <a:p>
            <a:pPr marL="0" lvl="0" indent="0" algn="l" rtl="0">
              <a:spcBef>
                <a:spcPts val="1200"/>
              </a:spcBef>
              <a:spcAft>
                <a:spcPts val="1200"/>
              </a:spcAft>
              <a:buNone/>
            </a:pPr>
            <a:endParaRPr sz="2000"/>
          </a:p>
        </p:txBody>
      </p:sp>
    </p:spTree>
    <p:extLst>
      <p:ext uri="{BB962C8B-B14F-4D97-AF65-F5344CB8AC3E}">
        <p14:creationId xmlns:p14="http://schemas.microsoft.com/office/powerpoint/2010/main" val="3226250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a:spLocks noGrp="1"/>
          </p:cNvSpPr>
          <p:nvPr>
            <p:ph type="body" idx="1"/>
          </p:nvPr>
        </p:nvSpPr>
        <p:spPr>
          <a:xfrm>
            <a:off x="726142" y="944421"/>
            <a:ext cx="7846358" cy="2733075"/>
          </a:xfrm>
          <a:prstGeom prst="rect">
            <a:avLst/>
          </a:prstGeom>
        </p:spPr>
        <p:txBody>
          <a:bodyPr spcFirstLastPara="1" vert="horz" wrap="square" lIns="68569" tIns="68569" rIns="68569" bIns="68569" rtlCol="0" anchor="t" anchorCtr="0">
            <a:noAutofit/>
          </a:bodyPr>
          <a:lstStyle/>
          <a:p>
            <a:pPr marL="0" indent="0" algn="just">
              <a:buNone/>
            </a:pPr>
            <a:r>
              <a:rPr lang="en-GB" sz="1400" b="1" dirty="0">
                <a:solidFill>
                  <a:schemeClr val="dk1"/>
                </a:solidFill>
              </a:rPr>
              <a:t>Parallelization is the process of dividing a large computational task into multiple smaller tasks that can be executed simultaneously on multiple processors, virtual machines, containers, or cloud resources. Cloud computing provides virtually unlimited resources, making parallel execution efficient and scalable.</a:t>
            </a:r>
          </a:p>
          <a:p>
            <a:pPr marL="0" indent="0" algn="just">
              <a:buNone/>
            </a:pPr>
            <a:endParaRPr lang="en-GB" sz="1400" b="1" dirty="0">
              <a:solidFill>
                <a:schemeClr val="dk1"/>
              </a:solidFill>
            </a:endParaRPr>
          </a:p>
          <a:p>
            <a:pPr marL="0" indent="0" algn="just">
              <a:buNone/>
            </a:pPr>
            <a:r>
              <a:rPr lang="en-GB" sz="1400" b="1" dirty="0">
                <a:solidFill>
                  <a:schemeClr val="dk1"/>
                </a:solidFill>
              </a:rPr>
              <a:t>Need for Parallelization in Cloud Applications</a:t>
            </a:r>
          </a:p>
          <a:p>
            <a:pPr marL="285750" indent="-285750" algn="just"/>
            <a:r>
              <a:rPr lang="en-GB" sz="1400" dirty="0">
                <a:solidFill>
                  <a:schemeClr val="dk1"/>
                </a:solidFill>
              </a:rPr>
              <a:t>Reduce execution time</a:t>
            </a:r>
          </a:p>
          <a:p>
            <a:pPr marL="285750" indent="-285750" algn="just"/>
            <a:r>
              <a:rPr lang="en-GB" sz="1400" dirty="0">
                <a:solidFill>
                  <a:schemeClr val="dk1"/>
                </a:solidFill>
              </a:rPr>
              <a:t>Improve application performance</a:t>
            </a:r>
          </a:p>
          <a:p>
            <a:pPr marL="285750" indent="-285750" algn="just"/>
            <a:r>
              <a:rPr lang="en-GB" sz="1400" dirty="0">
                <a:solidFill>
                  <a:schemeClr val="dk1"/>
                </a:solidFill>
              </a:rPr>
              <a:t>Handle large-scale data processing</a:t>
            </a:r>
          </a:p>
          <a:p>
            <a:pPr marL="285750" indent="-285750" algn="just"/>
            <a:r>
              <a:rPr lang="en-GB" sz="1400" dirty="0">
                <a:solidFill>
                  <a:schemeClr val="dk1"/>
                </a:solidFill>
              </a:rPr>
              <a:t>Support real-time analytics</a:t>
            </a:r>
          </a:p>
          <a:p>
            <a:pPr marL="285750" indent="-285750" algn="just"/>
            <a:r>
              <a:rPr lang="en-GB" sz="1400" dirty="0">
                <a:solidFill>
                  <a:schemeClr val="dk1"/>
                </a:solidFill>
              </a:rPr>
              <a:t>Utilize distributed cloud resources effectively</a:t>
            </a:r>
          </a:p>
          <a:p>
            <a:pPr marL="285750" indent="-285750" algn="just"/>
            <a:r>
              <a:rPr lang="en-GB" sz="1400" dirty="0">
                <a:solidFill>
                  <a:schemeClr val="dk1"/>
                </a:solidFill>
              </a:rPr>
              <a:t>Example: Processing millions of customer transactions on an e-commerce platform.</a:t>
            </a:r>
            <a:endParaRPr sz="1400" dirty="0">
              <a:solidFill>
                <a:schemeClr val="dk1"/>
              </a:solidFill>
            </a:endParaRPr>
          </a:p>
        </p:txBody>
      </p:sp>
      <p:sp>
        <p:nvSpPr>
          <p:cNvPr id="3" name="Google Shape;110;p23">
            <a:extLst>
              <a:ext uri="{FF2B5EF4-FFF2-40B4-BE49-F238E27FC236}">
                <a16:creationId xmlns:a16="http://schemas.microsoft.com/office/drawing/2014/main" id="{AE6E6313-C0C2-4EAB-BEFC-0F320535524E}"/>
              </a:ext>
            </a:extLst>
          </p:cNvPr>
          <p:cNvSpPr txBox="1">
            <a:spLocks noGrp="1"/>
          </p:cNvSpPr>
          <p:nvPr>
            <p:ph type="title"/>
          </p:nvPr>
        </p:nvSpPr>
        <p:spPr>
          <a:xfrm>
            <a:off x="1560022" y="284611"/>
            <a:ext cx="6390450" cy="429525"/>
          </a:xfrm>
          <a:prstGeom prst="rect">
            <a:avLst/>
          </a:prstGeom>
        </p:spPr>
        <p:txBody>
          <a:bodyPr spcFirstLastPara="1" vert="horz" wrap="square" lIns="68569" tIns="68569" rIns="68569" bIns="68569" rtlCol="0" anchor="t" anchorCtr="0">
            <a:normAutofit fontScale="90000"/>
          </a:bodyPr>
          <a:lstStyle/>
          <a:p>
            <a:r>
              <a:rPr lang="en-IN" dirty="0"/>
              <a:t>Parallelization within </a:t>
            </a:r>
            <a:r>
              <a:rPr lang="en" dirty="0"/>
              <a:t>Cloud </a:t>
            </a:r>
            <a:r>
              <a:rPr lang="en-IN" dirty="0"/>
              <a:t>Application</a:t>
            </a:r>
            <a:endParaRPr dirty="0"/>
          </a:p>
        </p:txBody>
      </p:sp>
    </p:spTree>
    <p:extLst>
      <p:ext uri="{BB962C8B-B14F-4D97-AF65-F5344CB8AC3E}">
        <p14:creationId xmlns:p14="http://schemas.microsoft.com/office/powerpoint/2010/main" val="1752397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8" name="Picture 7">
            <a:extLst>
              <a:ext uri="{FF2B5EF4-FFF2-40B4-BE49-F238E27FC236}">
                <a16:creationId xmlns:a16="http://schemas.microsoft.com/office/drawing/2014/main" id="{308A4140-406D-4BEA-B564-D0B8EA5C6E28}"/>
              </a:ext>
            </a:extLst>
          </p:cNvPr>
          <p:cNvPicPr>
            <a:picLocks noChangeAspect="1"/>
          </p:cNvPicPr>
          <p:nvPr/>
        </p:nvPicPr>
        <p:blipFill>
          <a:blip r:embed="rId3"/>
          <a:stretch>
            <a:fillRect/>
          </a:stretch>
        </p:blipFill>
        <p:spPr>
          <a:xfrm>
            <a:off x="714375" y="0"/>
            <a:ext cx="7715250" cy="5143500"/>
          </a:xfrm>
          <a:prstGeom prst="rect">
            <a:avLst/>
          </a:prstGeom>
        </p:spPr>
      </p:pic>
    </p:spTree>
    <p:extLst>
      <p:ext uri="{BB962C8B-B14F-4D97-AF65-F5344CB8AC3E}">
        <p14:creationId xmlns:p14="http://schemas.microsoft.com/office/powerpoint/2010/main" val="643071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ACD32B-CDC8-4D3E-BEDF-5D80ED9E03FA}"/>
              </a:ext>
            </a:extLst>
          </p:cNvPr>
          <p:cNvPicPr>
            <a:picLocks noChangeAspect="1"/>
          </p:cNvPicPr>
          <p:nvPr/>
        </p:nvPicPr>
        <p:blipFill>
          <a:blip r:embed="rId2"/>
          <a:stretch>
            <a:fillRect/>
          </a:stretch>
        </p:blipFill>
        <p:spPr>
          <a:xfrm>
            <a:off x="1760397" y="0"/>
            <a:ext cx="5623205" cy="5143500"/>
          </a:xfrm>
          <a:prstGeom prst="rect">
            <a:avLst/>
          </a:prstGeom>
        </p:spPr>
      </p:pic>
    </p:spTree>
    <p:extLst>
      <p:ext uri="{BB962C8B-B14F-4D97-AF65-F5344CB8AC3E}">
        <p14:creationId xmlns:p14="http://schemas.microsoft.com/office/powerpoint/2010/main" val="3023452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787084-D36F-461B-930F-F40693DE2D59}"/>
              </a:ext>
            </a:extLst>
          </p:cNvPr>
          <p:cNvPicPr>
            <a:picLocks noChangeAspect="1"/>
          </p:cNvPicPr>
          <p:nvPr/>
        </p:nvPicPr>
        <p:blipFill>
          <a:blip r:embed="rId2"/>
          <a:stretch>
            <a:fillRect/>
          </a:stretch>
        </p:blipFill>
        <p:spPr>
          <a:xfrm>
            <a:off x="1913701" y="0"/>
            <a:ext cx="5316598" cy="5143500"/>
          </a:xfrm>
          <a:prstGeom prst="rect">
            <a:avLst/>
          </a:prstGeom>
        </p:spPr>
      </p:pic>
    </p:spTree>
    <p:extLst>
      <p:ext uri="{BB962C8B-B14F-4D97-AF65-F5344CB8AC3E}">
        <p14:creationId xmlns:p14="http://schemas.microsoft.com/office/powerpoint/2010/main" val="1488841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286669-EC94-4007-A509-3B8E56C63B7B}"/>
              </a:ext>
            </a:extLst>
          </p:cNvPr>
          <p:cNvPicPr>
            <a:picLocks noChangeAspect="1"/>
          </p:cNvPicPr>
          <p:nvPr/>
        </p:nvPicPr>
        <p:blipFill>
          <a:blip r:embed="rId2"/>
          <a:stretch>
            <a:fillRect/>
          </a:stretch>
        </p:blipFill>
        <p:spPr>
          <a:xfrm>
            <a:off x="1958228" y="0"/>
            <a:ext cx="5227544" cy="5143500"/>
          </a:xfrm>
          <a:prstGeom prst="rect">
            <a:avLst/>
          </a:prstGeom>
        </p:spPr>
      </p:pic>
    </p:spTree>
    <p:extLst>
      <p:ext uri="{BB962C8B-B14F-4D97-AF65-F5344CB8AC3E}">
        <p14:creationId xmlns:p14="http://schemas.microsoft.com/office/powerpoint/2010/main" val="4054978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35161B-CEF3-447A-8E0F-E5AA794C755C}"/>
              </a:ext>
            </a:extLst>
          </p:cNvPr>
          <p:cNvPicPr>
            <a:picLocks noChangeAspect="1"/>
          </p:cNvPicPr>
          <p:nvPr/>
        </p:nvPicPr>
        <p:blipFill>
          <a:blip r:embed="rId2"/>
          <a:stretch>
            <a:fillRect/>
          </a:stretch>
        </p:blipFill>
        <p:spPr>
          <a:xfrm>
            <a:off x="1415370" y="0"/>
            <a:ext cx="6313259" cy="5143500"/>
          </a:xfrm>
          <a:prstGeom prst="rect">
            <a:avLst/>
          </a:prstGeom>
        </p:spPr>
      </p:pic>
    </p:spTree>
    <p:extLst>
      <p:ext uri="{BB962C8B-B14F-4D97-AF65-F5344CB8AC3E}">
        <p14:creationId xmlns:p14="http://schemas.microsoft.com/office/powerpoint/2010/main" val="4292385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99734F-F2FC-4E73-9C91-3AE06E23046B}"/>
              </a:ext>
            </a:extLst>
          </p:cNvPr>
          <p:cNvPicPr>
            <a:picLocks noChangeAspect="1"/>
          </p:cNvPicPr>
          <p:nvPr/>
        </p:nvPicPr>
        <p:blipFill>
          <a:blip r:embed="rId2"/>
          <a:stretch>
            <a:fillRect/>
          </a:stretch>
        </p:blipFill>
        <p:spPr>
          <a:xfrm>
            <a:off x="2318754" y="0"/>
            <a:ext cx="4506492" cy="5143500"/>
          </a:xfrm>
          <a:prstGeom prst="rect">
            <a:avLst/>
          </a:prstGeom>
        </p:spPr>
      </p:pic>
    </p:spTree>
    <p:extLst>
      <p:ext uri="{BB962C8B-B14F-4D97-AF65-F5344CB8AC3E}">
        <p14:creationId xmlns:p14="http://schemas.microsoft.com/office/powerpoint/2010/main" val="1644176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N" b="1" dirty="0"/>
              <a:t>Advantages of Parallelization</a:t>
            </a:r>
            <a:br>
              <a:rPr lang="en-IN" dirty="0"/>
            </a:br>
            <a:endParaRPr dirty="0"/>
          </a:p>
        </p:txBody>
      </p:sp>
      <p:sp>
        <p:nvSpPr>
          <p:cNvPr id="3" name="Google Shape;191;p36">
            <a:extLst>
              <a:ext uri="{FF2B5EF4-FFF2-40B4-BE49-F238E27FC236}">
                <a16:creationId xmlns:a16="http://schemas.microsoft.com/office/drawing/2014/main" id="{24151758-5F71-409A-80D2-C22A63A26517}"/>
              </a:ext>
            </a:extLst>
          </p:cNvPr>
          <p:cNvSpPr txBox="1">
            <a:spLocks/>
          </p:cNvSpPr>
          <p:nvPr/>
        </p:nvSpPr>
        <p:spPr>
          <a:xfrm>
            <a:off x="222052" y="2571750"/>
            <a:ext cx="8520600" cy="572700"/>
          </a:xfrm>
          <a:prstGeom prst="rect">
            <a:avLst/>
          </a:prstGeom>
        </p:spPr>
        <p:txBody>
          <a:bodyPr spcFirstLastPara="1" vert="horz" wrap="square" lIns="91425" tIns="91425" rIns="91425" bIns="91425" rtlCol="0" anchor="t" anchorCtr="0">
            <a:normAutofit/>
          </a:bodyPr>
          <a:lstStyle>
            <a:lvl1pPr lvl="0" algn="l" defTabSz="685800" rtl="0" eaLnBrk="1" latinLnBrk="0" hangingPunct="1">
              <a:lnSpc>
                <a:spcPct val="90000"/>
              </a:lnSpc>
              <a:spcBef>
                <a:spcPts val="0"/>
              </a:spcBef>
              <a:spcAft>
                <a:spcPts val="0"/>
              </a:spcAft>
              <a:buSzPts val="2800"/>
              <a:buNone/>
              <a:defRPr sz="2400" b="0" i="0" kern="1200" cap="none">
                <a:solidFill>
                  <a:schemeClr val="tx1"/>
                </a:solidFill>
                <a:effectLst/>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IN" b="1" dirty="0"/>
              <a:t>Disadvantages of Parallelization</a:t>
            </a:r>
          </a:p>
        </p:txBody>
      </p:sp>
      <p:sp>
        <p:nvSpPr>
          <p:cNvPr id="6" name="Rectangle 5">
            <a:extLst>
              <a:ext uri="{FF2B5EF4-FFF2-40B4-BE49-F238E27FC236}">
                <a16:creationId xmlns:a16="http://schemas.microsoft.com/office/drawing/2014/main" id="{82A5F6BD-EF2E-4880-B17A-9A8E2F6A8D43}"/>
              </a:ext>
            </a:extLst>
          </p:cNvPr>
          <p:cNvSpPr/>
          <p:nvPr/>
        </p:nvSpPr>
        <p:spPr>
          <a:xfrm>
            <a:off x="311700" y="1017725"/>
            <a:ext cx="4572000" cy="1477328"/>
          </a:xfrm>
          <a:prstGeom prst="rect">
            <a:avLst/>
          </a:prstGeom>
        </p:spPr>
        <p:txBody>
          <a:bodyPr>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Faster execution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Improved scalability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Better resource utilization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Reduced response time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Supports big data processing </a:t>
            </a:r>
          </a:p>
        </p:txBody>
      </p:sp>
      <p:sp>
        <p:nvSpPr>
          <p:cNvPr id="8" name="Rectangle 7">
            <a:extLst>
              <a:ext uri="{FF2B5EF4-FFF2-40B4-BE49-F238E27FC236}">
                <a16:creationId xmlns:a16="http://schemas.microsoft.com/office/drawing/2014/main" id="{4EBFD768-4C23-4073-8EB8-EB4C25FF75DD}"/>
              </a:ext>
            </a:extLst>
          </p:cNvPr>
          <p:cNvSpPr/>
          <p:nvPr/>
        </p:nvSpPr>
        <p:spPr>
          <a:xfrm>
            <a:off x="311700" y="3026967"/>
            <a:ext cx="4572000" cy="1477328"/>
          </a:xfrm>
          <a:prstGeom prst="rect">
            <a:avLst/>
          </a:prstGeom>
        </p:spPr>
        <p:txBody>
          <a:bodyPr>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Synchronization overhead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Communication delay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Load balancing issues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Fault tolerance management </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Data consistency </a:t>
            </a:r>
          </a:p>
        </p:txBody>
      </p:sp>
    </p:spTree>
    <p:extLst>
      <p:ext uri="{BB962C8B-B14F-4D97-AF65-F5344CB8AC3E}">
        <p14:creationId xmlns:p14="http://schemas.microsoft.com/office/powerpoint/2010/main" val="3780127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89A0-B5F5-4225-9F75-313B508B9E76}"/>
              </a:ext>
            </a:extLst>
          </p:cNvPr>
          <p:cNvSpPr>
            <a:spLocks noGrp="1"/>
          </p:cNvSpPr>
          <p:nvPr>
            <p:ph type="title"/>
          </p:nvPr>
        </p:nvSpPr>
        <p:spPr>
          <a:xfrm>
            <a:off x="311150" y="0"/>
            <a:ext cx="8520600" cy="572700"/>
          </a:xfrm>
        </p:spPr>
        <p:txBody>
          <a:bodyPr>
            <a:normAutofit fontScale="90000"/>
          </a:bodyPr>
          <a:lstStyle/>
          <a:p>
            <a:r>
              <a:rPr lang="en-IN" b="1" dirty="0"/>
              <a:t>Parallelization within Cloud Applications</a:t>
            </a:r>
            <a:br>
              <a:rPr lang="en-IN" b="1" dirty="0"/>
            </a:br>
            <a:endParaRPr lang="en-IN" dirty="0"/>
          </a:p>
        </p:txBody>
      </p:sp>
      <p:sp>
        <p:nvSpPr>
          <p:cNvPr id="4" name="Text Placeholder 3">
            <a:extLst>
              <a:ext uri="{FF2B5EF4-FFF2-40B4-BE49-F238E27FC236}">
                <a16:creationId xmlns:a16="http://schemas.microsoft.com/office/drawing/2014/main" id="{795FBC0F-5A02-47D1-B912-88982F3ADEA2}"/>
              </a:ext>
            </a:extLst>
          </p:cNvPr>
          <p:cNvSpPr>
            <a:spLocks noGrp="1"/>
          </p:cNvSpPr>
          <p:nvPr>
            <p:ph type="body" idx="1"/>
          </p:nvPr>
        </p:nvSpPr>
        <p:spPr>
          <a:xfrm>
            <a:off x="310050" y="683038"/>
            <a:ext cx="8521700" cy="3971826"/>
          </a:xfrm>
          <a:prstGeom prst="rect">
            <a:avLst/>
          </a:prstGeom>
        </p:spPr>
        <p:txBody>
          <a:bodyPr wrap="square">
            <a:spAutoFit/>
          </a:bodyPr>
          <a:lstStyle/>
          <a:p>
            <a:pPr algn="just"/>
            <a:r>
              <a:rPr lang="en-US" sz="1400" b="1" dirty="0">
                <a:solidFill>
                  <a:srgbClr val="242424"/>
                </a:solidFill>
                <a:latin typeface="source-serif-pro"/>
              </a:rPr>
              <a:t>Cloud Computing</a:t>
            </a:r>
            <a:r>
              <a:rPr lang="en-US" sz="1400" dirty="0">
                <a:solidFill>
                  <a:srgbClr val="242424"/>
                </a:solidFill>
                <a:latin typeface="source-serif-pro"/>
              </a:rPr>
              <a:t>: The system components are located at multiple locations, uses multiple computers, has only distributed memory, communicates through memory parsing.</a:t>
            </a:r>
          </a:p>
          <a:p>
            <a:pPr algn="just"/>
            <a:r>
              <a:rPr lang="en-US" sz="1400" b="1" dirty="0">
                <a:solidFill>
                  <a:srgbClr val="242424"/>
                </a:solidFill>
                <a:latin typeface="source-serif-pro"/>
              </a:rPr>
              <a:t>Parallel Computing:</a:t>
            </a:r>
            <a:r>
              <a:rPr lang="en-US" sz="1400" dirty="0">
                <a:solidFill>
                  <a:srgbClr val="242424"/>
                </a:solidFill>
                <a:latin typeface="source-serif-pro"/>
              </a:rPr>
              <a:t> Many operations are performed simultaneously, requires a single computer, can be both distributed or shared memory, processors communicate through a bus</a:t>
            </a:r>
          </a:p>
          <a:p>
            <a:pPr algn="just" fontAlgn="base"/>
            <a:r>
              <a:rPr lang="en-US" sz="1400" dirty="0">
                <a:solidFill>
                  <a:srgbClr val="242424"/>
                </a:solidFill>
                <a:latin typeface="source-serif-pro"/>
              </a:rPr>
              <a:t>The delivery of scalable services, such as databases, data storage, networking, servers, and software, over the Internet on an as-needed, pay-as-you-go basis is referred to as “cloud computing” in general.</a:t>
            </a:r>
          </a:p>
          <a:p>
            <a:pPr algn="just" fontAlgn="base"/>
            <a:r>
              <a:rPr lang="en-US" sz="1400" dirty="0">
                <a:solidFill>
                  <a:srgbClr val="242424"/>
                </a:solidFill>
                <a:latin typeface="source-serif-pro"/>
              </a:rPr>
              <a:t>Cloud computing services are fully managed by the provider, allow for remote access to data, work, and applications from any device in any location with an Internet connection, and can be either public or private. Platform as a Service (PaaS), Infrastructure as a Service (IaaS), and Software as a Service are the three most popular service categories (SaaS).</a:t>
            </a:r>
          </a:p>
          <a:p>
            <a:pPr algn="just" fontAlgn="base"/>
            <a:r>
              <a:rPr lang="en-US" sz="1400" dirty="0">
                <a:solidFill>
                  <a:srgbClr val="242424"/>
                </a:solidFill>
                <a:latin typeface="source-serif-pro"/>
              </a:rPr>
              <a:t>Cloud computing services are fully managed by the provider, allow for remote access to data, work, and applications from any device in any location with an Internet connection, and can be either public or private. Platform as a Service (PaaS), Infrastructure as a Service (IaaS), and Software as a Service are the three most popular service categories (SaaS).</a:t>
            </a:r>
          </a:p>
          <a:p>
            <a:endParaRPr lang="en-US" dirty="0">
              <a:solidFill>
                <a:srgbClr val="242424"/>
              </a:solidFill>
              <a:latin typeface="source-serif-pro"/>
            </a:endParaRPr>
          </a:p>
        </p:txBody>
      </p:sp>
    </p:spTree>
    <p:extLst>
      <p:ext uri="{BB962C8B-B14F-4D97-AF65-F5344CB8AC3E}">
        <p14:creationId xmlns:p14="http://schemas.microsoft.com/office/powerpoint/2010/main" val="3496449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0E484-5B04-4E24-AB94-3BC04FD554A4}"/>
              </a:ext>
            </a:extLst>
          </p:cNvPr>
          <p:cNvSpPr>
            <a:spLocks noGrp="1"/>
          </p:cNvSpPr>
          <p:nvPr>
            <p:ph type="title"/>
          </p:nvPr>
        </p:nvSpPr>
        <p:spPr>
          <a:xfrm>
            <a:off x="49482" y="19217"/>
            <a:ext cx="8520600" cy="572700"/>
          </a:xfrm>
        </p:spPr>
        <p:txBody>
          <a:bodyPr>
            <a:normAutofit fontScale="90000"/>
          </a:bodyPr>
          <a:lstStyle/>
          <a:p>
            <a:r>
              <a:rPr lang="en-IN" b="1" dirty="0"/>
              <a:t>Parallel Computing</a:t>
            </a:r>
            <a:endParaRPr lang="en-IN" dirty="0"/>
          </a:p>
        </p:txBody>
      </p:sp>
      <p:pic>
        <p:nvPicPr>
          <p:cNvPr id="1026" name="Picture 2" descr="https://miro.medium.com/v2/resize:fit:693/0*fYJKcsf-BCRY6XBx.png">
            <a:extLst>
              <a:ext uri="{FF2B5EF4-FFF2-40B4-BE49-F238E27FC236}">
                <a16:creationId xmlns:a16="http://schemas.microsoft.com/office/drawing/2014/main" id="{553C7183-8052-482E-AFD7-0A70ABED6E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6121" y="82924"/>
            <a:ext cx="4949597" cy="27140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393C734-665A-4678-8CCC-23D4CAA2C044}"/>
              </a:ext>
            </a:extLst>
          </p:cNvPr>
          <p:cNvSpPr/>
          <p:nvPr/>
        </p:nvSpPr>
        <p:spPr>
          <a:xfrm>
            <a:off x="0" y="581875"/>
            <a:ext cx="3917839" cy="246221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sym typeface="Arial"/>
              </a:rPr>
              <a:t>Parallel Computing basically breaks down a large problem into several small problems depending on the type of parallelism and processes them separately and glues them back together.</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sym typeface="Arial"/>
              </a:rPr>
              <a:t>The figure shown above basically sums up the theory behind parallel computing. The primary goal for parallel computing is to increase the available computational power for faster application processing and problem-solving.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 name="Rectangle 4">
            <a:extLst>
              <a:ext uri="{FF2B5EF4-FFF2-40B4-BE49-F238E27FC236}">
                <a16:creationId xmlns:a16="http://schemas.microsoft.com/office/drawing/2014/main" id="{8AF67BB4-43DB-474A-B455-EB326E1927EF}"/>
              </a:ext>
            </a:extLst>
          </p:cNvPr>
          <p:cNvSpPr/>
          <p:nvPr/>
        </p:nvSpPr>
        <p:spPr>
          <a:xfrm>
            <a:off x="0" y="2974026"/>
            <a:ext cx="9005718" cy="1815882"/>
          </a:xfrm>
          <a:prstGeom prst="rect">
            <a:avLst/>
          </a:prstGeom>
        </p:spPr>
        <p:txBody>
          <a:bodyPr wrap="square">
            <a:sp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sym typeface="Arial"/>
              </a:rPr>
              <a:t>When a larger problem is divided into smaller, independent, frequently similar components that can be worked on concurrently by several processors connected by shared memory, the process is known as parallel computing. The completed results are combined as a component of a larger algorithm. Increasing the amount of computation power available for quicker application processing and problem-solving is the main objective of parallel computing.</a:t>
            </a:r>
          </a:p>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sym typeface="Arial"/>
              </a:rPr>
              <a:t>The majority of parallel computing infrastructure is kept in a single data center, where several processors are installed in a server rack. The application server distributes computation requests in small chunks, which are then executed concurrently on each server.</a:t>
            </a:r>
          </a:p>
        </p:txBody>
      </p:sp>
    </p:spTree>
    <p:extLst>
      <p:ext uri="{BB962C8B-B14F-4D97-AF65-F5344CB8AC3E}">
        <p14:creationId xmlns:p14="http://schemas.microsoft.com/office/powerpoint/2010/main" val="3818703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AC014-CD6D-4855-8CA3-6FE3625CCE15}"/>
              </a:ext>
            </a:extLst>
          </p:cNvPr>
          <p:cNvSpPr>
            <a:spLocks noGrp="1"/>
          </p:cNvSpPr>
          <p:nvPr>
            <p:ph type="title"/>
          </p:nvPr>
        </p:nvSpPr>
        <p:spPr/>
        <p:txBody>
          <a:bodyPr>
            <a:normAutofit fontScale="90000"/>
          </a:bodyPr>
          <a:lstStyle/>
          <a:p>
            <a:r>
              <a:rPr lang="en-IN" b="1" dirty="0"/>
              <a:t>Parallel Computing Architecture</a:t>
            </a:r>
            <a:endParaRPr lang="en-IN" dirty="0"/>
          </a:p>
        </p:txBody>
      </p:sp>
      <p:pic>
        <p:nvPicPr>
          <p:cNvPr id="2050" name="Picture 2" descr="https://miro.medium.com/v2/resize:fit:600/0*pcZKHav2r8G6cKvZ.png">
            <a:extLst>
              <a:ext uri="{FF2B5EF4-FFF2-40B4-BE49-F238E27FC236}">
                <a16:creationId xmlns:a16="http://schemas.microsoft.com/office/drawing/2014/main" id="{2158289C-02D7-44A0-BBB3-07415BB87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7315" y="880782"/>
            <a:ext cx="5034985" cy="36084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748D2E1-1534-444D-A5F3-C634FE728C96}"/>
              </a:ext>
            </a:extLst>
          </p:cNvPr>
          <p:cNvSpPr/>
          <p:nvPr/>
        </p:nvSpPr>
        <p:spPr>
          <a:xfrm>
            <a:off x="201706" y="1017725"/>
            <a:ext cx="3671047" cy="224676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rPr>
              <a:t>Parallel computing has two different types of architecture:</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ea typeface="+mn-ea"/>
                <a:cs typeface="Arial"/>
                <a:sym typeface="Arial"/>
              </a:rPr>
              <a:t>Multi-core computing:</a:t>
            </a:r>
            <a:r>
              <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rPr>
              <a:t> is a computer processor integrated circuit with two or more separate processing cores. Each execute program instructions in parallel. A multi-core processor has one shared memory and uses a message bus to communicate.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n-US" sz="1400" b="0" i="0" u="none" strike="noStrike" kern="0" cap="none" spc="0" normalizeH="0" baseline="0" noProof="0" dirty="0">
                <a:ln>
                  <a:noFill/>
                </a:ln>
                <a:solidFill>
                  <a:srgbClr val="000000"/>
                </a:solidFill>
                <a:effectLst/>
                <a:uLnTx/>
                <a:uFillTx/>
                <a:latin typeface="Arial"/>
                <a:ea typeface="+mn-ea"/>
                <a:cs typeface="Arial"/>
                <a:sym typeface="Arial"/>
              </a:rPr>
            </a:br>
            <a:endParaRPr kumimoji="0" lang="en-IN" sz="1400" b="0" i="0" u="none" strike="noStrike" kern="0" cap="none" spc="0" normalizeH="0" baseline="0" noProof="0" dirty="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286075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miro.medium.com/v2/resize:fit:683/0*OA-tGH654p-Ky3hD.png">
            <a:extLst>
              <a:ext uri="{FF2B5EF4-FFF2-40B4-BE49-F238E27FC236}">
                <a16:creationId xmlns:a16="http://schemas.microsoft.com/office/drawing/2014/main" id="{8CC2FD5A-8353-4486-9A36-581F07263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1459" y="1098737"/>
            <a:ext cx="3810841" cy="26000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5439A45-3CE5-4A46-BCAB-63B23FF2268F}"/>
              </a:ext>
            </a:extLst>
          </p:cNvPr>
          <p:cNvSpPr/>
          <p:nvPr/>
        </p:nvSpPr>
        <p:spPr>
          <a:xfrm>
            <a:off x="311700" y="776885"/>
            <a:ext cx="4572000" cy="954107"/>
          </a:xfrm>
          <a:prstGeom prst="rect">
            <a:avLst/>
          </a:prstGeom>
        </p:spPr>
        <p:txBody>
          <a:bodyPr>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ea typeface="+mn-ea"/>
                <a:cs typeface="Arial"/>
                <a:sym typeface="Arial"/>
              </a:rPr>
              <a:t>Symmetric Processing:</a:t>
            </a:r>
            <a:r>
              <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rPr>
              <a:t> a multiprocessor computer hardware and software architecture that has one OS that treats all processors equally, and is connected to a single, shared memory.</a:t>
            </a:r>
            <a:endParaRPr kumimoji="0" lang="en-IN" sz="14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 name="Rectangle 4">
            <a:extLst>
              <a:ext uri="{FF2B5EF4-FFF2-40B4-BE49-F238E27FC236}">
                <a16:creationId xmlns:a16="http://schemas.microsoft.com/office/drawing/2014/main" id="{D7084D3B-E7EB-4EAF-B89E-A6E834969CD1}"/>
              </a:ext>
            </a:extLst>
          </p:cNvPr>
          <p:cNvSpPr/>
          <p:nvPr/>
        </p:nvSpPr>
        <p:spPr>
          <a:xfrm>
            <a:off x="311700" y="1904402"/>
            <a:ext cx="4572000" cy="2462213"/>
          </a:xfrm>
          <a:prstGeom prst="rect">
            <a:avLst/>
          </a:prstGeom>
        </p:spPr>
        <p:txBody>
          <a:bodyPr>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ea typeface="+mn-ea"/>
                <a:cs typeface="Arial"/>
                <a:sym typeface="Arial"/>
              </a:rPr>
              <a:t>Technique and Solutions in Parallel Computing</a:t>
            </a:r>
            <a:endPar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ea typeface="+mn-ea"/>
                <a:cs typeface="Arial"/>
                <a:sym typeface="Arial"/>
              </a:rPr>
              <a:t>Application checkpointing</a:t>
            </a:r>
            <a:r>
              <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rPr>
              <a:t>: Records the current state of all components in the system so that it can restore in case of failure</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ea typeface="+mn-ea"/>
                <a:cs typeface="Arial"/>
                <a:sym typeface="Arial"/>
              </a:rPr>
              <a:t>Automatic Parallelization</a:t>
            </a:r>
            <a:r>
              <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rPr>
              <a:t>: Automatic Conversion of serial code to multi-threaded code that can be used on an SMP machine</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ea typeface="+mn-ea"/>
                <a:cs typeface="Arial"/>
                <a:sym typeface="Arial"/>
              </a:rPr>
              <a:t>Parallel Programming Languages:</a:t>
            </a:r>
            <a:r>
              <a:rPr kumimoji="0" lang="en-US" sz="1400" b="0" i="0" u="none" strike="noStrike" kern="0" cap="none" spc="0" normalizeH="0" baseline="0" noProof="0" dirty="0">
                <a:ln>
                  <a:noFill/>
                </a:ln>
                <a:solidFill>
                  <a:srgbClr val="242424"/>
                </a:solidFill>
                <a:effectLst/>
                <a:uLnTx/>
                <a:uFillTx/>
                <a:latin typeface="source-serif-pro"/>
                <a:ea typeface="+mn-ea"/>
                <a:cs typeface="Arial"/>
                <a:sym typeface="Arial"/>
              </a:rPr>
              <a:t> Classified as either using Distributed Memory( use message parsing to communicate)or using shared Memory(manipulating shared memory variables)</a:t>
            </a:r>
          </a:p>
        </p:txBody>
      </p:sp>
      <p:sp>
        <p:nvSpPr>
          <p:cNvPr id="6" name="Rectangle 5">
            <a:extLst>
              <a:ext uri="{FF2B5EF4-FFF2-40B4-BE49-F238E27FC236}">
                <a16:creationId xmlns:a16="http://schemas.microsoft.com/office/drawing/2014/main" id="{9F9C4CA7-C666-4DB8-8DC1-4D51ABE1FACD}"/>
              </a:ext>
            </a:extLst>
          </p:cNvPr>
          <p:cNvSpPr/>
          <p:nvPr/>
        </p:nvSpPr>
        <p:spPr>
          <a:xfrm>
            <a:off x="311700" y="4835723"/>
            <a:ext cx="8612841"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Arial"/>
                <a:ea typeface="+mn-ea"/>
                <a:cs typeface="Arial"/>
                <a:sym typeface="Arial"/>
              </a:rPr>
              <a:t>Ref: https://manasreddy11.medium.com/cloud-computing-a-series-parallel-computing-99c60388e64e</a:t>
            </a:r>
          </a:p>
        </p:txBody>
      </p:sp>
    </p:spTree>
    <p:extLst>
      <p:ext uri="{BB962C8B-B14F-4D97-AF65-F5344CB8AC3E}">
        <p14:creationId xmlns:p14="http://schemas.microsoft.com/office/powerpoint/2010/main" val="2565598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2F996F-D5A4-4FA5-A33C-AD477BBD0F15}"/>
              </a:ext>
            </a:extLst>
          </p:cNvPr>
          <p:cNvSpPr>
            <a:spLocks noGrp="1"/>
          </p:cNvSpPr>
          <p:nvPr>
            <p:ph type="body" idx="1"/>
          </p:nvPr>
        </p:nvSpPr>
        <p:spPr/>
        <p:txBody>
          <a:bodyPr>
            <a:normAutofit fontScale="85000" lnSpcReduction="20000"/>
          </a:bodyPr>
          <a:lstStyle/>
          <a:p>
            <a:r>
              <a:rPr lang="en-US" b="1" dirty="0"/>
              <a:t>There are 4 types of Parallel Computing which are:</a:t>
            </a:r>
            <a:endParaRPr lang="en-US" dirty="0"/>
          </a:p>
          <a:p>
            <a:r>
              <a:rPr lang="en-US" b="1" dirty="0"/>
              <a:t>Bit-Level Parallelism:</a:t>
            </a:r>
            <a:r>
              <a:rPr lang="en-US" dirty="0"/>
              <a:t> Which is based on increasing the processing power of word size. This reduces the number of instructions the processor must execute. For example, if adding two 16bit integers on an 8-bit processor, first the lower-order buts must be added then the higher-order bits then two processes to add them both must be done. Whereas a single 16-bit processor can process them in one instruction.</a:t>
            </a:r>
          </a:p>
          <a:p>
            <a:r>
              <a:rPr lang="en-US" b="1" dirty="0"/>
              <a:t>Instruction-level Parallelism:</a:t>
            </a:r>
            <a:r>
              <a:rPr lang="en-US" dirty="0"/>
              <a:t> Which is based on the multiple execution of instructions of a program. For example, A code containing a for loop to read a list, each “</a:t>
            </a:r>
            <a:r>
              <a:rPr lang="en-US" dirty="0" err="1"/>
              <a:t>i</a:t>
            </a:r>
            <a:r>
              <a:rPr lang="en-US" dirty="0"/>
              <a:t> ” iteration can be done on different processors. Making the program “</a:t>
            </a:r>
            <a:r>
              <a:rPr lang="en-US" dirty="0" err="1"/>
              <a:t>i</a:t>
            </a:r>
            <a:r>
              <a:rPr lang="en-US" dirty="0"/>
              <a:t>” times faster.</a:t>
            </a:r>
          </a:p>
          <a:p>
            <a:r>
              <a:rPr lang="en-US" b="1" dirty="0"/>
              <a:t>Data- Level Parallelism:</a:t>
            </a:r>
            <a:r>
              <a:rPr lang="en-US" dirty="0"/>
              <a:t> Which is based on concurrent execution of the same task on multiple computing systems. Ex. Input data is split into batches the exact same algorithm is applied to all batches of code.</a:t>
            </a:r>
          </a:p>
          <a:p>
            <a:r>
              <a:rPr lang="en-US" b="1" dirty="0"/>
              <a:t>Task- Level Parallelism:</a:t>
            </a:r>
            <a:r>
              <a:rPr lang="en-US" dirty="0"/>
              <a:t> Which is based on the concurrent execution of different tasks on multiple computing systems.</a:t>
            </a:r>
          </a:p>
          <a:p>
            <a:endParaRPr lang="en-IN" dirty="0"/>
          </a:p>
        </p:txBody>
      </p:sp>
    </p:spTree>
    <p:extLst>
      <p:ext uri="{BB962C8B-B14F-4D97-AF65-F5344CB8AC3E}">
        <p14:creationId xmlns:p14="http://schemas.microsoft.com/office/powerpoint/2010/main" val="1069163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Multi Tier Application </a:t>
            </a:r>
            <a:r>
              <a:rPr lang="en" b="1" dirty="0"/>
              <a:t>Architecture</a:t>
            </a:r>
            <a:endParaRPr b="1" dirty="0"/>
          </a:p>
        </p:txBody>
      </p:sp>
      <p:sp>
        <p:nvSpPr>
          <p:cNvPr id="3" name="Rectangle 2">
            <a:extLst>
              <a:ext uri="{FF2B5EF4-FFF2-40B4-BE49-F238E27FC236}">
                <a16:creationId xmlns:a16="http://schemas.microsoft.com/office/drawing/2014/main" id="{4CA45EF5-BF94-4040-A1E7-8E5F8299A5C6}"/>
              </a:ext>
            </a:extLst>
          </p:cNvPr>
          <p:cNvSpPr/>
          <p:nvPr/>
        </p:nvSpPr>
        <p:spPr>
          <a:xfrm>
            <a:off x="298253" y="637683"/>
            <a:ext cx="5692412" cy="3693319"/>
          </a:xfrm>
          <a:prstGeom prst="rect">
            <a:avLst/>
          </a:prstGeom>
        </p:spPr>
        <p:txBody>
          <a:bodyPr wrap="square">
            <a:spAutoFit/>
          </a:bodyPr>
          <a:lstStyle/>
          <a:p>
            <a:pPr marL="285750" lvl="0" indent="-285750" algn="just" defTabSz="914400" eaLnBrk="0" fontAlgn="base" hangingPunct="0">
              <a:spcBef>
                <a:spcPct val="0"/>
              </a:spcBef>
              <a:spcAft>
                <a:spcPct val="0"/>
              </a:spcAft>
              <a:buFont typeface="Wingdings" panose="05000000000000000000" pitchFamily="2" charset="2"/>
              <a:buChar char="q"/>
            </a:pPr>
            <a:r>
              <a:rPr lang="en-US" altLang="en-US" dirty="0">
                <a:latin typeface="Arial" panose="020B0604020202020204" pitchFamily="34" charset="0"/>
              </a:rPr>
              <a:t>A tier is a logical part of an application responsible for a particular type of processing.</a:t>
            </a:r>
          </a:p>
          <a:p>
            <a:pPr marL="285750" lvl="0" indent="-285750" algn="just" defTabSz="914400" eaLnBrk="0" fontAlgn="base" hangingPunct="0">
              <a:spcBef>
                <a:spcPct val="0"/>
              </a:spcBef>
              <a:spcAft>
                <a:spcPct val="0"/>
              </a:spcAft>
              <a:buFont typeface="Wingdings" panose="05000000000000000000" pitchFamily="2" charset="2"/>
              <a:buChar char="q"/>
            </a:pPr>
            <a:r>
              <a:rPr lang="en-US" altLang="en-US" dirty="0">
                <a:latin typeface="Arial" panose="020B0604020202020204" pitchFamily="34" charset="0"/>
              </a:rPr>
              <a:t>Instead of developing the entire application as one large program, we divide it into separate tiers.</a:t>
            </a:r>
          </a:p>
          <a:p>
            <a:pPr lvl="0" algn="just" defTabSz="914400" eaLnBrk="0" fontAlgn="base" hangingPunct="0">
              <a:spcBef>
                <a:spcPct val="0"/>
              </a:spcBef>
              <a:spcAft>
                <a:spcPct val="0"/>
              </a:spcAft>
            </a:pPr>
            <a:endParaRPr lang="en-US" altLang="en-US" dirty="0">
              <a:latin typeface="Arial" panose="020B0604020202020204" pitchFamily="34" charset="0"/>
            </a:endParaRPr>
          </a:p>
          <a:p>
            <a:pPr marL="285750" lvl="0" indent="-285750" algn="just" defTabSz="914400" eaLnBrk="0" fontAlgn="base" hangingPunct="0">
              <a:spcBef>
                <a:spcPct val="0"/>
              </a:spcBef>
              <a:spcAft>
                <a:spcPct val="0"/>
              </a:spcAft>
              <a:buFont typeface="Wingdings" panose="05000000000000000000" pitchFamily="2" charset="2"/>
              <a:buChar char="q"/>
            </a:pPr>
            <a:r>
              <a:rPr lang="en-US" altLang="en-US" dirty="0">
                <a:latin typeface="Arial" panose="020B0604020202020204" pitchFamily="34" charset="0"/>
              </a:rPr>
              <a:t>The major advantage is separation of concerns.</a:t>
            </a:r>
          </a:p>
          <a:p>
            <a:pPr lvl="0" algn="just" defTabSz="914400" eaLnBrk="0" fontAlgn="base" hangingPunct="0">
              <a:spcBef>
                <a:spcPct val="0"/>
              </a:spcBef>
              <a:spcAft>
                <a:spcPct val="0"/>
              </a:spcAft>
            </a:pPr>
            <a:endParaRPr lang="en-US" altLang="en-US" dirty="0">
              <a:latin typeface="Arial" panose="020B0604020202020204" pitchFamily="34" charset="0"/>
            </a:endParaRPr>
          </a:p>
          <a:p>
            <a:pPr lvl="0" algn="just" defTabSz="914400" eaLnBrk="0" fontAlgn="base" hangingPunct="0">
              <a:spcBef>
                <a:spcPct val="0"/>
              </a:spcBef>
              <a:spcAft>
                <a:spcPct val="0"/>
              </a:spcAft>
            </a:pPr>
            <a:r>
              <a:rPr lang="en-US" altLang="en-US" b="1" dirty="0">
                <a:latin typeface="Arial" panose="020B0604020202020204" pitchFamily="34" charset="0"/>
              </a:rPr>
              <a:t>Multi-tier architecture is a software architecture in which an application is divided into multiple independent logical tiers, with each tier performing a specific function and communicating with other tiers through well-defined interfaces.</a:t>
            </a:r>
          </a:p>
          <a:p>
            <a:pPr marL="285750" lvl="0" indent="-285750" algn="just" defTabSz="91440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p:txBody>
      </p:sp>
      <p:pic>
        <p:nvPicPr>
          <p:cNvPr id="7" name="Picture 6">
            <a:extLst>
              <a:ext uri="{FF2B5EF4-FFF2-40B4-BE49-F238E27FC236}">
                <a16:creationId xmlns:a16="http://schemas.microsoft.com/office/drawing/2014/main" id="{1256BDE5-56B6-4953-849A-CBB02F3ADE39}"/>
              </a:ext>
            </a:extLst>
          </p:cNvPr>
          <p:cNvPicPr>
            <a:picLocks noChangeAspect="1"/>
          </p:cNvPicPr>
          <p:nvPr/>
        </p:nvPicPr>
        <p:blipFill>
          <a:blip r:embed="rId3"/>
          <a:stretch>
            <a:fillRect/>
          </a:stretch>
        </p:blipFill>
        <p:spPr>
          <a:xfrm>
            <a:off x="6177235" y="893629"/>
            <a:ext cx="2966765" cy="3181429"/>
          </a:xfrm>
          <a:prstGeom prst="rect">
            <a:avLst/>
          </a:prstGeom>
        </p:spPr>
      </p:pic>
    </p:spTree>
    <p:extLst>
      <p:ext uri="{BB962C8B-B14F-4D97-AF65-F5344CB8AC3E}">
        <p14:creationId xmlns:p14="http://schemas.microsoft.com/office/powerpoint/2010/main" val="3063728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Two Tier </a:t>
            </a:r>
            <a:r>
              <a:rPr lang="en" b="1" dirty="0"/>
              <a:t>Architecture </a:t>
            </a:r>
            <a:endParaRPr b="1" dirty="0"/>
          </a:p>
        </p:txBody>
      </p:sp>
      <p:sp>
        <p:nvSpPr>
          <p:cNvPr id="7" name="Rectangle 6">
            <a:extLst>
              <a:ext uri="{FF2B5EF4-FFF2-40B4-BE49-F238E27FC236}">
                <a16:creationId xmlns:a16="http://schemas.microsoft.com/office/drawing/2014/main" id="{F12C3C43-32F7-4F22-922E-8A156A76D4BD}"/>
              </a:ext>
            </a:extLst>
          </p:cNvPr>
          <p:cNvSpPr/>
          <p:nvPr/>
        </p:nvSpPr>
        <p:spPr>
          <a:xfrm>
            <a:off x="298253" y="637683"/>
            <a:ext cx="6089100" cy="3970318"/>
          </a:xfrm>
          <a:prstGeom prst="rect">
            <a:avLst/>
          </a:prstGeom>
        </p:spPr>
        <p:txBody>
          <a:bodyPr wrap="square">
            <a:spAutoFit/>
          </a:bodyPr>
          <a:lstStyle/>
          <a:p>
            <a:pPr marL="285750" lvl="0" indent="-285750" algn="just" defTabSz="914400" eaLnBrk="0" fontAlgn="base" hangingPunct="0">
              <a:spcBef>
                <a:spcPct val="0"/>
              </a:spcBef>
              <a:spcAft>
                <a:spcPct val="0"/>
              </a:spcAft>
              <a:buFont typeface="Wingdings" panose="05000000000000000000" pitchFamily="2" charset="2"/>
              <a:buChar char="q"/>
            </a:pPr>
            <a:r>
              <a:rPr lang="en-GB" altLang="en-US" b="1" dirty="0">
                <a:latin typeface="Arial" panose="020B0604020202020204" pitchFamily="34" charset="0"/>
              </a:rPr>
              <a:t>Example</a:t>
            </a:r>
            <a:r>
              <a:rPr lang="en-GB" altLang="en-US" dirty="0">
                <a:latin typeface="Arial" panose="020B0604020202020204" pitchFamily="34" charset="0"/>
              </a:rPr>
              <a:t> Desktop banking application directly communicates with a database server. </a:t>
            </a:r>
          </a:p>
          <a:p>
            <a:pPr lvl="0" algn="just" defTabSz="914400" eaLnBrk="0" fontAlgn="base" hangingPunct="0">
              <a:spcBef>
                <a:spcPct val="0"/>
              </a:spcBef>
              <a:spcAft>
                <a:spcPct val="0"/>
              </a:spcAft>
            </a:pPr>
            <a:endParaRPr lang="en-GB" altLang="en-US" dirty="0">
              <a:latin typeface="Arial" panose="020B0604020202020204" pitchFamily="34" charset="0"/>
            </a:endParaRPr>
          </a:p>
          <a:p>
            <a:pPr marL="285750" lvl="0" indent="-285750" algn="just" defTabSz="914400" eaLnBrk="0" fontAlgn="base" hangingPunct="0">
              <a:spcBef>
                <a:spcPct val="0"/>
              </a:spcBef>
              <a:spcAft>
                <a:spcPct val="0"/>
              </a:spcAft>
              <a:buFont typeface="Wingdings" panose="05000000000000000000" pitchFamily="2" charset="2"/>
              <a:buChar char="q"/>
            </a:pPr>
            <a:r>
              <a:rPr lang="en-GB" altLang="en-US" b="1" dirty="0">
                <a:latin typeface="Arial" panose="020B0604020202020204" pitchFamily="34" charset="0"/>
              </a:rPr>
              <a:t>Advantages</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Simple to develop</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Easy to understand</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Suitable for small applications</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Less communication overhead</a:t>
            </a:r>
          </a:p>
          <a:p>
            <a:pPr lvl="0" algn="just" defTabSz="914400" eaLnBrk="0" fontAlgn="base" hangingPunct="0">
              <a:spcBef>
                <a:spcPct val="0"/>
              </a:spcBef>
              <a:spcAft>
                <a:spcPct val="0"/>
              </a:spcAft>
            </a:pPr>
            <a:endParaRPr lang="en-GB" altLang="en-US" dirty="0">
              <a:latin typeface="Arial" panose="020B0604020202020204" pitchFamily="34" charset="0"/>
            </a:endParaRPr>
          </a:p>
          <a:p>
            <a:pPr marL="285750" indent="-285750" algn="just" defTabSz="914400" eaLnBrk="0" fontAlgn="base" hangingPunct="0">
              <a:spcBef>
                <a:spcPct val="0"/>
              </a:spcBef>
              <a:spcAft>
                <a:spcPct val="0"/>
              </a:spcAft>
              <a:buFont typeface="Wingdings" panose="05000000000000000000" pitchFamily="2" charset="2"/>
              <a:buChar char="q"/>
            </a:pPr>
            <a:r>
              <a:rPr lang="en-GB" altLang="en-US" b="1" dirty="0">
                <a:latin typeface="Arial" panose="020B0604020202020204" pitchFamily="34" charset="0"/>
              </a:rPr>
              <a:t>Limitations</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Difficult to scale</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Business logic may be tightly coupled with client</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Security can be weaker</a:t>
            </a:r>
          </a:p>
          <a:p>
            <a:pPr marL="285750" lvl="0" indent="-285750" algn="just" defTabSz="914400" eaLnBrk="0" fontAlgn="base" hangingPunct="0">
              <a:spcBef>
                <a:spcPct val="0"/>
              </a:spcBef>
              <a:spcAft>
                <a:spcPct val="0"/>
              </a:spcAft>
              <a:buFont typeface="Arial" panose="020B0604020202020204" pitchFamily="34" charset="0"/>
              <a:buChar char="•"/>
            </a:pPr>
            <a:r>
              <a:rPr lang="en-GB" altLang="en-US" dirty="0">
                <a:latin typeface="Arial" panose="020B0604020202020204" pitchFamily="34" charset="0"/>
              </a:rPr>
              <a:t>Maintenance becomes difficult for large applications</a:t>
            </a:r>
            <a:endParaRPr lang="en-US" altLang="en-US" dirty="0">
              <a:latin typeface="Arial" panose="020B0604020202020204" pitchFamily="34" charset="0"/>
            </a:endParaRPr>
          </a:p>
        </p:txBody>
      </p:sp>
      <p:pic>
        <p:nvPicPr>
          <p:cNvPr id="8" name="Picture 7">
            <a:extLst>
              <a:ext uri="{FF2B5EF4-FFF2-40B4-BE49-F238E27FC236}">
                <a16:creationId xmlns:a16="http://schemas.microsoft.com/office/drawing/2014/main" id="{E60886CD-7D3A-4526-97F4-5BE7B6FFF30C}"/>
              </a:ext>
            </a:extLst>
          </p:cNvPr>
          <p:cNvPicPr>
            <a:picLocks noChangeAspect="1"/>
          </p:cNvPicPr>
          <p:nvPr/>
        </p:nvPicPr>
        <p:blipFill>
          <a:blip r:embed="rId3"/>
          <a:stretch>
            <a:fillRect/>
          </a:stretch>
        </p:blipFill>
        <p:spPr>
          <a:xfrm>
            <a:off x="5983942" y="1358153"/>
            <a:ext cx="2366682" cy="2011680"/>
          </a:xfrm>
          <a:prstGeom prst="rect">
            <a:avLst/>
          </a:prstGeom>
        </p:spPr>
      </p:pic>
    </p:spTree>
    <p:extLst>
      <p:ext uri="{BB962C8B-B14F-4D97-AF65-F5344CB8AC3E}">
        <p14:creationId xmlns:p14="http://schemas.microsoft.com/office/powerpoint/2010/main" val="11655525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Three Tier </a:t>
            </a:r>
            <a:r>
              <a:rPr lang="en" b="1" dirty="0"/>
              <a:t>Architecture </a:t>
            </a:r>
            <a:endParaRPr b="1" dirty="0"/>
          </a:p>
        </p:txBody>
      </p:sp>
      <p:sp>
        <p:nvSpPr>
          <p:cNvPr id="7" name="Rectangle 6">
            <a:extLst>
              <a:ext uri="{FF2B5EF4-FFF2-40B4-BE49-F238E27FC236}">
                <a16:creationId xmlns:a16="http://schemas.microsoft.com/office/drawing/2014/main" id="{F12C3C43-32F7-4F22-922E-8A156A76D4BD}"/>
              </a:ext>
            </a:extLst>
          </p:cNvPr>
          <p:cNvSpPr/>
          <p:nvPr/>
        </p:nvSpPr>
        <p:spPr>
          <a:xfrm>
            <a:off x="163782" y="509935"/>
            <a:ext cx="5221765" cy="3693319"/>
          </a:xfrm>
          <a:prstGeom prst="rect">
            <a:avLst/>
          </a:prstGeom>
        </p:spPr>
        <p:txBody>
          <a:bodyPr wrap="square">
            <a:spAutoFit/>
          </a:bodyPr>
          <a:lstStyle/>
          <a:p>
            <a:pPr marL="285750" lvl="0" indent="-285750" algn="just" defTabSz="914400" eaLnBrk="0" fontAlgn="base" hangingPunct="0">
              <a:spcBef>
                <a:spcPct val="0"/>
              </a:spcBef>
              <a:spcAft>
                <a:spcPct val="0"/>
              </a:spcAft>
              <a:buFont typeface="Wingdings" panose="05000000000000000000" pitchFamily="2" charset="2"/>
              <a:buChar char="q"/>
            </a:pPr>
            <a:r>
              <a:rPr lang="en-GB" altLang="en-US" b="1" dirty="0">
                <a:latin typeface="Arial" panose="020B0604020202020204" pitchFamily="34" charset="0"/>
              </a:rPr>
              <a:t>Tier 1 – Presentation Tier: </a:t>
            </a:r>
            <a:r>
              <a:rPr lang="en-GB" altLang="en-US" dirty="0">
                <a:latin typeface="Arial" panose="020B0604020202020204" pitchFamily="34" charset="0"/>
              </a:rPr>
              <a:t>Responsible for the user interface.</a:t>
            </a:r>
          </a:p>
          <a:p>
            <a:pPr lvl="0" algn="just" defTabSz="914400" eaLnBrk="0" fontAlgn="base" hangingPunct="0">
              <a:spcBef>
                <a:spcPct val="0"/>
              </a:spcBef>
              <a:spcAft>
                <a:spcPct val="0"/>
              </a:spcAft>
            </a:pPr>
            <a:r>
              <a:rPr lang="en-GB" altLang="en-US" dirty="0">
                <a:latin typeface="Arial" panose="020B0604020202020204" pitchFamily="34" charset="0"/>
              </a:rPr>
              <a:t>Examples: HTML, CSS, JavaScript, Mobile application, Web interface</a:t>
            </a:r>
          </a:p>
          <a:p>
            <a:pPr lvl="0" algn="just" defTabSz="914400" eaLnBrk="0" fontAlgn="base" hangingPunct="0">
              <a:spcBef>
                <a:spcPct val="0"/>
              </a:spcBef>
              <a:spcAft>
                <a:spcPct val="0"/>
              </a:spcAft>
            </a:pPr>
            <a:endParaRPr lang="en-GB" altLang="en-US" dirty="0">
              <a:latin typeface="Arial" panose="020B0604020202020204" pitchFamily="34" charset="0"/>
            </a:endParaRPr>
          </a:p>
          <a:p>
            <a:pPr marL="285750" lvl="0" indent="-285750" algn="just" defTabSz="914400" eaLnBrk="0" fontAlgn="base" hangingPunct="0">
              <a:spcBef>
                <a:spcPct val="0"/>
              </a:spcBef>
              <a:spcAft>
                <a:spcPct val="0"/>
              </a:spcAft>
              <a:buFont typeface="Wingdings" panose="05000000000000000000" pitchFamily="2" charset="2"/>
              <a:buChar char="q"/>
            </a:pPr>
            <a:r>
              <a:rPr lang="en-GB" altLang="en-US" b="1" dirty="0">
                <a:latin typeface="Arial" panose="020B0604020202020204" pitchFamily="34" charset="0"/>
              </a:rPr>
              <a:t>Tier 2 – Application / Business Tier: </a:t>
            </a:r>
            <a:r>
              <a:rPr lang="en-GB" altLang="en-US" dirty="0">
                <a:latin typeface="Arial" panose="020B0604020202020204" pitchFamily="34" charset="0"/>
              </a:rPr>
              <a:t>Responsible for processing requests.</a:t>
            </a:r>
          </a:p>
          <a:p>
            <a:pPr lvl="0" algn="just" defTabSz="914400" eaLnBrk="0" fontAlgn="base" hangingPunct="0">
              <a:spcBef>
                <a:spcPct val="0"/>
              </a:spcBef>
              <a:spcAft>
                <a:spcPct val="0"/>
              </a:spcAft>
            </a:pPr>
            <a:r>
              <a:rPr lang="en-GB" altLang="en-US" dirty="0">
                <a:latin typeface="Arial" panose="020B0604020202020204" pitchFamily="34" charset="0"/>
              </a:rPr>
              <a:t>Examples: Authentication, Order processing, Payment calculation, Business rules, Validation.</a:t>
            </a:r>
          </a:p>
          <a:p>
            <a:pPr lvl="0" algn="just" defTabSz="914400" eaLnBrk="0" fontAlgn="base" hangingPunct="0">
              <a:spcBef>
                <a:spcPct val="0"/>
              </a:spcBef>
              <a:spcAft>
                <a:spcPct val="0"/>
              </a:spcAft>
            </a:pPr>
            <a:endParaRPr lang="en-GB" altLang="en-US" dirty="0">
              <a:latin typeface="Arial" panose="020B0604020202020204" pitchFamily="34" charset="0"/>
            </a:endParaRPr>
          </a:p>
          <a:p>
            <a:pPr lvl="0" algn="just" defTabSz="914400" eaLnBrk="0" fontAlgn="base" hangingPunct="0">
              <a:spcBef>
                <a:spcPct val="0"/>
              </a:spcBef>
              <a:spcAft>
                <a:spcPct val="0"/>
              </a:spcAft>
            </a:pPr>
            <a:r>
              <a:rPr lang="en-GB" altLang="en-US" b="1" dirty="0">
                <a:latin typeface="Arial" panose="020B0604020202020204" pitchFamily="34" charset="0"/>
              </a:rPr>
              <a:t>Tier 3 – Data Tier: </a:t>
            </a:r>
            <a:r>
              <a:rPr lang="en-GB" altLang="en-US" dirty="0">
                <a:latin typeface="Arial" panose="020B0604020202020204" pitchFamily="34" charset="0"/>
              </a:rPr>
              <a:t>Responsible for data storage.</a:t>
            </a:r>
          </a:p>
          <a:p>
            <a:pPr lvl="0" algn="just" defTabSz="914400" eaLnBrk="0" fontAlgn="base" hangingPunct="0">
              <a:spcBef>
                <a:spcPct val="0"/>
              </a:spcBef>
              <a:spcAft>
                <a:spcPct val="0"/>
              </a:spcAft>
            </a:pPr>
            <a:r>
              <a:rPr lang="en-GB" altLang="en-US" dirty="0">
                <a:latin typeface="Arial" panose="020B0604020202020204" pitchFamily="34" charset="0"/>
              </a:rPr>
              <a:t>Examples: MySQL, PostgreSQL, MongoDB, Cloud databases, Object storage.</a:t>
            </a:r>
            <a:endParaRPr lang="en-US" altLang="en-US" dirty="0">
              <a:latin typeface="Arial" panose="020B0604020202020204" pitchFamily="34" charset="0"/>
            </a:endParaRPr>
          </a:p>
        </p:txBody>
      </p:sp>
      <p:pic>
        <p:nvPicPr>
          <p:cNvPr id="4" name="Picture 3">
            <a:extLst>
              <a:ext uri="{FF2B5EF4-FFF2-40B4-BE49-F238E27FC236}">
                <a16:creationId xmlns:a16="http://schemas.microsoft.com/office/drawing/2014/main" id="{BA897453-1D9B-4F60-A9C2-B6B3C97502E3}"/>
              </a:ext>
            </a:extLst>
          </p:cNvPr>
          <p:cNvPicPr>
            <a:picLocks noChangeAspect="1"/>
          </p:cNvPicPr>
          <p:nvPr/>
        </p:nvPicPr>
        <p:blipFill>
          <a:blip r:embed="rId3"/>
          <a:stretch>
            <a:fillRect/>
          </a:stretch>
        </p:blipFill>
        <p:spPr>
          <a:xfrm>
            <a:off x="6177235" y="860012"/>
            <a:ext cx="2966765" cy="3181429"/>
          </a:xfrm>
          <a:prstGeom prst="rect">
            <a:avLst/>
          </a:prstGeom>
        </p:spPr>
      </p:pic>
    </p:spTree>
    <p:extLst>
      <p:ext uri="{BB962C8B-B14F-4D97-AF65-F5344CB8AC3E}">
        <p14:creationId xmlns:p14="http://schemas.microsoft.com/office/powerpoint/2010/main" val="4169823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Multi Tier/ N-Tier </a:t>
            </a:r>
            <a:r>
              <a:rPr lang="en" b="1" dirty="0"/>
              <a:t>Architecture </a:t>
            </a:r>
            <a:endParaRPr b="1" dirty="0"/>
          </a:p>
        </p:txBody>
      </p:sp>
      <p:pic>
        <p:nvPicPr>
          <p:cNvPr id="6" name="Picture 5">
            <a:extLst>
              <a:ext uri="{FF2B5EF4-FFF2-40B4-BE49-F238E27FC236}">
                <a16:creationId xmlns:a16="http://schemas.microsoft.com/office/drawing/2014/main" id="{35B0EC82-8BB3-4C49-BD03-3DEAA3A6C62D}"/>
              </a:ext>
            </a:extLst>
          </p:cNvPr>
          <p:cNvPicPr>
            <a:picLocks noChangeAspect="1"/>
          </p:cNvPicPr>
          <p:nvPr/>
        </p:nvPicPr>
        <p:blipFill>
          <a:blip r:embed="rId3"/>
          <a:stretch>
            <a:fillRect/>
          </a:stretch>
        </p:blipFill>
        <p:spPr>
          <a:xfrm>
            <a:off x="5385547" y="659954"/>
            <a:ext cx="3668594" cy="3543300"/>
          </a:xfrm>
          <a:prstGeom prst="rect">
            <a:avLst/>
          </a:prstGeom>
        </p:spPr>
      </p:pic>
      <p:pic>
        <p:nvPicPr>
          <p:cNvPr id="8" name="Picture 7">
            <a:extLst>
              <a:ext uri="{FF2B5EF4-FFF2-40B4-BE49-F238E27FC236}">
                <a16:creationId xmlns:a16="http://schemas.microsoft.com/office/drawing/2014/main" id="{8D86A38C-B0C1-4C27-9853-ADEE48BD7E40}"/>
              </a:ext>
            </a:extLst>
          </p:cNvPr>
          <p:cNvPicPr>
            <a:picLocks noChangeAspect="1"/>
          </p:cNvPicPr>
          <p:nvPr/>
        </p:nvPicPr>
        <p:blipFill>
          <a:blip r:embed="rId4"/>
          <a:stretch>
            <a:fillRect/>
          </a:stretch>
        </p:blipFill>
        <p:spPr>
          <a:xfrm>
            <a:off x="910130" y="707171"/>
            <a:ext cx="3067478" cy="3343742"/>
          </a:xfrm>
          <a:prstGeom prst="rect">
            <a:avLst/>
          </a:prstGeom>
        </p:spPr>
      </p:pic>
    </p:spTree>
    <p:extLst>
      <p:ext uri="{BB962C8B-B14F-4D97-AF65-F5344CB8AC3E}">
        <p14:creationId xmlns:p14="http://schemas.microsoft.com/office/powerpoint/2010/main" val="1039372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Multi Tier/ N-Tier </a:t>
            </a:r>
            <a:r>
              <a:rPr lang="en" b="1" dirty="0"/>
              <a:t>Architecture </a:t>
            </a:r>
            <a:endParaRPr b="1" dirty="0"/>
          </a:p>
        </p:txBody>
      </p:sp>
      <p:pic>
        <p:nvPicPr>
          <p:cNvPr id="6" name="Picture 5">
            <a:extLst>
              <a:ext uri="{FF2B5EF4-FFF2-40B4-BE49-F238E27FC236}">
                <a16:creationId xmlns:a16="http://schemas.microsoft.com/office/drawing/2014/main" id="{35B0EC82-8BB3-4C49-BD03-3DEAA3A6C62D}"/>
              </a:ext>
            </a:extLst>
          </p:cNvPr>
          <p:cNvPicPr>
            <a:picLocks noChangeAspect="1"/>
          </p:cNvPicPr>
          <p:nvPr/>
        </p:nvPicPr>
        <p:blipFill>
          <a:blip r:embed="rId3"/>
          <a:stretch>
            <a:fillRect/>
          </a:stretch>
        </p:blipFill>
        <p:spPr>
          <a:xfrm>
            <a:off x="5385547" y="659954"/>
            <a:ext cx="3668594" cy="3543300"/>
          </a:xfrm>
          <a:prstGeom prst="rect">
            <a:avLst/>
          </a:prstGeom>
        </p:spPr>
      </p:pic>
      <p:pic>
        <p:nvPicPr>
          <p:cNvPr id="2" name="Picture 1">
            <a:extLst>
              <a:ext uri="{FF2B5EF4-FFF2-40B4-BE49-F238E27FC236}">
                <a16:creationId xmlns:a16="http://schemas.microsoft.com/office/drawing/2014/main" id="{700724FE-768F-4435-B852-7BD8EF118746}"/>
              </a:ext>
            </a:extLst>
          </p:cNvPr>
          <p:cNvPicPr>
            <a:picLocks noChangeAspect="1"/>
          </p:cNvPicPr>
          <p:nvPr/>
        </p:nvPicPr>
        <p:blipFill>
          <a:blip r:embed="rId4"/>
          <a:stretch>
            <a:fillRect/>
          </a:stretch>
        </p:blipFill>
        <p:spPr>
          <a:xfrm>
            <a:off x="287852" y="737932"/>
            <a:ext cx="5097695" cy="3309634"/>
          </a:xfrm>
          <a:prstGeom prst="rect">
            <a:avLst/>
          </a:prstGeom>
        </p:spPr>
      </p:pic>
    </p:spTree>
    <p:extLst>
      <p:ext uri="{BB962C8B-B14F-4D97-AF65-F5344CB8AC3E}">
        <p14:creationId xmlns:p14="http://schemas.microsoft.com/office/powerpoint/2010/main" val="1478473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Multi Tier/ N-Tier </a:t>
            </a:r>
            <a:r>
              <a:rPr lang="en" b="1" dirty="0"/>
              <a:t>Architecture </a:t>
            </a:r>
            <a:endParaRPr b="1" dirty="0"/>
          </a:p>
        </p:txBody>
      </p:sp>
      <p:pic>
        <p:nvPicPr>
          <p:cNvPr id="6" name="Picture 5">
            <a:extLst>
              <a:ext uri="{FF2B5EF4-FFF2-40B4-BE49-F238E27FC236}">
                <a16:creationId xmlns:a16="http://schemas.microsoft.com/office/drawing/2014/main" id="{35B0EC82-8BB3-4C49-BD03-3DEAA3A6C62D}"/>
              </a:ext>
            </a:extLst>
          </p:cNvPr>
          <p:cNvPicPr>
            <a:picLocks noChangeAspect="1"/>
          </p:cNvPicPr>
          <p:nvPr/>
        </p:nvPicPr>
        <p:blipFill>
          <a:blip r:embed="rId3"/>
          <a:stretch>
            <a:fillRect/>
          </a:stretch>
        </p:blipFill>
        <p:spPr>
          <a:xfrm>
            <a:off x="5385547" y="659954"/>
            <a:ext cx="3668594" cy="3543300"/>
          </a:xfrm>
          <a:prstGeom prst="rect">
            <a:avLst/>
          </a:prstGeom>
        </p:spPr>
      </p:pic>
      <p:pic>
        <p:nvPicPr>
          <p:cNvPr id="3" name="Picture 2">
            <a:extLst>
              <a:ext uri="{FF2B5EF4-FFF2-40B4-BE49-F238E27FC236}">
                <a16:creationId xmlns:a16="http://schemas.microsoft.com/office/drawing/2014/main" id="{DCA4DAE6-3130-483E-8B4C-18E2217C5C8B}"/>
              </a:ext>
            </a:extLst>
          </p:cNvPr>
          <p:cNvPicPr>
            <a:picLocks noChangeAspect="1"/>
          </p:cNvPicPr>
          <p:nvPr/>
        </p:nvPicPr>
        <p:blipFill>
          <a:blip r:embed="rId4"/>
          <a:stretch>
            <a:fillRect/>
          </a:stretch>
        </p:blipFill>
        <p:spPr>
          <a:xfrm>
            <a:off x="679606" y="572700"/>
            <a:ext cx="3892394" cy="3837997"/>
          </a:xfrm>
          <a:prstGeom prst="rect">
            <a:avLst/>
          </a:prstGeom>
        </p:spPr>
      </p:pic>
    </p:spTree>
    <p:extLst>
      <p:ext uri="{BB962C8B-B14F-4D97-AF65-F5344CB8AC3E}">
        <p14:creationId xmlns:p14="http://schemas.microsoft.com/office/powerpoint/2010/main" val="22904715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Multi Tier/ N-Tier </a:t>
            </a:r>
            <a:r>
              <a:rPr lang="en" b="1" dirty="0"/>
              <a:t>Architecture </a:t>
            </a:r>
            <a:endParaRPr b="1" dirty="0"/>
          </a:p>
        </p:txBody>
      </p:sp>
      <p:pic>
        <p:nvPicPr>
          <p:cNvPr id="6" name="Picture 5">
            <a:extLst>
              <a:ext uri="{FF2B5EF4-FFF2-40B4-BE49-F238E27FC236}">
                <a16:creationId xmlns:a16="http://schemas.microsoft.com/office/drawing/2014/main" id="{35B0EC82-8BB3-4C49-BD03-3DEAA3A6C62D}"/>
              </a:ext>
            </a:extLst>
          </p:cNvPr>
          <p:cNvPicPr>
            <a:picLocks noChangeAspect="1"/>
          </p:cNvPicPr>
          <p:nvPr/>
        </p:nvPicPr>
        <p:blipFill>
          <a:blip r:embed="rId3"/>
          <a:stretch>
            <a:fillRect/>
          </a:stretch>
        </p:blipFill>
        <p:spPr>
          <a:xfrm>
            <a:off x="5385547" y="659954"/>
            <a:ext cx="3668594" cy="3543300"/>
          </a:xfrm>
          <a:prstGeom prst="rect">
            <a:avLst/>
          </a:prstGeom>
        </p:spPr>
      </p:pic>
      <p:pic>
        <p:nvPicPr>
          <p:cNvPr id="2" name="Picture 1">
            <a:extLst>
              <a:ext uri="{FF2B5EF4-FFF2-40B4-BE49-F238E27FC236}">
                <a16:creationId xmlns:a16="http://schemas.microsoft.com/office/drawing/2014/main" id="{D4FCBC1E-8CEF-4BBE-8891-88267B4FA464}"/>
              </a:ext>
            </a:extLst>
          </p:cNvPr>
          <p:cNvPicPr>
            <a:picLocks noChangeAspect="1"/>
          </p:cNvPicPr>
          <p:nvPr/>
        </p:nvPicPr>
        <p:blipFill>
          <a:blip r:embed="rId4"/>
          <a:stretch>
            <a:fillRect/>
          </a:stretch>
        </p:blipFill>
        <p:spPr>
          <a:xfrm>
            <a:off x="967027" y="560269"/>
            <a:ext cx="3806678" cy="3948542"/>
          </a:xfrm>
          <a:prstGeom prst="rect">
            <a:avLst/>
          </a:prstGeom>
        </p:spPr>
      </p:pic>
    </p:spTree>
    <p:extLst>
      <p:ext uri="{BB962C8B-B14F-4D97-AF65-F5344CB8AC3E}">
        <p14:creationId xmlns:p14="http://schemas.microsoft.com/office/powerpoint/2010/main" val="594444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Multi Tier/ N-Tier </a:t>
            </a:r>
            <a:r>
              <a:rPr lang="en" b="1" dirty="0"/>
              <a:t>Architecture </a:t>
            </a:r>
            <a:r>
              <a:rPr lang="en-IN" b="1" dirty="0"/>
              <a:t>in Cloud Computing</a:t>
            </a:r>
            <a:endParaRPr b="1" dirty="0"/>
          </a:p>
        </p:txBody>
      </p:sp>
      <p:pic>
        <p:nvPicPr>
          <p:cNvPr id="3" name="Picture 2">
            <a:extLst>
              <a:ext uri="{FF2B5EF4-FFF2-40B4-BE49-F238E27FC236}">
                <a16:creationId xmlns:a16="http://schemas.microsoft.com/office/drawing/2014/main" id="{E8FD4B61-1A9B-412A-8FE8-DAB8BC08AD5A}"/>
              </a:ext>
            </a:extLst>
          </p:cNvPr>
          <p:cNvPicPr>
            <a:picLocks noChangeAspect="1"/>
          </p:cNvPicPr>
          <p:nvPr/>
        </p:nvPicPr>
        <p:blipFill>
          <a:blip r:embed="rId3"/>
          <a:stretch>
            <a:fillRect/>
          </a:stretch>
        </p:blipFill>
        <p:spPr>
          <a:xfrm>
            <a:off x="204123" y="437029"/>
            <a:ext cx="2865192" cy="4582745"/>
          </a:xfrm>
          <a:prstGeom prst="rect">
            <a:avLst/>
          </a:prstGeom>
        </p:spPr>
      </p:pic>
      <p:pic>
        <p:nvPicPr>
          <p:cNvPr id="7" name="Picture 6">
            <a:extLst>
              <a:ext uri="{FF2B5EF4-FFF2-40B4-BE49-F238E27FC236}">
                <a16:creationId xmlns:a16="http://schemas.microsoft.com/office/drawing/2014/main" id="{A7C3BA2A-79A1-4D5E-B2CB-99E1DF342685}"/>
              </a:ext>
            </a:extLst>
          </p:cNvPr>
          <p:cNvPicPr>
            <a:picLocks noChangeAspect="1"/>
          </p:cNvPicPr>
          <p:nvPr/>
        </p:nvPicPr>
        <p:blipFill>
          <a:blip r:embed="rId4"/>
          <a:stretch>
            <a:fillRect/>
          </a:stretch>
        </p:blipFill>
        <p:spPr>
          <a:xfrm>
            <a:off x="3324518" y="437029"/>
            <a:ext cx="2670144" cy="4483394"/>
          </a:xfrm>
          <a:prstGeom prst="rect">
            <a:avLst/>
          </a:prstGeom>
        </p:spPr>
      </p:pic>
      <p:pic>
        <p:nvPicPr>
          <p:cNvPr id="8" name="Picture 7">
            <a:extLst>
              <a:ext uri="{FF2B5EF4-FFF2-40B4-BE49-F238E27FC236}">
                <a16:creationId xmlns:a16="http://schemas.microsoft.com/office/drawing/2014/main" id="{DDE26DF7-9BDC-44C4-AABD-C793A747F6C6}"/>
              </a:ext>
            </a:extLst>
          </p:cNvPr>
          <p:cNvPicPr>
            <a:picLocks noChangeAspect="1"/>
          </p:cNvPicPr>
          <p:nvPr/>
        </p:nvPicPr>
        <p:blipFill>
          <a:blip r:embed="rId5"/>
          <a:stretch>
            <a:fillRect/>
          </a:stretch>
        </p:blipFill>
        <p:spPr>
          <a:xfrm>
            <a:off x="6200571" y="437029"/>
            <a:ext cx="2318243" cy="4483394"/>
          </a:xfrm>
          <a:prstGeom prst="rect">
            <a:avLst/>
          </a:prstGeom>
        </p:spPr>
      </p:pic>
    </p:spTree>
    <p:extLst>
      <p:ext uri="{BB962C8B-B14F-4D97-AF65-F5344CB8AC3E}">
        <p14:creationId xmlns:p14="http://schemas.microsoft.com/office/powerpoint/2010/main" val="22659985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5BF2-01FB-4A5F-A972-71836E04C9B5}"/>
              </a:ext>
            </a:extLst>
          </p:cNvPr>
          <p:cNvSpPr>
            <a:spLocks noGrp="1"/>
          </p:cNvSpPr>
          <p:nvPr>
            <p:ph type="title"/>
          </p:nvPr>
        </p:nvSpPr>
        <p:spPr>
          <a:xfrm>
            <a:off x="69653" y="0"/>
            <a:ext cx="8520600" cy="572700"/>
          </a:xfrm>
        </p:spPr>
        <p:txBody>
          <a:bodyPr>
            <a:normAutofit fontScale="90000"/>
          </a:bodyPr>
          <a:lstStyle/>
          <a:p>
            <a:r>
              <a:rPr lang="en-IN" b="1" dirty="0"/>
              <a:t>Multi-tier Architecture</a:t>
            </a:r>
            <a:br>
              <a:rPr lang="en-IN" b="1" dirty="0"/>
            </a:br>
            <a:endParaRPr lang="en-IN" dirty="0"/>
          </a:p>
        </p:txBody>
      </p:sp>
      <p:sp>
        <p:nvSpPr>
          <p:cNvPr id="5" name="Rectangle 4">
            <a:extLst>
              <a:ext uri="{FF2B5EF4-FFF2-40B4-BE49-F238E27FC236}">
                <a16:creationId xmlns:a16="http://schemas.microsoft.com/office/drawing/2014/main" id="{B00D0B47-5FD8-4B15-AD61-C137A051043B}"/>
              </a:ext>
            </a:extLst>
          </p:cNvPr>
          <p:cNvSpPr/>
          <p:nvPr/>
        </p:nvSpPr>
        <p:spPr>
          <a:xfrm>
            <a:off x="69653" y="665530"/>
            <a:ext cx="9020559" cy="35394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The multi-tier application (three-tier, </a:t>
            </a:r>
            <a:r>
              <a:rPr kumimoji="0" lang="en-US" sz="1400" b="0" i="1" u="none" strike="noStrike" kern="0" cap="none" spc="0" normalizeH="0" baseline="0" noProof="0" dirty="0">
                <a:ln>
                  <a:noFill/>
                </a:ln>
                <a:solidFill>
                  <a:srgbClr val="16191F"/>
                </a:solidFill>
                <a:effectLst/>
                <a:uLnTx/>
                <a:uFillTx/>
                <a:latin typeface="Amazon Ember"/>
                <a:cs typeface="Arial"/>
                <a:sym typeface="Arial"/>
              </a:rPr>
              <a:t>n</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-tier, and so forth.) has been a cornerstone architecture pattern for decades, and remains a popular pattern for user-facing applications. Although the language used to describe a multi-tier architecture varies, a multi-tier application generally consists of the following components: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solidFill>
                  <a:srgbClr val="16191F"/>
                </a:solidFill>
                <a:effectLst/>
                <a:uLnTx/>
                <a:uFillTx/>
                <a:latin typeface="Amazon Ember"/>
                <a:cs typeface="Arial"/>
                <a:sym typeface="Arial"/>
              </a:rPr>
              <a:t>Presentation tier</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Component that the user directly interacts with (for example, webpages and mobile app UIs).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solidFill>
                  <a:srgbClr val="16191F"/>
                </a:solidFill>
                <a:effectLst/>
                <a:uLnTx/>
                <a:uFillTx/>
                <a:latin typeface="Amazon Ember"/>
                <a:cs typeface="Arial"/>
                <a:sym typeface="Arial"/>
              </a:rPr>
              <a:t>Logic tier</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Code required to translate user actions to application functionality (for example, CRUD database operations and data processing).</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solidFill>
                  <a:srgbClr val="16191F"/>
                </a:solidFill>
                <a:effectLst/>
                <a:uLnTx/>
                <a:uFillTx/>
                <a:latin typeface="Amazon Ember"/>
                <a:cs typeface="Arial"/>
                <a:sym typeface="Arial"/>
              </a:rPr>
              <a:t>Data tier</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Storage media (for example, databases, object stores, caches and file systems) that hold the data relevant to the application.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The multi-tier architecture pattern provides a general framework to ensure decoupled and independently scalable application components can be separately developed, managed, and maintained (often by distinct teams).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As a consequence of this pattern in which the network (a tier must make a network call to interact with another tier) acts as the boundary between tiers, developing a multi-tier application often requires creating many undifferentiated application components. Some of these components include:</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Code that defines a message queue for communication between tiers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Code that defines an application programming interface (API) and a data model</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Security-related code that ensures appropriate access to the application</a:t>
            </a:r>
          </a:p>
        </p:txBody>
      </p:sp>
    </p:spTree>
    <p:extLst>
      <p:ext uri="{BB962C8B-B14F-4D97-AF65-F5344CB8AC3E}">
        <p14:creationId xmlns:p14="http://schemas.microsoft.com/office/powerpoint/2010/main" val="1391799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0B6D6-4AA1-413A-B321-648B5E845244}"/>
              </a:ext>
            </a:extLst>
          </p:cNvPr>
          <p:cNvSpPr>
            <a:spLocks noGrp="1"/>
          </p:cNvSpPr>
          <p:nvPr>
            <p:ph type="title"/>
          </p:nvPr>
        </p:nvSpPr>
        <p:spPr/>
        <p:txBody>
          <a:bodyPr>
            <a:normAutofit fontScale="90000"/>
          </a:bodyPr>
          <a:lstStyle/>
          <a:p>
            <a:r>
              <a:rPr lang="en-IN" b="1" dirty="0"/>
              <a:t>Types of Multi-tier Architecture</a:t>
            </a:r>
            <a:br>
              <a:rPr lang="en-IN" b="1" dirty="0"/>
            </a:br>
            <a:endParaRPr lang="en-IN" dirty="0"/>
          </a:p>
        </p:txBody>
      </p:sp>
      <p:sp>
        <p:nvSpPr>
          <p:cNvPr id="4" name="Rectangle 3">
            <a:extLst>
              <a:ext uri="{FF2B5EF4-FFF2-40B4-BE49-F238E27FC236}">
                <a16:creationId xmlns:a16="http://schemas.microsoft.com/office/drawing/2014/main" id="{41AEE39E-7FC6-4901-BD63-6B49724526E8}"/>
              </a:ext>
            </a:extLst>
          </p:cNvPr>
          <p:cNvSpPr/>
          <p:nvPr/>
        </p:nvSpPr>
        <p:spPr>
          <a:xfrm>
            <a:off x="218515" y="1383064"/>
            <a:ext cx="8706970" cy="28931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cs typeface="Arial"/>
                <a:sym typeface="Arial"/>
              </a:rPr>
              <a:t>1-Tier Architecture</a:t>
            </a:r>
            <a:r>
              <a:rPr kumimoji="0" lang="en-US" sz="1400" b="0" i="0" u="none" strike="noStrike" kern="0" cap="none" spc="0" normalizeH="0" baseline="0" noProof="0" dirty="0">
                <a:ln>
                  <a:noFill/>
                </a:ln>
                <a:solidFill>
                  <a:srgbClr val="242424"/>
                </a:solidFill>
                <a:effectLst/>
                <a:uLnTx/>
                <a:uFillTx/>
                <a:latin typeface="source-serif-pro"/>
                <a:cs typeface="Arial"/>
                <a:sym typeface="Arial"/>
              </a:rPr>
              <a:t>: Imagine you have a toy robot that can do everything independently. It has buttons for you to press, it processes the commands, and it stores any information it needs. All the robot’s functions are built into the same robot itself.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cs typeface="Arial"/>
                <a:sym typeface="Arial"/>
              </a:rPr>
              <a:t>2-Tier Architecture</a:t>
            </a:r>
            <a:r>
              <a:rPr kumimoji="0" lang="en-US" sz="1400" b="0" i="0" u="none" strike="noStrike" kern="0" cap="none" spc="0" normalizeH="0" baseline="0" noProof="0" dirty="0">
                <a:ln>
                  <a:noFill/>
                </a:ln>
                <a:solidFill>
                  <a:srgbClr val="242424"/>
                </a:solidFill>
                <a:effectLst/>
                <a:uLnTx/>
                <a:uFillTx/>
                <a:latin typeface="source-serif-pro"/>
                <a:cs typeface="Arial"/>
                <a:sym typeface="Arial"/>
              </a:rPr>
              <a:t>: Now, let’s say you have a robot toy that you control using a remote control. The remote control sends commands to the robot, and the robot follows those commands. The remote control is responsible for telling the robot what to do, and it handles all the actions.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cs typeface="Arial"/>
                <a:sym typeface="Arial"/>
              </a:rPr>
              <a:t>3-Tier Architecture</a:t>
            </a:r>
            <a:r>
              <a:rPr kumimoji="0" lang="en-US" sz="1400" b="0" i="0" u="none" strike="noStrike" kern="0" cap="none" spc="0" normalizeH="0" baseline="0" noProof="0" dirty="0">
                <a:ln>
                  <a:noFill/>
                </a:ln>
                <a:solidFill>
                  <a:srgbClr val="242424"/>
                </a:solidFill>
                <a:effectLst/>
                <a:uLnTx/>
                <a:uFillTx/>
                <a:latin typeface="source-serif-pro"/>
                <a:cs typeface="Arial"/>
                <a:sym typeface="Arial"/>
              </a:rPr>
              <a:t>: Now, let’s make it more interesting. Imagine you have a robot toy that you control using a smartphone app. When you tap buttons on the app, the app sends the commands to a separate device, like a hub or a server. This device receives the commands and then sends them to the robot toy. The robot toy performs the actions and sends any results or information back to the device, which then sends it back to the app on your smartphone.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242424"/>
                </a:solidFill>
                <a:effectLst/>
                <a:uLnTx/>
                <a:uFillTx/>
                <a:latin typeface="source-serif-pro"/>
                <a:cs typeface="Arial"/>
                <a:sym typeface="Arial"/>
              </a:rPr>
              <a:t>N-Tier Architecture</a:t>
            </a:r>
            <a:r>
              <a:rPr kumimoji="0" lang="en-US" sz="1400" b="0" i="0" u="none" strike="noStrike" kern="0" cap="none" spc="0" normalizeH="0" baseline="0" noProof="0" dirty="0">
                <a:ln>
                  <a:noFill/>
                </a:ln>
                <a:solidFill>
                  <a:srgbClr val="242424"/>
                </a:solidFill>
                <a:effectLst/>
                <a:uLnTx/>
                <a:uFillTx/>
                <a:latin typeface="source-serif-pro"/>
                <a:cs typeface="Arial"/>
                <a:sym typeface="Arial"/>
              </a:rPr>
              <a:t>: Let’s take our robot toy example even further. Imagine a whole team of robots working together to perform different tasks. In N-tier architecture, the system is divided into multiple layers, each with a specific role.</a:t>
            </a:r>
          </a:p>
        </p:txBody>
      </p:sp>
    </p:spTree>
    <p:extLst>
      <p:ext uri="{BB962C8B-B14F-4D97-AF65-F5344CB8AC3E}">
        <p14:creationId xmlns:p14="http://schemas.microsoft.com/office/powerpoint/2010/main" val="1158253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1C03E-80DC-4E71-BED3-377C507A6D8B}"/>
              </a:ext>
            </a:extLst>
          </p:cNvPr>
          <p:cNvSpPr>
            <a:spLocks noGrp="1"/>
          </p:cNvSpPr>
          <p:nvPr>
            <p:ph type="title"/>
          </p:nvPr>
        </p:nvSpPr>
        <p:spPr/>
        <p:txBody>
          <a:bodyPr>
            <a:normAutofit fontScale="90000"/>
          </a:bodyPr>
          <a:lstStyle/>
          <a:p>
            <a:r>
              <a:rPr lang="en-IN" b="1" dirty="0"/>
              <a:t>Example of Multi-tier Architecture</a:t>
            </a:r>
            <a:br>
              <a:rPr lang="en-IN" b="1" dirty="0"/>
            </a:br>
            <a:endParaRPr lang="en-IN" dirty="0"/>
          </a:p>
        </p:txBody>
      </p:sp>
      <p:sp>
        <p:nvSpPr>
          <p:cNvPr id="4" name="Rectangle 3">
            <a:extLst>
              <a:ext uri="{FF2B5EF4-FFF2-40B4-BE49-F238E27FC236}">
                <a16:creationId xmlns:a16="http://schemas.microsoft.com/office/drawing/2014/main" id="{F61EA9C4-60CF-4751-BBBD-B4A9D5902E11}"/>
              </a:ext>
            </a:extLst>
          </p:cNvPr>
          <p:cNvSpPr/>
          <p:nvPr/>
        </p:nvSpPr>
        <p:spPr>
          <a:xfrm>
            <a:off x="134471" y="1163362"/>
            <a:ext cx="8834717" cy="310854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AWS offers a number of services that enable the creation of serverless multi-tier applications – greatly simplifying the process of deploying such applications to production and removing the overhead associated with traditional server management.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2"/>
              </a:rPr>
              <a:t>Amazon API Gateway</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a service for creating and managing APIs, and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3"/>
              </a:rPr>
              <a:t>AWS Lambda</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a service for running arbitrary code functions, can be used together to simplify the creation of robust multi-tier applications.</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Amazon API Gateway’s integration with AWS Lambda enables user-defined code functions to be initiated directly through HTTPS requests. Regardless of the request volume, both API Gateway and Lambda scale automatically to support exactly the needs of your application (refer to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4"/>
              </a:rPr>
              <a:t>API Gateway Amazon API Gateway quotas and important notes</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for scalability information). By combining these two services, you can create a tier that enables you to write only the code that matters to your application and not focus on various other undifferentiating aspects of implementing a multi-tiered architecture such as architecting for high availability, writing client SDKs, server and operating system (OS) management, scaling, and implementing a client authorization mechanism.</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API Gateway and Lambda enable the creation of a serverless logic tier. Depending on your application requirements, AWS also provides options to create a serverless presentation tier (for example, with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5"/>
              </a:rPr>
              <a:t>Amazon CloudFront</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and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6"/>
              </a:rPr>
              <a:t>Amazon Simple Storage Service</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and data tier (for example,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7"/>
              </a:rPr>
              <a:t>Amazon Aurora</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 </a:t>
            </a:r>
            <a:r>
              <a:rPr kumimoji="0" lang="en-US" sz="1400" b="0" i="0" u="none" strike="noStrike" kern="0" cap="none" spc="0" normalizeH="0" baseline="0" noProof="0" dirty="0">
                <a:ln>
                  <a:noFill/>
                </a:ln>
                <a:solidFill>
                  <a:srgbClr val="16191F"/>
                </a:solidFill>
                <a:effectLst/>
                <a:uLnTx/>
                <a:uFillTx/>
                <a:latin typeface="Amazon Ember"/>
                <a:cs typeface="Arial"/>
                <a:sym typeface="Arial"/>
                <a:hlinkClick r:id="rId8"/>
              </a:rPr>
              <a:t>Amazon DynamoDB</a:t>
            </a:r>
            <a:r>
              <a:rPr kumimoji="0" lang="en-US" sz="1400" b="0" i="0" u="none" strike="noStrike" kern="0" cap="none" spc="0" normalizeH="0" baseline="0" noProof="0" dirty="0">
                <a:ln>
                  <a:noFill/>
                </a:ln>
                <a:solidFill>
                  <a:srgbClr val="16191F"/>
                </a:solidFill>
                <a:effectLst/>
                <a:uLnTx/>
                <a:uFillTx/>
                <a:latin typeface="Amazon Ember"/>
                <a:cs typeface="Arial"/>
                <a:sym typeface="Arial"/>
              </a:rPr>
              <a:t>).</a:t>
            </a:r>
          </a:p>
        </p:txBody>
      </p:sp>
      <p:sp>
        <p:nvSpPr>
          <p:cNvPr id="5" name="Rectangle 4">
            <a:extLst>
              <a:ext uri="{FF2B5EF4-FFF2-40B4-BE49-F238E27FC236}">
                <a16:creationId xmlns:a16="http://schemas.microsoft.com/office/drawing/2014/main" id="{AA0FFDFE-D7B0-47A6-92BC-2684F8935329}"/>
              </a:ext>
            </a:extLst>
          </p:cNvPr>
          <p:cNvSpPr/>
          <p:nvPr/>
        </p:nvSpPr>
        <p:spPr>
          <a:xfrm>
            <a:off x="134470" y="4417542"/>
            <a:ext cx="8697829"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000" b="0" i="0" u="none" strike="noStrike" kern="0" cap="none" spc="0" normalizeH="0" baseline="0" noProof="0" dirty="0">
                <a:ln>
                  <a:noFill/>
                </a:ln>
                <a:solidFill>
                  <a:srgbClr val="000000"/>
                </a:solidFill>
                <a:effectLst/>
                <a:uLnTx/>
                <a:uFillTx/>
                <a:latin typeface="Arial"/>
                <a:cs typeface="Arial"/>
                <a:sym typeface="Arial"/>
              </a:rPr>
              <a:t>Ref: https://docs.aws.amazon.com/whitepapers/latest/serverless-multi-tier-architectures-api-gateway-lambda/introduction.html</a:t>
            </a:r>
          </a:p>
        </p:txBody>
      </p:sp>
    </p:spTree>
    <p:extLst>
      <p:ext uri="{BB962C8B-B14F-4D97-AF65-F5344CB8AC3E}">
        <p14:creationId xmlns:p14="http://schemas.microsoft.com/office/powerpoint/2010/main" val="3071574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03B28-8B2A-49BE-864F-3D7B900FAEA9}"/>
              </a:ext>
            </a:extLst>
          </p:cNvPr>
          <p:cNvSpPr>
            <a:spLocks noGrp="1"/>
          </p:cNvSpPr>
          <p:nvPr>
            <p:ph type="title"/>
          </p:nvPr>
        </p:nvSpPr>
        <p:spPr/>
        <p:txBody>
          <a:bodyPr>
            <a:normAutofit fontScale="90000"/>
          </a:bodyPr>
          <a:lstStyle/>
          <a:p>
            <a:r>
              <a:rPr lang="en-IN" dirty="0"/>
              <a:t>Three-tier architecture overview</a:t>
            </a:r>
            <a:br>
              <a:rPr lang="en-IN" dirty="0"/>
            </a:br>
            <a:endParaRPr lang="en-IN" dirty="0"/>
          </a:p>
        </p:txBody>
      </p:sp>
      <p:pic>
        <p:nvPicPr>
          <p:cNvPr id="4098" name="Picture 2" descr="Architectural pattern for a three-tier application">
            <a:extLst>
              <a:ext uri="{FF2B5EF4-FFF2-40B4-BE49-F238E27FC236}">
                <a16:creationId xmlns:a16="http://schemas.microsoft.com/office/drawing/2014/main" id="{29AC6E5E-CCE0-484F-8EEE-B10C0D7668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381" y="1510804"/>
            <a:ext cx="5353050" cy="22193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E564417-1CD9-49AD-B6B4-28EE4B3B3AC1}"/>
              </a:ext>
            </a:extLst>
          </p:cNvPr>
          <p:cNvSpPr/>
          <p:nvPr/>
        </p:nvSpPr>
        <p:spPr>
          <a:xfrm>
            <a:off x="181534" y="938104"/>
            <a:ext cx="8962465"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The three-tier architecture is the most popular implementation of a multi-tier architecture and consists of a single presentation tier, logic tier, and data tier. The following illustration shows an example of a simple, generic three-tier application.</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Rectangle 4">
            <a:extLst>
              <a:ext uri="{FF2B5EF4-FFF2-40B4-BE49-F238E27FC236}">
                <a16:creationId xmlns:a16="http://schemas.microsoft.com/office/drawing/2014/main" id="{605F5893-89E7-48F6-B5F0-178B666DB5EF}"/>
              </a:ext>
            </a:extLst>
          </p:cNvPr>
          <p:cNvSpPr/>
          <p:nvPr/>
        </p:nvSpPr>
        <p:spPr>
          <a:xfrm>
            <a:off x="93569" y="1676768"/>
            <a:ext cx="3873313" cy="120032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1" u="none" strike="noStrike" kern="0" cap="none" spc="0" normalizeH="0" baseline="0" noProof="0" dirty="0">
                <a:ln>
                  <a:noFill/>
                </a:ln>
                <a:solidFill>
                  <a:srgbClr val="16191F"/>
                </a:solidFill>
                <a:effectLst/>
                <a:uLnTx/>
                <a:uFillTx/>
                <a:latin typeface="Amazon Ember"/>
                <a:cs typeface="Arial"/>
                <a:sym typeface="Arial"/>
              </a:rPr>
              <a:t>Architectural pattern for a three-tier application</a:t>
            </a:r>
            <a:endParaRPr kumimoji="0" lang="en-US" sz="1200" b="0" i="0" u="none" strike="noStrike" kern="0" cap="none" spc="0" normalizeH="0" baseline="0" noProof="0" dirty="0">
              <a:ln>
                <a:noFill/>
              </a:ln>
              <a:solidFill>
                <a:srgbClr val="16191F"/>
              </a:solidFill>
              <a:effectLst/>
              <a:uLnTx/>
              <a:uFillTx/>
              <a:latin typeface="Amazon Ember"/>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16191F"/>
                </a:solidFill>
                <a:effectLst/>
                <a:uLnTx/>
                <a:uFillTx/>
                <a:latin typeface="Amazon Ember"/>
                <a:cs typeface="Arial"/>
                <a:sym typeface="Arial"/>
              </a:rPr>
              <a:t>There are many great online resources where you can learn more about the </a:t>
            </a:r>
            <a:r>
              <a:rPr kumimoji="0" lang="en-US" sz="1200" b="0" i="1" u="none" strike="noStrike" kern="0" cap="none" spc="0" normalizeH="0" baseline="0" noProof="0" dirty="0">
                <a:ln>
                  <a:noFill/>
                </a:ln>
                <a:solidFill>
                  <a:srgbClr val="16191F"/>
                </a:solidFill>
                <a:effectLst/>
                <a:uLnTx/>
                <a:uFillTx/>
                <a:latin typeface="Amazon Ember"/>
                <a:cs typeface="Arial"/>
                <a:sym typeface="Arial"/>
              </a:rPr>
              <a:t>general</a:t>
            </a:r>
            <a:r>
              <a:rPr kumimoji="0" lang="en-US" sz="1200" b="0" i="0" u="none" strike="noStrike" kern="0" cap="none" spc="0" normalizeH="0" baseline="0" noProof="0" dirty="0">
                <a:ln>
                  <a:noFill/>
                </a:ln>
                <a:solidFill>
                  <a:srgbClr val="16191F"/>
                </a:solidFill>
                <a:effectLst/>
                <a:uLnTx/>
                <a:uFillTx/>
                <a:latin typeface="Amazon Ember"/>
                <a:cs typeface="Arial"/>
                <a:sym typeface="Arial"/>
              </a:rPr>
              <a:t> three-tier architecture pattern. This whitepaper focuses on a specific implementation pattern for this architecture using Amazon API Gateway and AWS Lambda.</a:t>
            </a:r>
          </a:p>
        </p:txBody>
      </p:sp>
    </p:spTree>
    <p:extLst>
      <p:ext uri="{BB962C8B-B14F-4D97-AF65-F5344CB8AC3E}">
        <p14:creationId xmlns:p14="http://schemas.microsoft.com/office/powerpoint/2010/main" val="16640984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58640-6A3A-443F-AB9E-61DB9DEB1D73}"/>
              </a:ext>
            </a:extLst>
          </p:cNvPr>
          <p:cNvSpPr>
            <a:spLocks noGrp="1"/>
          </p:cNvSpPr>
          <p:nvPr>
            <p:ph type="title"/>
          </p:nvPr>
        </p:nvSpPr>
        <p:spPr/>
        <p:txBody>
          <a:bodyPr>
            <a:normAutofit fontScale="90000"/>
          </a:bodyPr>
          <a:lstStyle/>
          <a:p>
            <a:r>
              <a:rPr lang="en-IN" dirty="0"/>
              <a:t>Serverless logic tier</a:t>
            </a:r>
            <a:br>
              <a:rPr lang="en-IN" dirty="0"/>
            </a:br>
            <a:endParaRPr lang="en-IN" dirty="0"/>
          </a:p>
        </p:txBody>
      </p:sp>
      <p:sp>
        <p:nvSpPr>
          <p:cNvPr id="4" name="Rectangle 3">
            <a:extLst>
              <a:ext uri="{FF2B5EF4-FFF2-40B4-BE49-F238E27FC236}">
                <a16:creationId xmlns:a16="http://schemas.microsoft.com/office/drawing/2014/main" id="{BBFE4308-0352-4F4D-B8CD-08BCAC1D20A5}"/>
              </a:ext>
            </a:extLst>
          </p:cNvPr>
          <p:cNvSpPr/>
          <p:nvPr/>
        </p:nvSpPr>
        <p:spPr>
          <a:xfrm>
            <a:off x="311700" y="1017725"/>
            <a:ext cx="8422165" cy="310854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The logic tier of the three-tier architecture represents the brains of the application. This is where using Amazon API Gateway and AWS Lambda can have the most impact compared to a traditional, server-based implementation. The features of these two services enable you to build a serverless application that is highly available, scalable, and secure. In a traditional model, your application could require thousands of servers; however, by using Amazon API Gateway and AWS Lambda you are not responsible for server management in any capacity. In addition, by using these managed services together, you gain the following benefits:</a:t>
            </a: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solidFill>
                  <a:srgbClr val="16191F"/>
                </a:solidFill>
                <a:effectLst/>
                <a:uLnTx/>
                <a:uFillTx/>
                <a:latin typeface="Amazon Ember"/>
                <a:cs typeface="Arial"/>
                <a:sym typeface="Arial"/>
              </a:rPr>
              <a:t>AWS Lambda:</a:t>
            </a:r>
            <a:endParaRPr kumimoji="0" lang="en-US" sz="1400" b="0" i="0" u="none" strike="noStrike" kern="0" cap="none" spc="0" normalizeH="0" baseline="0" noProof="0" dirty="0">
              <a:ln>
                <a:noFill/>
              </a:ln>
              <a:solidFill>
                <a:srgbClr val="16191F"/>
              </a:solidFill>
              <a:effectLst/>
              <a:uLnTx/>
              <a:uFillTx/>
              <a:latin typeface="Amazon Ember"/>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No OS to choose, secure, patch, or manage</a:t>
            </a: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No servers to right size, monitor, or scale</a:t>
            </a: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Reduced risk to your cost from over-provisioning</a:t>
            </a: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Reduced risk to your performance from under-provisioning</a:t>
            </a: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solidFill>
                  <a:srgbClr val="16191F"/>
                </a:solidFill>
                <a:effectLst/>
                <a:uLnTx/>
                <a:uFillTx/>
                <a:latin typeface="Amazon Ember"/>
                <a:cs typeface="Arial"/>
                <a:sym typeface="Arial"/>
              </a:rPr>
              <a:t>Amazon API Gateway:</a:t>
            </a:r>
            <a:endParaRPr kumimoji="0" lang="en-US" sz="1400" b="0" i="0" u="none" strike="noStrike" kern="0" cap="none" spc="0" normalizeH="0" baseline="0" noProof="0" dirty="0">
              <a:ln>
                <a:noFill/>
              </a:ln>
              <a:solidFill>
                <a:srgbClr val="16191F"/>
              </a:solidFill>
              <a:effectLst/>
              <a:uLnTx/>
              <a:uFillTx/>
              <a:latin typeface="Amazon Ember"/>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Simplified mechanisms to deploy, monitor, and secure APIs</a:t>
            </a: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Improved API performance through caching and content delivery</a:t>
            </a:r>
          </a:p>
        </p:txBody>
      </p:sp>
    </p:spTree>
    <p:extLst>
      <p:ext uri="{BB962C8B-B14F-4D97-AF65-F5344CB8AC3E}">
        <p14:creationId xmlns:p14="http://schemas.microsoft.com/office/powerpoint/2010/main" val="4106545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29C1E-049B-4850-B48E-DAE9CF5D8F95}"/>
              </a:ext>
            </a:extLst>
          </p:cNvPr>
          <p:cNvSpPr>
            <a:spLocks noGrp="1"/>
          </p:cNvSpPr>
          <p:nvPr>
            <p:ph type="title"/>
          </p:nvPr>
        </p:nvSpPr>
        <p:spPr>
          <a:xfrm>
            <a:off x="0" y="0"/>
            <a:ext cx="8520600" cy="572700"/>
          </a:xfrm>
        </p:spPr>
        <p:txBody>
          <a:bodyPr>
            <a:normAutofit fontScale="90000"/>
          </a:bodyPr>
          <a:lstStyle/>
          <a:p>
            <a:r>
              <a:rPr lang="en-IN" dirty="0"/>
              <a:t>Data tier</a:t>
            </a:r>
            <a:br>
              <a:rPr lang="en-IN" dirty="0"/>
            </a:br>
            <a:endParaRPr lang="en-IN" dirty="0"/>
          </a:p>
        </p:txBody>
      </p:sp>
      <p:sp>
        <p:nvSpPr>
          <p:cNvPr id="5" name="Rectangle 4">
            <a:extLst>
              <a:ext uri="{FF2B5EF4-FFF2-40B4-BE49-F238E27FC236}">
                <a16:creationId xmlns:a16="http://schemas.microsoft.com/office/drawing/2014/main" id="{D9A68D30-ECB3-4355-993A-80CBC2BBAFF9}"/>
              </a:ext>
            </a:extLst>
          </p:cNvPr>
          <p:cNvSpPr/>
          <p:nvPr/>
        </p:nvSpPr>
        <p:spPr>
          <a:xfrm>
            <a:off x="23690" y="406219"/>
            <a:ext cx="8496910"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Using AWS Lambda as your logic tier does not limit the data storage options available in your data tier. Lambda functions connect to any data storage option by including the appropriate database driver in the Lambda deployment package, and use IAM role-based access or encrypted credentials (through AWS KMS or AWS Secrets Manager).</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6191F"/>
                </a:solidFill>
                <a:effectLst/>
                <a:uLnTx/>
                <a:uFillTx/>
                <a:latin typeface="Amazon Ember"/>
                <a:cs typeface="Arial"/>
                <a:sym typeface="Arial"/>
              </a:rPr>
              <a:t>Choosing a data store for your application is highly dependent on your application requirements. AWS offers a number of serverless and non-serverless data stores that you can use to compose the data tier of your application.</a:t>
            </a:r>
          </a:p>
        </p:txBody>
      </p:sp>
    </p:spTree>
    <p:extLst>
      <p:ext uri="{BB962C8B-B14F-4D97-AF65-F5344CB8AC3E}">
        <p14:creationId xmlns:p14="http://schemas.microsoft.com/office/powerpoint/2010/main" val="24208167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C9B29-8A81-442F-B14C-81E8FE137DD2}"/>
              </a:ext>
            </a:extLst>
          </p:cNvPr>
          <p:cNvSpPr>
            <a:spLocks noGrp="1"/>
          </p:cNvSpPr>
          <p:nvPr>
            <p:ph type="title"/>
          </p:nvPr>
        </p:nvSpPr>
        <p:spPr/>
        <p:txBody>
          <a:bodyPr>
            <a:normAutofit fontScale="90000"/>
          </a:bodyPr>
          <a:lstStyle/>
          <a:p>
            <a:r>
              <a:rPr lang="en-IN" dirty="0"/>
              <a:t>Presentation tier</a:t>
            </a:r>
            <a:br>
              <a:rPr lang="en-IN" dirty="0"/>
            </a:br>
            <a:endParaRPr lang="en-IN" dirty="0"/>
          </a:p>
        </p:txBody>
      </p:sp>
      <p:sp>
        <p:nvSpPr>
          <p:cNvPr id="4" name="Text Placeholder 3">
            <a:extLst>
              <a:ext uri="{FF2B5EF4-FFF2-40B4-BE49-F238E27FC236}">
                <a16:creationId xmlns:a16="http://schemas.microsoft.com/office/drawing/2014/main" id="{80982551-7E28-4033-87BC-6BA564CB1809}"/>
              </a:ext>
            </a:extLst>
          </p:cNvPr>
          <p:cNvSpPr txBox="1">
            <a:spLocks noGrp="1"/>
          </p:cNvSpPr>
          <p:nvPr>
            <p:ph type="body" idx="1"/>
          </p:nvPr>
        </p:nvSpPr>
        <p:spPr>
          <a:xfrm>
            <a:off x="311700" y="1017725"/>
            <a:ext cx="8521700" cy="4078009"/>
          </a:xfrm>
          <a:prstGeom prst="rect">
            <a:avLst/>
          </a:prstGeom>
          <a:noFill/>
        </p:spPr>
        <p:txBody>
          <a:bodyPr wrap="square" rtlCol="0">
            <a:spAutoFit/>
          </a:bodyPr>
          <a:lstStyle/>
          <a:p>
            <a:pPr algn="just"/>
            <a:r>
              <a:rPr lang="en-US" sz="1000" dirty="0"/>
              <a:t>The presentation tier is responsible for interacting with the logic tier through the API Gateway REST endpoints exposed over the internet. Any HTTPS capable client or device can communicate with these endpoints, giving your presentation tier the flexibility to take many forms (desktop applications, mobile apps, webpages, IoT devices, and so forth). Depending on your requirements, your presentation tier can use the following AWS serverless offerings:</a:t>
            </a:r>
          </a:p>
          <a:p>
            <a:pPr algn="just"/>
            <a:r>
              <a:rPr lang="en-US" sz="1000" dirty="0"/>
              <a:t>Amazon Cognito - A serverless user identity and data synchronization service that enables you to add user sign-up, sign-in, and access control to your web and mobile apps quickly and efficiently. Amazon Cognito scales to millions of users and supports sign-in with social identity providers, such as Facebook, Google, and Amazon, and enterprise identity providers through SAML 2.0.</a:t>
            </a:r>
          </a:p>
          <a:p>
            <a:pPr algn="just"/>
            <a:r>
              <a:rPr lang="en-US" sz="1000" dirty="0"/>
              <a:t>Amazon S3 with CloudFront - Enables you to serve static websites, such as single-page applications, directly from an S3 bucket without requiring provision of a web server. You can use CloudFront as a managed content delivery network (CDN) to improve performance and enable SSL/TL using managed or custom certificates.</a:t>
            </a:r>
          </a:p>
          <a:p>
            <a:pPr algn="just"/>
            <a:r>
              <a:rPr lang="en-US" sz="1000" dirty="0"/>
              <a:t>AWS Amplify is a set of tools and services that can be used together or on their own, to help front-end web and mobile developers build scalable full stack applications, powered by AWS. Amplify offers a fully managed service for deploying and hosting static web applications globally, served by Amazon's reliable CDN with hundreds of points of presence globally and with built-in CI/CD workflows that accelerate your application release cycle. Amplify supports popular web frameworks including JavaScript, React, Angular, Vue, Next.js, and mobile platforms including Android, iOS, React Native, Ionic, and Flutter. Depending on your networking configurations and application requirements, you might need to enable your API Gateway APIs to be cross-origin resource sharing (CORS) – compliant. CORS compliance allows web browsers to directly invoke your APIs from within static webpages.</a:t>
            </a:r>
          </a:p>
          <a:p>
            <a:pPr algn="just"/>
            <a:r>
              <a:rPr lang="en-US" sz="1000" dirty="0"/>
              <a:t>When you deploy a website with CloudFront, you are provided a CloudFront domain name to reach your application (for example, d2d47p2vcczkh2.cloudfront.net). You can use Amazon Route 53 to register domain names and direct them to your CloudFront distribution, or direct already-owned domain names to your CloudFront distribution. This enables users to access your site using a familiar domain name. Note that you can also assign a custom domain name using Route 53 to your API Gateway distribution, which enables users to invoke APIs using familiar domain names.</a:t>
            </a:r>
            <a:endParaRPr lang="en-IN" sz="1000" dirty="0"/>
          </a:p>
        </p:txBody>
      </p:sp>
    </p:spTree>
    <p:extLst>
      <p:ext uri="{BB962C8B-B14F-4D97-AF65-F5344CB8AC3E}">
        <p14:creationId xmlns:p14="http://schemas.microsoft.com/office/powerpoint/2010/main" val="1519034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Programming Support for Google Apps engine</a:t>
            </a:r>
            <a:endParaRPr/>
          </a:p>
        </p:txBody>
      </p:sp>
      <p:sp>
        <p:nvSpPr>
          <p:cNvPr id="92" name="Google Shape;9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u="sng" dirty="0">
                <a:solidFill>
                  <a:schemeClr val="hlink"/>
                </a:solidFill>
                <a:hlinkClick r:id="rId3"/>
              </a:rPr>
              <a:t>http://stmarysguntur.com/wp-content/uploads/2018/02/UNIT-IV-Programming-Support-of-Google-App-Engine-AWS.pdf</a:t>
            </a:r>
            <a:r>
              <a:rPr lang="en" dirty="0"/>
              <a:t> </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r>
              <a:rPr lang="en-IN" b="1" i="1" dirty="0">
                <a:latin typeface="Times New Roman" panose="02020603050405020304" pitchFamily="18" charset="0"/>
              </a:rPr>
              <a:t>Features: </a:t>
            </a:r>
            <a:endParaRPr lang="en-IN" dirty="0">
              <a:latin typeface="Times New Roman" panose="02020603050405020304" pitchFamily="18" charset="0"/>
            </a:endParaRPr>
          </a:p>
          <a:p>
            <a:pPr marL="285750" indent="-285750">
              <a:buFont typeface="Arial" panose="020B0604020202020204" pitchFamily="34" charset="0"/>
              <a:buChar char="•"/>
            </a:pPr>
            <a:r>
              <a:rPr lang="en-GB" dirty="0">
                <a:latin typeface="Times New Roman" panose="02020603050405020304" pitchFamily="18" charset="0"/>
              </a:rPr>
              <a:t>Relational Database Service (RDS) with a messaging interface </a:t>
            </a:r>
          </a:p>
          <a:p>
            <a:pPr marL="285750" indent="-285750">
              <a:buFont typeface="Arial" panose="020B0604020202020204" pitchFamily="34" charset="0"/>
              <a:buChar char="•"/>
            </a:pPr>
            <a:r>
              <a:rPr lang="en-IN" dirty="0">
                <a:latin typeface="Times New Roman" panose="02020603050405020304" pitchFamily="18" charset="0"/>
              </a:rPr>
              <a:t>Elastic MapReduce capability </a:t>
            </a:r>
          </a:p>
          <a:p>
            <a:pPr marL="285750" indent="-285750">
              <a:buFont typeface="Arial" panose="020B0604020202020204" pitchFamily="34" charset="0"/>
              <a:buChar char="•"/>
            </a:pPr>
            <a:r>
              <a:rPr lang="en-IN" dirty="0">
                <a:latin typeface="Times New Roman" panose="02020603050405020304" pitchFamily="18" charset="0"/>
              </a:rPr>
              <a:t>NOSQL support in </a:t>
            </a:r>
            <a:r>
              <a:rPr lang="en-IN" dirty="0" err="1">
                <a:latin typeface="Times New Roman" panose="02020603050405020304" pitchFamily="18" charset="0"/>
              </a:rPr>
              <a:t>SimpleDB</a:t>
            </a:r>
            <a:r>
              <a:rPr lang="en-IN" dirty="0">
                <a:latin typeface="Times New Roman" panose="02020603050405020304" pitchFamily="18" charset="0"/>
              </a:rPr>
              <a:t> </a:t>
            </a:r>
          </a:p>
        </p:txBody>
      </p:sp>
    </p:spTree>
    <p:extLst>
      <p:ext uri="{BB962C8B-B14F-4D97-AF65-F5344CB8AC3E}">
        <p14:creationId xmlns:p14="http://schemas.microsoft.com/office/powerpoint/2010/main" val="1714665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1169551"/>
          </a:xfrm>
          <a:prstGeom prst="rect">
            <a:avLst/>
          </a:prstGeom>
        </p:spPr>
        <p:txBody>
          <a:bodyPr wrap="square">
            <a:spAutoFit/>
          </a:bodyPr>
          <a:lstStyle/>
          <a:p>
            <a:r>
              <a:rPr lang="en-IN" b="1" i="1" dirty="0">
                <a:latin typeface="Times New Roman" panose="02020603050405020304" pitchFamily="18" charset="0"/>
              </a:rPr>
              <a:t>Features: </a:t>
            </a:r>
            <a:endParaRPr lang="en-IN" dirty="0">
              <a:latin typeface="Times New Roman" panose="02020603050405020304" pitchFamily="18" charset="0"/>
            </a:endParaRPr>
          </a:p>
          <a:p>
            <a:pPr marL="285750" indent="-285750">
              <a:buFont typeface="Arial" panose="020B0604020202020204" pitchFamily="34" charset="0"/>
              <a:buChar char="•"/>
            </a:pPr>
            <a:r>
              <a:rPr lang="en-GB" dirty="0">
                <a:latin typeface="Times New Roman" panose="02020603050405020304" pitchFamily="18" charset="0"/>
              </a:rPr>
              <a:t>Relational Database Service (RDS) with a messaging interface </a:t>
            </a:r>
          </a:p>
          <a:p>
            <a:pPr marL="285750" indent="-285750">
              <a:buFont typeface="Arial" panose="020B0604020202020204" pitchFamily="34" charset="0"/>
              <a:buChar char="•"/>
            </a:pPr>
            <a:r>
              <a:rPr lang="en-IN" dirty="0">
                <a:latin typeface="Times New Roman" panose="02020603050405020304" pitchFamily="18" charset="0"/>
              </a:rPr>
              <a:t>Elastic MapReduce capability </a:t>
            </a:r>
          </a:p>
          <a:p>
            <a:pPr marL="285750" indent="-285750">
              <a:buFont typeface="Arial" panose="020B0604020202020204" pitchFamily="34" charset="0"/>
              <a:buChar char="•"/>
            </a:pPr>
            <a:r>
              <a:rPr lang="en-IN" dirty="0">
                <a:latin typeface="Times New Roman" panose="02020603050405020304" pitchFamily="18" charset="0"/>
              </a:rPr>
              <a:t>NOSQL support in </a:t>
            </a:r>
            <a:r>
              <a:rPr lang="en-IN" dirty="0" err="1">
                <a:latin typeface="Times New Roman" panose="02020603050405020304" pitchFamily="18" charset="0"/>
              </a:rPr>
              <a:t>SimpleDB</a:t>
            </a:r>
            <a:r>
              <a:rPr lang="en-IN" dirty="0">
                <a:latin typeface="Times New Roman" panose="02020603050405020304" pitchFamily="18" charset="0"/>
              </a:rPr>
              <a:t> </a:t>
            </a:r>
          </a:p>
          <a:p>
            <a:pPr marL="285750" indent="-285750">
              <a:buFont typeface="Arial" panose="020B0604020202020204" pitchFamily="34" charset="0"/>
              <a:buChar char="•"/>
            </a:pPr>
            <a:r>
              <a:rPr lang="en-GB" b="1" dirty="0"/>
              <a:t>Amazon Simple Storage Service (S3) </a:t>
            </a:r>
            <a:endParaRPr lang="en-IN" b="1" dirty="0">
              <a:latin typeface="Times New Roman" panose="02020603050405020304" pitchFamily="18" charset="0"/>
            </a:endParaRPr>
          </a:p>
        </p:txBody>
      </p:sp>
      <p:sp>
        <p:nvSpPr>
          <p:cNvPr id="2" name="Rectangle 1">
            <a:extLst>
              <a:ext uri="{FF2B5EF4-FFF2-40B4-BE49-F238E27FC236}">
                <a16:creationId xmlns:a16="http://schemas.microsoft.com/office/drawing/2014/main" id="{F02DE1CC-4A01-4FBE-B575-0F49DCF6C6F0}"/>
              </a:ext>
            </a:extLst>
          </p:cNvPr>
          <p:cNvSpPr/>
          <p:nvPr/>
        </p:nvSpPr>
        <p:spPr>
          <a:xfrm>
            <a:off x="2416602" y="2417862"/>
            <a:ext cx="4310795" cy="307777"/>
          </a:xfrm>
          <a:prstGeom prst="rect">
            <a:avLst/>
          </a:prstGeom>
        </p:spPr>
        <p:txBody>
          <a:bodyPr wrap="none">
            <a:spAutoFit/>
          </a:bodyPr>
          <a:lstStyle/>
          <a:p>
            <a:r>
              <a:rPr lang="en-IN" dirty="0"/>
              <a:t>https://youtu.be/77lMCiiMilo?si=iNskG7xz5p434u7R</a:t>
            </a:r>
          </a:p>
        </p:txBody>
      </p:sp>
    </p:spTree>
    <p:extLst>
      <p:ext uri="{BB962C8B-B14F-4D97-AF65-F5344CB8AC3E}">
        <p14:creationId xmlns:p14="http://schemas.microsoft.com/office/powerpoint/2010/main" val="4987480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p:txBody>
      </p:sp>
      <p:pic>
        <p:nvPicPr>
          <p:cNvPr id="6" name="Picture 5">
            <a:extLst>
              <a:ext uri="{FF2B5EF4-FFF2-40B4-BE49-F238E27FC236}">
                <a16:creationId xmlns:a16="http://schemas.microsoft.com/office/drawing/2014/main" id="{59EA8132-7471-4EA7-B5CA-13D7C0459280}"/>
              </a:ext>
            </a:extLst>
          </p:cNvPr>
          <p:cNvPicPr>
            <a:picLocks noChangeAspect="1"/>
          </p:cNvPicPr>
          <p:nvPr/>
        </p:nvPicPr>
        <p:blipFill>
          <a:blip r:embed="rId3"/>
          <a:stretch>
            <a:fillRect/>
          </a:stretch>
        </p:blipFill>
        <p:spPr>
          <a:xfrm>
            <a:off x="819797" y="1699890"/>
            <a:ext cx="7335844" cy="3012724"/>
          </a:xfrm>
          <a:prstGeom prst="rect">
            <a:avLst/>
          </a:prstGeom>
        </p:spPr>
      </p:pic>
    </p:spTree>
    <p:extLst>
      <p:ext uri="{BB962C8B-B14F-4D97-AF65-F5344CB8AC3E}">
        <p14:creationId xmlns:p14="http://schemas.microsoft.com/office/powerpoint/2010/main" val="29103329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p:txBody>
      </p:sp>
      <p:pic>
        <p:nvPicPr>
          <p:cNvPr id="2" name="Picture 1">
            <a:extLst>
              <a:ext uri="{FF2B5EF4-FFF2-40B4-BE49-F238E27FC236}">
                <a16:creationId xmlns:a16="http://schemas.microsoft.com/office/drawing/2014/main" id="{0262F6A6-7CDE-4768-9398-D472E5E9B32F}"/>
              </a:ext>
            </a:extLst>
          </p:cNvPr>
          <p:cNvPicPr>
            <a:picLocks noChangeAspect="1"/>
          </p:cNvPicPr>
          <p:nvPr/>
        </p:nvPicPr>
        <p:blipFill>
          <a:blip r:embed="rId3"/>
          <a:stretch>
            <a:fillRect/>
          </a:stretch>
        </p:blipFill>
        <p:spPr>
          <a:xfrm>
            <a:off x="1277470" y="1615485"/>
            <a:ext cx="7300701" cy="3528015"/>
          </a:xfrm>
          <a:prstGeom prst="rect">
            <a:avLst/>
          </a:prstGeom>
        </p:spPr>
      </p:pic>
    </p:spTree>
    <p:extLst>
      <p:ext uri="{BB962C8B-B14F-4D97-AF65-F5344CB8AC3E}">
        <p14:creationId xmlns:p14="http://schemas.microsoft.com/office/powerpoint/2010/main" val="35086837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p:txBody>
      </p:sp>
      <p:pic>
        <p:nvPicPr>
          <p:cNvPr id="3" name="Picture 2">
            <a:extLst>
              <a:ext uri="{FF2B5EF4-FFF2-40B4-BE49-F238E27FC236}">
                <a16:creationId xmlns:a16="http://schemas.microsoft.com/office/drawing/2014/main" id="{F1DAE8DD-5C02-490A-9810-CF86EE30C8AA}"/>
              </a:ext>
            </a:extLst>
          </p:cNvPr>
          <p:cNvPicPr>
            <a:picLocks noChangeAspect="1"/>
          </p:cNvPicPr>
          <p:nvPr/>
        </p:nvPicPr>
        <p:blipFill>
          <a:blip r:embed="rId3"/>
          <a:stretch>
            <a:fillRect/>
          </a:stretch>
        </p:blipFill>
        <p:spPr>
          <a:xfrm>
            <a:off x="1036632" y="1617476"/>
            <a:ext cx="7194176" cy="3437346"/>
          </a:xfrm>
          <a:prstGeom prst="rect">
            <a:avLst/>
          </a:prstGeom>
        </p:spPr>
      </p:pic>
    </p:spTree>
    <p:extLst>
      <p:ext uri="{BB962C8B-B14F-4D97-AF65-F5344CB8AC3E}">
        <p14:creationId xmlns:p14="http://schemas.microsoft.com/office/powerpoint/2010/main" val="10661287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p:txBody>
      </p:sp>
      <p:pic>
        <p:nvPicPr>
          <p:cNvPr id="2" name="Picture 1">
            <a:extLst>
              <a:ext uri="{FF2B5EF4-FFF2-40B4-BE49-F238E27FC236}">
                <a16:creationId xmlns:a16="http://schemas.microsoft.com/office/drawing/2014/main" id="{77BF590C-E41E-44A8-9C84-08180A613E0A}"/>
              </a:ext>
            </a:extLst>
          </p:cNvPr>
          <p:cNvPicPr>
            <a:picLocks noChangeAspect="1"/>
          </p:cNvPicPr>
          <p:nvPr/>
        </p:nvPicPr>
        <p:blipFill>
          <a:blip r:embed="rId3"/>
          <a:stretch>
            <a:fillRect/>
          </a:stretch>
        </p:blipFill>
        <p:spPr>
          <a:xfrm>
            <a:off x="840441" y="1808333"/>
            <a:ext cx="7758953" cy="3018507"/>
          </a:xfrm>
          <a:prstGeom prst="rect">
            <a:avLst/>
          </a:prstGeom>
        </p:spPr>
      </p:pic>
    </p:spTree>
    <p:extLst>
      <p:ext uri="{BB962C8B-B14F-4D97-AF65-F5344CB8AC3E}">
        <p14:creationId xmlns:p14="http://schemas.microsoft.com/office/powerpoint/2010/main" val="31441730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p:txBody>
      </p:sp>
      <p:pic>
        <p:nvPicPr>
          <p:cNvPr id="3" name="Picture 2">
            <a:extLst>
              <a:ext uri="{FF2B5EF4-FFF2-40B4-BE49-F238E27FC236}">
                <a16:creationId xmlns:a16="http://schemas.microsoft.com/office/drawing/2014/main" id="{D87BCE0E-6D80-436F-BB62-E298137674EA}"/>
              </a:ext>
            </a:extLst>
          </p:cNvPr>
          <p:cNvPicPr>
            <a:picLocks noChangeAspect="1"/>
          </p:cNvPicPr>
          <p:nvPr/>
        </p:nvPicPr>
        <p:blipFill>
          <a:blip r:embed="rId3"/>
          <a:stretch>
            <a:fillRect/>
          </a:stretch>
        </p:blipFill>
        <p:spPr>
          <a:xfrm>
            <a:off x="1522879" y="1691787"/>
            <a:ext cx="6098242" cy="3172237"/>
          </a:xfrm>
          <a:prstGeom prst="rect">
            <a:avLst/>
          </a:prstGeom>
        </p:spPr>
      </p:pic>
    </p:spTree>
    <p:extLst>
      <p:ext uri="{BB962C8B-B14F-4D97-AF65-F5344CB8AC3E}">
        <p14:creationId xmlns:p14="http://schemas.microsoft.com/office/powerpoint/2010/main" val="32749101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p:txBody>
      </p:sp>
      <p:pic>
        <p:nvPicPr>
          <p:cNvPr id="2" name="Picture 1">
            <a:extLst>
              <a:ext uri="{FF2B5EF4-FFF2-40B4-BE49-F238E27FC236}">
                <a16:creationId xmlns:a16="http://schemas.microsoft.com/office/drawing/2014/main" id="{EDF13D62-728C-43F6-920C-26C33FDBFEAB}"/>
              </a:ext>
            </a:extLst>
          </p:cNvPr>
          <p:cNvPicPr>
            <a:picLocks noChangeAspect="1"/>
          </p:cNvPicPr>
          <p:nvPr/>
        </p:nvPicPr>
        <p:blipFill>
          <a:blip r:embed="rId3"/>
          <a:stretch>
            <a:fillRect/>
          </a:stretch>
        </p:blipFill>
        <p:spPr>
          <a:xfrm>
            <a:off x="1111803" y="1617535"/>
            <a:ext cx="7124521" cy="3438355"/>
          </a:xfrm>
          <a:prstGeom prst="rect">
            <a:avLst/>
          </a:prstGeom>
        </p:spPr>
      </p:pic>
    </p:spTree>
    <p:extLst>
      <p:ext uri="{BB962C8B-B14F-4D97-AF65-F5344CB8AC3E}">
        <p14:creationId xmlns:p14="http://schemas.microsoft.com/office/powerpoint/2010/main" val="10681273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13849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0"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0" i="0" u="none" strike="noStrike" kern="0" cap="none" spc="0" normalizeH="0" baseline="0" noProof="0" dirty="0">
                <a:ln>
                  <a:noFill/>
                </a:ln>
                <a:solidFill>
                  <a:srgbClr val="000000"/>
                </a:solidFill>
                <a:effectLst/>
                <a:uLnTx/>
                <a:uFillTx/>
                <a:latin typeface="Arial"/>
                <a:cs typeface="Arial"/>
                <a:sym typeface="Arial"/>
              </a:rPr>
              <a:t>Amazon Simple Storage Service (S3)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p:txBody>
      </p:sp>
      <p:sp>
        <p:nvSpPr>
          <p:cNvPr id="2" name="Rectangle 1">
            <a:extLst>
              <a:ext uri="{FF2B5EF4-FFF2-40B4-BE49-F238E27FC236}">
                <a16:creationId xmlns:a16="http://schemas.microsoft.com/office/drawing/2014/main" id="{E0A8D8DE-B0C5-4E2D-8B36-AAD6271F1C30}"/>
              </a:ext>
            </a:extLst>
          </p:cNvPr>
          <p:cNvSpPr/>
          <p:nvPr/>
        </p:nvSpPr>
        <p:spPr>
          <a:xfrm>
            <a:off x="2286000" y="2310140"/>
            <a:ext cx="5715000"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Arial"/>
                <a:cs typeface="Arial"/>
                <a:sym typeface="Arial"/>
              </a:rPr>
              <a:t>https://youtu.be/S6Ja55n-o0M?si=Pu8nB12h7FmLTcU6</a:t>
            </a:r>
          </a:p>
        </p:txBody>
      </p:sp>
    </p:spTree>
    <p:extLst>
      <p:ext uri="{BB962C8B-B14F-4D97-AF65-F5344CB8AC3E}">
        <p14:creationId xmlns:p14="http://schemas.microsoft.com/office/powerpoint/2010/main" val="11920815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8867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Programming Support for </a:t>
            </a:r>
            <a:r>
              <a:rPr lang="en-IN" dirty="0"/>
              <a:t>AWS</a:t>
            </a:r>
            <a:endParaRPr dirty="0"/>
          </a:p>
        </p:txBody>
      </p:sp>
      <p:sp>
        <p:nvSpPr>
          <p:cNvPr id="4" name="Rectangle 3">
            <a:extLst>
              <a:ext uri="{FF2B5EF4-FFF2-40B4-BE49-F238E27FC236}">
                <a16:creationId xmlns:a16="http://schemas.microsoft.com/office/drawing/2014/main" id="{3CC8B8C4-75AD-4806-8CFB-472E99068A95}"/>
              </a:ext>
            </a:extLst>
          </p:cNvPr>
          <p:cNvSpPr/>
          <p:nvPr/>
        </p:nvSpPr>
        <p:spPr>
          <a:xfrm>
            <a:off x="311700" y="661378"/>
            <a:ext cx="8644041" cy="13849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1"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Features: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Relational Database Service (RDS) with a messaging interface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Elastic MapReduce capability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IN"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NOSQL support in </a:t>
            </a:r>
            <a:r>
              <a:rPr kumimoji="0" lang="en-IN" sz="1400" b="1" i="0" u="none" strike="noStrike" kern="0" cap="none" spc="0" normalizeH="0" baseline="0" noProof="0" dirty="0" err="1">
                <a:ln>
                  <a:noFill/>
                </a:ln>
                <a:solidFill>
                  <a:srgbClr val="000000"/>
                </a:solidFill>
                <a:effectLst/>
                <a:uLnTx/>
                <a:uFillTx/>
                <a:latin typeface="Times New Roman" panose="02020603050405020304" pitchFamily="18" charset="0"/>
                <a:cs typeface="Arial"/>
                <a:sym typeface="Arial"/>
              </a:rPr>
              <a:t>SimpleDB</a:t>
            </a:r>
            <a:r>
              <a:rPr kumimoji="0" lang="en-IN"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rPr>
              <a:t> </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1400" b="0" i="0" u="none" strike="noStrike" kern="0" cap="none" spc="0" normalizeH="0" baseline="0" noProof="0" dirty="0">
                <a:ln>
                  <a:noFill/>
                </a:ln>
                <a:solidFill>
                  <a:srgbClr val="000000"/>
                </a:solidFill>
                <a:effectLst/>
                <a:uLnTx/>
                <a:uFillTx/>
                <a:latin typeface="Arial"/>
                <a:cs typeface="Arial"/>
                <a:sym typeface="Arial"/>
              </a:rPr>
              <a:t>Amazon Simple Storage Service (S3) </a:t>
            </a:r>
            <a:endParaRPr kumimoji="0" lang="en-IN" sz="1400" b="0"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IN" sz="1400" b="1" i="0" u="none" strike="noStrike" kern="0" cap="none" spc="0" normalizeH="0" baseline="0" noProof="0" dirty="0">
              <a:ln>
                <a:noFill/>
              </a:ln>
              <a:solidFill>
                <a:srgbClr val="000000"/>
              </a:solidFill>
              <a:effectLst/>
              <a:uLnTx/>
              <a:uFillTx/>
              <a:latin typeface="Times New Roman" panose="02020603050405020304" pitchFamily="18" charset="0"/>
              <a:cs typeface="Arial"/>
              <a:sym typeface="Arial"/>
            </a:endParaRPr>
          </a:p>
        </p:txBody>
      </p:sp>
    </p:spTree>
    <p:extLst>
      <p:ext uri="{BB962C8B-B14F-4D97-AF65-F5344CB8AC3E}">
        <p14:creationId xmlns:p14="http://schemas.microsoft.com/office/powerpoint/2010/main" val="30166539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8124-93F4-4ACE-9E7C-173777E5AC40}"/>
              </a:ext>
            </a:extLst>
          </p:cNvPr>
          <p:cNvSpPr>
            <a:spLocks noGrp="1"/>
          </p:cNvSpPr>
          <p:nvPr>
            <p:ph type="title"/>
          </p:nvPr>
        </p:nvSpPr>
        <p:spPr/>
        <p:txBody>
          <a:bodyPr>
            <a:noAutofit/>
          </a:bodyPr>
          <a:lstStyle/>
          <a:p>
            <a:r>
              <a:rPr lang="en-US" sz="1400" b="1" dirty="0">
                <a:solidFill>
                  <a:srgbClr val="FF0000"/>
                </a:solidFill>
              </a:rPr>
              <a:t>AWS Cloud Development Kit (AWS CDK) </a:t>
            </a:r>
            <a:r>
              <a:rPr lang="en-US" sz="1400" dirty="0"/>
              <a:t>accelerates cloud development using common programming languages to model your applications.</a:t>
            </a:r>
            <a:endParaRPr lang="en-IN" sz="1400" dirty="0"/>
          </a:p>
        </p:txBody>
      </p:sp>
      <p:pic>
        <p:nvPicPr>
          <p:cNvPr id="1026" name="Picture 2" descr="Diagram showing how AWS CDK uses preconfigured application components to model and provision your apps. ">
            <a:extLst>
              <a:ext uri="{FF2B5EF4-FFF2-40B4-BE49-F238E27FC236}">
                <a16:creationId xmlns:a16="http://schemas.microsoft.com/office/drawing/2014/main" id="{B18C5EC4-F296-4FF8-B7AE-E0441AE21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467" y="1483941"/>
            <a:ext cx="7536627" cy="2355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7276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Programming Support for Amazon EC2</a:t>
            </a:r>
            <a:endParaRPr/>
          </a:p>
        </p:txBody>
      </p:sp>
      <p:sp>
        <p:nvSpPr>
          <p:cNvPr id="98" name="Google Shape;9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1"/>
                </a:solidFill>
              </a:rPr>
              <a:t>Amazon Web Service(AWS) supports multiple popular programming languages like Java,  Python, Ruby, PHP, and Node.js, etc. </a:t>
            </a:r>
            <a:endParaRPr dirty="0">
              <a:solidFill>
                <a:schemeClr val="dk1"/>
              </a:solidFill>
            </a:endParaRPr>
          </a:p>
          <a:p>
            <a:pPr marL="0" lvl="0" indent="0" algn="l" rtl="0">
              <a:spcBef>
                <a:spcPts val="1200"/>
              </a:spcBef>
              <a:spcAft>
                <a:spcPts val="0"/>
              </a:spcAft>
              <a:buNone/>
            </a:pPr>
            <a:r>
              <a:rPr lang="en" dirty="0">
                <a:solidFill>
                  <a:schemeClr val="dk1"/>
                </a:solidFill>
              </a:rPr>
              <a:t>All the programming languages have different characteristics, communities, support, and ecosystems to consider when making choice. </a:t>
            </a:r>
            <a:endParaRPr dirty="0">
              <a:solidFill>
                <a:schemeClr val="dk1"/>
              </a:solidFill>
            </a:endParaRPr>
          </a:p>
          <a:p>
            <a:pPr marL="0" lvl="0" indent="0" algn="l" rtl="0">
              <a:spcBef>
                <a:spcPts val="1200"/>
              </a:spcBef>
              <a:spcAft>
                <a:spcPts val="1200"/>
              </a:spcAft>
              <a:buNone/>
            </a:pPr>
            <a:r>
              <a:rPr lang="en" dirty="0">
                <a:solidFill>
                  <a:schemeClr val="dk1"/>
                </a:solidFill>
              </a:rPr>
              <a:t>Lets, discuss some of the popular programming languages supported by AWS</a:t>
            </a:r>
            <a:endParaRPr dirty="0">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ED0A-A582-4B16-B17A-FC6D38950731}"/>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B45F1D49-521C-4B19-B983-A8769AFF0CF8}"/>
              </a:ext>
            </a:extLst>
          </p:cNvPr>
          <p:cNvSpPr>
            <a:spLocks noGrp="1"/>
          </p:cNvSpPr>
          <p:nvPr>
            <p:ph type="body" idx="1"/>
          </p:nvPr>
        </p:nvSpPr>
        <p:spPr/>
        <p:txBody>
          <a:bodyPr>
            <a:normAutofit/>
          </a:bodyPr>
          <a:lstStyle/>
          <a:p>
            <a:r>
              <a:rPr lang="en-IN" sz="1500" dirty="0">
                <a:hlinkClick r:id="rId2"/>
              </a:rPr>
              <a:t>https://docs.aws.amazon.com/cdk/v2/guide/languages.html#:~:text=The%20AWS%20CDK%20is%20developed,natural%20and%20intuitive%20as%20possible</a:t>
            </a:r>
            <a:r>
              <a:rPr lang="en-IN" sz="1500" dirty="0"/>
              <a:t>.</a:t>
            </a:r>
          </a:p>
          <a:p>
            <a:pPr marL="114300" indent="0">
              <a:buNone/>
            </a:pPr>
            <a:r>
              <a:rPr lang="en-US" sz="1500" dirty="0"/>
              <a:t>The AWS Cloud Development Kit (AWS CDK) has first-class support for the following general-purpose programming languages:</a:t>
            </a:r>
          </a:p>
          <a:p>
            <a:r>
              <a:rPr lang="en-US" sz="1500" dirty="0"/>
              <a:t>TypeScript</a:t>
            </a:r>
          </a:p>
          <a:p>
            <a:r>
              <a:rPr lang="en-US" sz="1500" dirty="0"/>
              <a:t>JavaScript</a:t>
            </a:r>
          </a:p>
          <a:p>
            <a:r>
              <a:rPr lang="en-US" sz="1500" dirty="0"/>
              <a:t>Python</a:t>
            </a:r>
          </a:p>
          <a:p>
            <a:r>
              <a:rPr lang="en-US" sz="1500" dirty="0"/>
              <a:t>Java</a:t>
            </a:r>
          </a:p>
          <a:p>
            <a:r>
              <a:rPr lang="en-US" sz="1500" dirty="0"/>
              <a:t>C#</a:t>
            </a:r>
          </a:p>
          <a:p>
            <a:r>
              <a:rPr lang="en-US" sz="1500" dirty="0"/>
              <a:t>Go</a:t>
            </a:r>
          </a:p>
          <a:p>
            <a:r>
              <a:rPr lang="en-US" sz="1500" dirty="0"/>
              <a:t>Other JVM and .NET CLR languages may also be used in theory</a:t>
            </a:r>
          </a:p>
          <a:p>
            <a:r>
              <a:rPr lang="en-US" sz="1500" dirty="0"/>
              <a:t>https://docs.aws.amazon.com/cdk/v2/guide/hello_world.html</a:t>
            </a:r>
          </a:p>
          <a:p>
            <a:endParaRPr lang="en-IN" dirty="0"/>
          </a:p>
        </p:txBody>
      </p:sp>
    </p:spTree>
    <p:extLst>
      <p:ext uri="{BB962C8B-B14F-4D97-AF65-F5344CB8AC3E}">
        <p14:creationId xmlns:p14="http://schemas.microsoft.com/office/powerpoint/2010/main" val="1856634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txBox="1">
            <a:spLocks noGrp="1"/>
          </p:cNvSpPr>
          <p:nvPr>
            <p:ph type="body" idx="1"/>
          </p:nvPr>
        </p:nvSpPr>
        <p:spPr>
          <a:xfrm>
            <a:off x="311700" y="719450"/>
            <a:ext cx="8520600" cy="3849300"/>
          </a:xfrm>
          <a:prstGeom prst="rect">
            <a:avLst/>
          </a:prstGeom>
        </p:spPr>
        <p:txBody>
          <a:bodyPr spcFirstLastPara="1" wrap="square" lIns="91425" tIns="91425" rIns="91425" bIns="91425" anchor="t" anchorCtr="0">
            <a:normAutofit/>
          </a:bodyPr>
          <a:lstStyle/>
          <a:p>
            <a:pPr marL="0" lvl="0" indent="0" algn="just" rtl="0">
              <a:spcBef>
                <a:spcPts val="1400"/>
              </a:spcBef>
              <a:spcAft>
                <a:spcPts val="0"/>
              </a:spcAft>
              <a:buClr>
                <a:schemeClr val="dk1"/>
              </a:buClr>
              <a:buSzPts val="1100"/>
              <a:buFont typeface="Arial"/>
              <a:buNone/>
            </a:pPr>
            <a:r>
              <a:rPr lang="en" sz="1200" b="1">
                <a:solidFill>
                  <a:schemeClr val="dk1"/>
                </a:solidFill>
              </a:rPr>
              <a:t>1.</a:t>
            </a:r>
            <a:r>
              <a:rPr lang="en" sz="1200" b="1">
                <a:solidFill>
                  <a:schemeClr val="dk1"/>
                </a:solidFill>
                <a:uFill>
                  <a:noFill/>
                </a:uFill>
                <a:hlinkClick r:id="rId3">
                  <a:extLst>
                    <a:ext uri="{A12FA001-AC4F-418D-AE19-62706E023703}">
                      <ahyp:hlinkClr xmlns:ahyp="http://schemas.microsoft.com/office/drawing/2018/hyperlinkcolor" val="tx"/>
                    </a:ext>
                  </a:extLst>
                </a:hlinkClick>
              </a:rPr>
              <a:t> Java</a:t>
            </a:r>
            <a:endParaRPr sz="1200" b="1">
              <a:solidFill>
                <a:schemeClr val="dk1"/>
              </a:solidFill>
            </a:endParaRPr>
          </a:p>
          <a:p>
            <a:pPr marL="0" lvl="0" indent="0" algn="l" rtl="0">
              <a:spcBef>
                <a:spcPts val="1200"/>
              </a:spcBef>
              <a:spcAft>
                <a:spcPts val="0"/>
              </a:spcAft>
              <a:buClr>
                <a:schemeClr val="dk1"/>
              </a:buClr>
              <a:buSzPts val="1100"/>
              <a:buFont typeface="Arial"/>
              <a:buNone/>
            </a:pPr>
            <a:r>
              <a:rPr lang="en" sz="1200">
                <a:solidFill>
                  <a:schemeClr val="dk1"/>
                </a:solidFill>
              </a:rPr>
              <a:t>Java is an object-oriented language with fewer dependencies. It is a secure and dynamic language designed to have high performance. Java is one of the earliest languages used in business-critical ideas.  It has a wide range of libraries and frameworks supported.</a:t>
            </a:r>
            <a:endParaRPr sz="1200">
              <a:solidFill>
                <a:schemeClr val="dk1"/>
              </a:solidFill>
            </a:endParaRPr>
          </a:p>
          <a:p>
            <a:pPr marL="0" lvl="0" indent="0" algn="just" rtl="0">
              <a:spcBef>
                <a:spcPts val="1200"/>
              </a:spcBef>
              <a:spcAft>
                <a:spcPts val="0"/>
              </a:spcAft>
              <a:buClr>
                <a:schemeClr val="dk1"/>
              </a:buClr>
              <a:buSzPts val="1100"/>
              <a:buFont typeface="Arial"/>
              <a:buNone/>
            </a:pPr>
            <a:r>
              <a:rPr lang="en" sz="1200" b="1">
                <a:solidFill>
                  <a:schemeClr val="dk1"/>
                </a:solidFill>
              </a:rPr>
              <a:t>Java Applications in AWS Have the Following Merits:</a:t>
            </a:r>
            <a:endParaRPr sz="1200" b="1">
              <a:solidFill>
                <a:schemeClr val="dk1"/>
              </a:solidFill>
            </a:endParaRPr>
          </a:p>
          <a:p>
            <a:pPr marL="457200" lvl="0" indent="-304800" algn="just" rtl="0">
              <a:spcBef>
                <a:spcPts val="1200"/>
              </a:spcBef>
              <a:spcAft>
                <a:spcPts val="0"/>
              </a:spcAft>
              <a:buClr>
                <a:schemeClr val="dk1"/>
              </a:buClr>
              <a:buSzPts val="1200"/>
              <a:buChar char="●"/>
            </a:pPr>
            <a:r>
              <a:rPr lang="en" sz="1200" b="1">
                <a:solidFill>
                  <a:schemeClr val="dk1"/>
                </a:solidFill>
              </a:rPr>
              <a:t>Reliable and well-tested libraries: </a:t>
            </a:r>
            <a:r>
              <a:rPr lang="en" sz="1200">
                <a:solidFill>
                  <a:schemeClr val="dk1"/>
                </a:solidFill>
              </a:rPr>
              <a:t>All of the libraries of Java are reliable and are well tested to create a supportive and reliable environment for the users.</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Platform Independent: </a:t>
            </a:r>
            <a:r>
              <a:rPr lang="en" sz="1200">
                <a:solidFill>
                  <a:schemeClr val="dk1"/>
                </a:solidFill>
              </a:rPr>
              <a:t>Java works with various tools like Eclipse, IntelliJ IDEA, Maven, and Gradle.</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High Performance:</a:t>
            </a:r>
            <a:r>
              <a:rPr lang="en" sz="1200">
                <a:solidFill>
                  <a:schemeClr val="dk1"/>
                </a:solidFill>
              </a:rPr>
              <a:t> With the use of Just-In-Time compilers, Java enables high performance. It is easy to determine the amount of memory needed by the program which makes its performance predictable.</a:t>
            </a:r>
            <a:endParaRPr sz="1200">
              <a:solidFill>
                <a:schemeClr val="dk1"/>
              </a:solidFill>
            </a:endParaRPr>
          </a:p>
          <a:p>
            <a:pPr marL="0" lvl="0" indent="0" algn="just" rtl="0">
              <a:spcBef>
                <a:spcPts val="1200"/>
              </a:spcBef>
              <a:spcAft>
                <a:spcPts val="1200"/>
              </a:spcAft>
              <a:buNone/>
            </a:pPr>
            <a:r>
              <a:rPr lang="en" sz="1200">
                <a:solidFill>
                  <a:schemeClr val="dk1"/>
                </a:solidFill>
              </a:rPr>
              <a:t>These merits of Java help it in running a Java-based web application on various AWS services like Amazon Simple Storage Service (S3), Amazon Elastic Compute Cloud (EC2).</a:t>
            </a:r>
            <a:endParaRPr sz="12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3"/>
          <p:cNvSpPr txBox="1">
            <a:spLocks noGrp="1"/>
          </p:cNvSpPr>
          <p:nvPr>
            <p:ph type="body" idx="1"/>
          </p:nvPr>
        </p:nvSpPr>
        <p:spPr>
          <a:xfrm>
            <a:off x="311700" y="794600"/>
            <a:ext cx="8520600" cy="37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2.</a:t>
            </a:r>
            <a:r>
              <a:rPr lang="en" sz="1200">
                <a:solidFill>
                  <a:schemeClr val="dk1"/>
                </a:solidFill>
              </a:rPr>
              <a:t> </a:t>
            </a:r>
            <a:r>
              <a:rPr lang="en" sz="1200" b="1">
                <a:solidFill>
                  <a:schemeClr val="dk1"/>
                </a:solidFill>
              </a:rPr>
              <a:t>Python</a:t>
            </a:r>
            <a:endParaRPr sz="1200" b="1">
              <a:solidFill>
                <a:schemeClr val="dk1"/>
              </a:solidFill>
            </a:endParaRPr>
          </a:p>
          <a:p>
            <a:pPr marL="0" lvl="0" indent="0" algn="l" rtl="0">
              <a:spcBef>
                <a:spcPts val="1200"/>
              </a:spcBef>
              <a:spcAft>
                <a:spcPts val="0"/>
              </a:spcAft>
              <a:buNone/>
            </a:pPr>
            <a:r>
              <a:rPr lang="en" sz="1200">
                <a:solidFill>
                  <a:schemeClr val="dk1"/>
                </a:solidFill>
              </a:rPr>
              <a:t>Python is a dynamic, high level, open-source programming language. It is relatively a newer language in the world of programming languages and in AWS environment as well. This is the simplest language and beginners friendly.</a:t>
            </a:r>
            <a:endParaRPr sz="1200">
              <a:solidFill>
                <a:schemeClr val="dk1"/>
              </a:solidFill>
            </a:endParaRPr>
          </a:p>
          <a:p>
            <a:pPr marL="0" lvl="0" indent="0" algn="l" rtl="0">
              <a:spcBef>
                <a:spcPts val="1200"/>
              </a:spcBef>
              <a:spcAft>
                <a:spcPts val="0"/>
              </a:spcAft>
              <a:buNone/>
            </a:pPr>
            <a:r>
              <a:rPr lang="en" sz="1200">
                <a:solidFill>
                  <a:schemeClr val="dk1"/>
                </a:solidFill>
              </a:rPr>
              <a:t>The benefits of Python in the AWS environment:</a:t>
            </a:r>
            <a:endParaRPr sz="1200">
              <a:solidFill>
                <a:schemeClr val="dk1"/>
              </a:solidFill>
            </a:endParaRPr>
          </a:p>
          <a:p>
            <a:pPr marL="0" lvl="0" indent="0" algn="l" rtl="0">
              <a:spcBef>
                <a:spcPts val="1200"/>
              </a:spcBef>
              <a:spcAft>
                <a:spcPts val="0"/>
              </a:spcAft>
              <a:buNone/>
            </a:pPr>
            <a:r>
              <a:rPr lang="en" sz="1200">
                <a:solidFill>
                  <a:schemeClr val="dk1"/>
                </a:solidFill>
              </a:rPr>
              <a:t>   </a:t>
            </a:r>
            <a:r>
              <a:rPr lang="en" sz="1200" b="1">
                <a:solidFill>
                  <a:schemeClr val="dk1"/>
                </a:solidFill>
              </a:rPr>
              <a:t> Fast Spin up Time</a:t>
            </a:r>
            <a:r>
              <a:rPr lang="en" sz="1200">
                <a:solidFill>
                  <a:schemeClr val="dk1"/>
                </a:solidFill>
              </a:rPr>
              <a:t>:  Python has a great spinning up time for containers. It’s about 100 times faster than Java or C#.</a:t>
            </a:r>
            <a:endParaRPr sz="1200">
              <a:solidFill>
                <a:schemeClr val="dk1"/>
              </a:solidFill>
            </a:endParaRPr>
          </a:p>
          <a:p>
            <a:pPr marL="0" lvl="0" indent="0" algn="l" rtl="0">
              <a:spcBef>
                <a:spcPts val="1200"/>
              </a:spcBef>
              <a:spcAft>
                <a:spcPts val="0"/>
              </a:spcAft>
              <a:buNone/>
            </a:pPr>
            <a:r>
              <a:rPr lang="en" sz="1200">
                <a:solidFill>
                  <a:schemeClr val="dk1"/>
                </a:solidFill>
              </a:rPr>
              <a:t>    </a:t>
            </a:r>
            <a:r>
              <a:rPr lang="en" sz="1200" b="1">
                <a:solidFill>
                  <a:schemeClr val="dk1"/>
                </a:solidFill>
              </a:rPr>
              <a:t>Easy to Code</a:t>
            </a:r>
            <a:r>
              <a:rPr lang="en" sz="1200">
                <a:solidFill>
                  <a:schemeClr val="dk1"/>
                </a:solidFill>
              </a:rPr>
              <a:t>: Python is highly readable and a supportive community. Python has more than 145,000 support package</a:t>
            </a:r>
            <a:endParaRPr sz="1200">
              <a:solidFill>
                <a:schemeClr val="dk1"/>
              </a:solidFill>
            </a:endParaRPr>
          </a:p>
          <a:p>
            <a:pPr marL="0" lvl="0" indent="0" algn="l" rtl="0">
              <a:spcBef>
                <a:spcPts val="1200"/>
              </a:spcBef>
              <a:spcAft>
                <a:spcPts val="0"/>
              </a:spcAft>
              <a:buNone/>
            </a:pPr>
            <a:r>
              <a:rPr lang="en" sz="1200">
                <a:solidFill>
                  <a:schemeClr val="dk1"/>
                </a:solidFill>
              </a:rPr>
              <a:t>   </a:t>
            </a:r>
            <a:r>
              <a:rPr lang="en" sz="1200" b="1">
                <a:solidFill>
                  <a:schemeClr val="dk1"/>
                </a:solidFill>
              </a:rPr>
              <a:t> Simplicity</a:t>
            </a:r>
            <a:r>
              <a:rPr lang="en" sz="1200">
                <a:solidFill>
                  <a:schemeClr val="dk1"/>
                </a:solidFill>
              </a:rPr>
              <a:t>: With python, one can avoid the over-complicated architecture</a:t>
            </a:r>
            <a:endParaRPr sz="1200">
              <a:solidFill>
                <a:schemeClr val="dk1"/>
              </a:solidFill>
            </a:endParaRPr>
          </a:p>
          <a:p>
            <a:pPr marL="0" lvl="0" indent="0" algn="l" rtl="0">
              <a:spcBef>
                <a:spcPts val="1200"/>
              </a:spcBef>
              <a:spcAft>
                <a:spcPts val="1200"/>
              </a:spcAft>
              <a:buNone/>
            </a:pPr>
            <a:r>
              <a:rPr lang="en" sz="1200">
                <a:solidFill>
                  <a:schemeClr val="dk1"/>
                </a:solidFill>
              </a:rPr>
              <a:t>Using the SDK for Python, you can build applications on top of Amazon S3, Amazon EC2, Amazon DynamoDB, and more.</a:t>
            </a:r>
            <a:endParaRPr sz="1200">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4"/>
          <p:cNvSpPr txBox="1">
            <a:spLocks noGrp="1"/>
          </p:cNvSpPr>
          <p:nvPr>
            <p:ph type="body" idx="1"/>
          </p:nvPr>
        </p:nvSpPr>
        <p:spPr>
          <a:xfrm>
            <a:off x="311700" y="783875"/>
            <a:ext cx="8520600" cy="3785100"/>
          </a:xfrm>
          <a:prstGeom prst="rect">
            <a:avLst/>
          </a:prstGeom>
        </p:spPr>
        <p:txBody>
          <a:bodyPr spcFirstLastPara="1" wrap="square" lIns="91425" tIns="91425" rIns="91425" bIns="91425" anchor="t" anchorCtr="0">
            <a:normAutofit/>
          </a:bodyPr>
          <a:lstStyle/>
          <a:p>
            <a:pPr marL="0" lvl="0" indent="0" algn="just" rtl="0">
              <a:spcBef>
                <a:spcPts val="1400"/>
              </a:spcBef>
              <a:spcAft>
                <a:spcPts val="0"/>
              </a:spcAft>
              <a:buClr>
                <a:schemeClr val="dk1"/>
              </a:buClr>
              <a:buSzPts val="1100"/>
              <a:buFont typeface="Arial"/>
              <a:buNone/>
            </a:pPr>
            <a:r>
              <a:rPr lang="en" sz="1400" b="1">
                <a:solidFill>
                  <a:schemeClr val="dk1"/>
                </a:solidFill>
              </a:rPr>
              <a:t>3.</a:t>
            </a:r>
            <a:r>
              <a:rPr lang="en" sz="1400" b="1">
                <a:solidFill>
                  <a:schemeClr val="dk1"/>
                </a:solidFill>
                <a:uFill>
                  <a:noFill/>
                </a:uFill>
                <a:hlinkClick r:id="rId3">
                  <a:extLst>
                    <a:ext uri="{A12FA001-AC4F-418D-AE19-62706E023703}">
                      <ahyp:hlinkClr xmlns:ahyp="http://schemas.microsoft.com/office/drawing/2018/hyperlinkcolor" val="tx"/>
                    </a:ext>
                  </a:extLst>
                </a:hlinkClick>
              </a:rPr>
              <a:t> Ruby</a:t>
            </a:r>
            <a:endParaRPr sz="1400" b="1">
              <a:solidFill>
                <a:schemeClr val="dk1"/>
              </a:solidFill>
            </a:endParaRPr>
          </a:p>
          <a:p>
            <a:pPr marL="0" lvl="0" indent="0" algn="l" rtl="0">
              <a:spcBef>
                <a:spcPts val="1200"/>
              </a:spcBef>
              <a:spcAft>
                <a:spcPts val="0"/>
              </a:spcAft>
              <a:buClr>
                <a:schemeClr val="dk1"/>
              </a:buClr>
              <a:buSzPts val="1100"/>
              <a:buFont typeface="Arial"/>
              <a:buNone/>
            </a:pPr>
            <a:r>
              <a:rPr lang="en" sz="1200">
                <a:solidFill>
                  <a:schemeClr val="dk1"/>
                </a:solidFill>
              </a:rPr>
              <a:t>Ruby is also a popular object-oriented programming language having training available online, both for beginners, with no coding experience, and experts in the field. Ruby has a repository of reusable libraries easily maintained and deployed in the form of RubyGems.</a:t>
            </a:r>
            <a:endParaRPr sz="1200">
              <a:solidFill>
                <a:schemeClr val="dk1"/>
              </a:solidFill>
            </a:endParaRPr>
          </a:p>
          <a:p>
            <a:pPr marL="0" lvl="0" indent="0" algn="just" rtl="0">
              <a:spcBef>
                <a:spcPts val="1200"/>
              </a:spcBef>
              <a:spcAft>
                <a:spcPts val="0"/>
              </a:spcAft>
              <a:buClr>
                <a:schemeClr val="dk1"/>
              </a:buClr>
              <a:buSzPts val="1100"/>
              <a:buFont typeface="Arial"/>
              <a:buNone/>
            </a:pPr>
            <a:r>
              <a:rPr lang="en" sz="1200" b="1">
                <a:solidFill>
                  <a:schemeClr val="dk1"/>
                </a:solidFill>
              </a:rPr>
              <a:t>Benefits of Ruby:</a:t>
            </a:r>
            <a:endParaRPr sz="1200" b="1">
              <a:solidFill>
                <a:schemeClr val="dk1"/>
              </a:solidFill>
            </a:endParaRPr>
          </a:p>
          <a:p>
            <a:pPr marL="457200" lvl="0" indent="-304800" algn="just" rtl="0">
              <a:spcBef>
                <a:spcPts val="1200"/>
              </a:spcBef>
              <a:spcAft>
                <a:spcPts val="0"/>
              </a:spcAft>
              <a:buClr>
                <a:schemeClr val="dk1"/>
              </a:buClr>
              <a:buSzPts val="1200"/>
              <a:buChar char="●"/>
            </a:pPr>
            <a:r>
              <a:rPr lang="en" sz="1200" b="1">
                <a:solidFill>
                  <a:schemeClr val="dk1"/>
                </a:solidFill>
              </a:rPr>
              <a:t>Highly Scalable: </a:t>
            </a:r>
            <a:r>
              <a:rPr lang="en" sz="1200">
                <a:solidFill>
                  <a:schemeClr val="dk1"/>
                </a:solidFill>
              </a:rPr>
              <a:t>Ruby is very much scalable and big programs written in Ruby are easily maintainable.</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Easy to understand: </a:t>
            </a:r>
            <a:r>
              <a:rPr lang="en" sz="1200">
                <a:solidFill>
                  <a:schemeClr val="dk1"/>
                </a:solidFill>
              </a:rPr>
              <a:t>Ruby has a clean and easy syntax that allows a new developer to learn very quickly and easily.</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Suitable for automation purposes: </a:t>
            </a:r>
            <a:r>
              <a:rPr lang="en" sz="1200">
                <a:solidFill>
                  <a:schemeClr val="dk1"/>
                </a:solidFill>
              </a:rPr>
              <a:t>Ruby is suitable for automation with Puppet. Ruby support various web services including Airbnb, GitHub, and Groupon.</a:t>
            </a:r>
            <a:endParaRPr sz="1200">
              <a:solidFill>
                <a:schemeClr val="dk1"/>
              </a:solidFill>
            </a:endParaRPr>
          </a:p>
          <a:p>
            <a:pPr marL="0" lvl="0" indent="0" algn="just" rtl="0">
              <a:spcBef>
                <a:spcPts val="1200"/>
              </a:spcBef>
              <a:spcAft>
                <a:spcPts val="0"/>
              </a:spcAft>
              <a:buClr>
                <a:schemeClr val="dk1"/>
              </a:buClr>
              <a:buSzPts val="1100"/>
              <a:buFont typeface="Arial"/>
              <a:buNone/>
            </a:pPr>
            <a:r>
              <a:rPr lang="en" sz="1200">
                <a:solidFill>
                  <a:schemeClr val="dk1"/>
                </a:solidFill>
              </a:rPr>
              <a:t>With Ruby, developers can easily deploy their applications on various AWS services like Amazon S3, Amazon EC2, DynamoDB, and more. </a:t>
            </a:r>
            <a:r>
              <a:rPr lang="en" sz="1200" i="1">
                <a:solidFill>
                  <a:schemeClr val="dk1"/>
                </a:solidFill>
              </a:rPr>
              <a:t>Ruby is really a programmer’s best friend.</a:t>
            </a:r>
            <a:endParaRPr sz="1200" i="1">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5"/>
          <p:cNvSpPr txBox="1">
            <a:spLocks noGrp="1"/>
          </p:cNvSpPr>
          <p:nvPr>
            <p:ph type="body" idx="1"/>
          </p:nvPr>
        </p:nvSpPr>
        <p:spPr>
          <a:xfrm>
            <a:off x="311700" y="805350"/>
            <a:ext cx="8520600" cy="3763500"/>
          </a:xfrm>
          <a:prstGeom prst="rect">
            <a:avLst/>
          </a:prstGeom>
        </p:spPr>
        <p:txBody>
          <a:bodyPr spcFirstLastPara="1" wrap="square" lIns="91425" tIns="91425" rIns="91425" bIns="91425" anchor="t" anchorCtr="0">
            <a:normAutofit/>
          </a:bodyPr>
          <a:lstStyle/>
          <a:p>
            <a:pPr marL="0" lvl="0" indent="0" algn="just" rtl="0">
              <a:spcBef>
                <a:spcPts val="1400"/>
              </a:spcBef>
              <a:spcAft>
                <a:spcPts val="0"/>
              </a:spcAft>
              <a:buClr>
                <a:schemeClr val="dk1"/>
              </a:buClr>
              <a:buSzPts val="1100"/>
              <a:buFont typeface="Arial"/>
              <a:buNone/>
            </a:pPr>
            <a:r>
              <a:rPr lang="en" sz="1200" b="1">
                <a:solidFill>
                  <a:schemeClr val="dk1"/>
                </a:solidFill>
              </a:rPr>
              <a:t>4.</a:t>
            </a:r>
            <a:r>
              <a:rPr lang="en" sz="1200" b="1">
                <a:solidFill>
                  <a:schemeClr val="dk1"/>
                </a:solidFill>
                <a:uFill>
                  <a:noFill/>
                </a:uFill>
                <a:hlinkClick r:id="rId3">
                  <a:extLst>
                    <a:ext uri="{A12FA001-AC4F-418D-AE19-62706E023703}">
                      <ahyp:hlinkClr xmlns:ahyp="http://schemas.microsoft.com/office/drawing/2018/hyperlinkcolor" val="tx"/>
                    </a:ext>
                  </a:extLst>
                </a:hlinkClick>
              </a:rPr>
              <a:t> PHP</a:t>
            </a:r>
            <a:endParaRPr sz="1200" b="1">
              <a:solidFill>
                <a:schemeClr val="dk1"/>
              </a:solidFill>
            </a:endParaRPr>
          </a:p>
          <a:p>
            <a:pPr marL="0" lvl="0" indent="0" algn="l" rtl="0">
              <a:spcBef>
                <a:spcPts val="1200"/>
              </a:spcBef>
              <a:spcAft>
                <a:spcPts val="0"/>
              </a:spcAft>
              <a:buClr>
                <a:schemeClr val="dk1"/>
              </a:buClr>
              <a:buSzPts val="1100"/>
              <a:buFont typeface="Arial"/>
              <a:buNone/>
            </a:pPr>
            <a:r>
              <a:rPr lang="en" sz="1200">
                <a:solidFill>
                  <a:schemeClr val="dk1"/>
                </a:solidFill>
              </a:rPr>
              <a:t>PHP is an open-source server-side scripting language. PHP code is executed on the server so you need a web browser to execute PHP code. Major companies including Facebook, WordPress, Twitpic, Flickr, and Imgur are part of the PHP alumni.</a:t>
            </a:r>
            <a:endParaRPr sz="1200">
              <a:solidFill>
                <a:schemeClr val="dk1"/>
              </a:solidFill>
            </a:endParaRPr>
          </a:p>
          <a:p>
            <a:pPr marL="0" lvl="0" indent="0" algn="just" rtl="0">
              <a:spcBef>
                <a:spcPts val="1200"/>
              </a:spcBef>
              <a:spcAft>
                <a:spcPts val="0"/>
              </a:spcAft>
              <a:buClr>
                <a:schemeClr val="dk1"/>
              </a:buClr>
              <a:buSzPts val="1100"/>
              <a:buFont typeface="Arial"/>
              <a:buNone/>
            </a:pPr>
            <a:r>
              <a:rPr lang="en" sz="1200" b="1">
                <a:solidFill>
                  <a:schemeClr val="dk1"/>
                </a:solidFill>
              </a:rPr>
              <a:t>Features of PHP:</a:t>
            </a:r>
            <a:endParaRPr sz="1200" b="1">
              <a:solidFill>
                <a:schemeClr val="dk1"/>
              </a:solidFill>
            </a:endParaRPr>
          </a:p>
          <a:p>
            <a:pPr marL="457200" lvl="0" indent="-304800" algn="just" rtl="0">
              <a:spcBef>
                <a:spcPts val="1200"/>
              </a:spcBef>
              <a:spcAft>
                <a:spcPts val="0"/>
              </a:spcAft>
              <a:buClr>
                <a:schemeClr val="dk1"/>
              </a:buClr>
              <a:buSzPts val="1200"/>
              <a:buChar char="●"/>
            </a:pPr>
            <a:r>
              <a:rPr lang="en" sz="1200" b="1">
                <a:solidFill>
                  <a:schemeClr val="dk1"/>
                </a:solidFill>
              </a:rPr>
              <a:t>Simple and Easy: </a:t>
            </a:r>
            <a:r>
              <a:rPr lang="en" sz="1200">
                <a:solidFill>
                  <a:schemeClr val="dk1"/>
                </a:solidFill>
              </a:rPr>
              <a:t>PHP is simple and easy to understand language as compared to other scripting languages.</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Does not have any rules: </a:t>
            </a:r>
            <a:r>
              <a:rPr lang="en" sz="1200">
                <a:solidFill>
                  <a:schemeClr val="dk1"/>
                </a:solidFill>
              </a:rPr>
              <a:t>PHP doesn’t have rules like compiled languages or strict standards as seen with Python, but rather guidelines available from the developer community.</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Host’s webpages through AWS: </a:t>
            </a:r>
            <a:r>
              <a:rPr lang="en" sz="1200">
                <a:solidFill>
                  <a:schemeClr val="dk1"/>
                </a:solidFill>
              </a:rPr>
              <a:t>Elastic Beanstalk for PHP is available for developing or hosting a web application using PHP.</a:t>
            </a:r>
            <a:endParaRPr sz="1200">
              <a:solidFill>
                <a:schemeClr val="dk1"/>
              </a:solidFill>
            </a:endParaRPr>
          </a:p>
          <a:p>
            <a:pPr marL="0" lvl="0" indent="0" algn="just" rtl="0">
              <a:spcBef>
                <a:spcPts val="1200"/>
              </a:spcBef>
              <a:spcAft>
                <a:spcPts val="0"/>
              </a:spcAft>
              <a:buClr>
                <a:schemeClr val="dk1"/>
              </a:buClr>
              <a:buSzPts val="1100"/>
              <a:buFont typeface="Arial"/>
              <a:buNone/>
            </a:pPr>
            <a:r>
              <a:rPr lang="en" sz="1200">
                <a:solidFill>
                  <a:schemeClr val="dk1"/>
                </a:solidFill>
              </a:rPr>
              <a:t>The  PHP SDK is a modern, open-source PHP library that makes it easy to integrate your PHP application with AWS services like Amazon S3, Amazon Glacier, and Amazon DynamoDB.</a:t>
            </a:r>
            <a:endParaRPr sz="12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6"/>
          <p:cNvSpPr txBox="1">
            <a:spLocks noGrp="1"/>
          </p:cNvSpPr>
          <p:nvPr>
            <p:ph type="body" idx="1"/>
          </p:nvPr>
        </p:nvSpPr>
        <p:spPr>
          <a:xfrm>
            <a:off x="311700" y="880525"/>
            <a:ext cx="8520600" cy="3688200"/>
          </a:xfrm>
          <a:prstGeom prst="rect">
            <a:avLst/>
          </a:prstGeom>
        </p:spPr>
        <p:txBody>
          <a:bodyPr spcFirstLastPara="1" wrap="square" lIns="91425" tIns="91425" rIns="91425" bIns="91425" anchor="t" anchorCtr="0">
            <a:normAutofit/>
          </a:bodyPr>
          <a:lstStyle/>
          <a:p>
            <a:pPr marL="0" lvl="0" indent="0" algn="just" rtl="0">
              <a:spcBef>
                <a:spcPts val="1400"/>
              </a:spcBef>
              <a:spcAft>
                <a:spcPts val="0"/>
              </a:spcAft>
              <a:buNone/>
            </a:pPr>
            <a:r>
              <a:rPr lang="en" sz="1400" b="1">
                <a:solidFill>
                  <a:schemeClr val="dk1"/>
                </a:solidFill>
              </a:rPr>
              <a:t>5.</a:t>
            </a:r>
            <a:r>
              <a:rPr lang="en" sz="1400" b="1">
                <a:solidFill>
                  <a:schemeClr val="dk1"/>
                </a:solidFill>
                <a:uFill>
                  <a:noFill/>
                </a:uFill>
                <a:hlinkClick r:id="rId3">
                  <a:extLst>
                    <a:ext uri="{A12FA001-AC4F-418D-AE19-62706E023703}">
                      <ahyp:hlinkClr xmlns:ahyp="http://schemas.microsoft.com/office/drawing/2018/hyperlinkcolor" val="tx"/>
                    </a:ext>
                  </a:extLst>
                </a:hlinkClick>
              </a:rPr>
              <a:t> Node.js</a:t>
            </a:r>
            <a:endParaRPr sz="1400" b="1">
              <a:solidFill>
                <a:schemeClr val="dk1"/>
              </a:solidFill>
            </a:endParaRPr>
          </a:p>
          <a:p>
            <a:pPr marL="0" lvl="0" indent="0" algn="l" rtl="0">
              <a:spcBef>
                <a:spcPts val="1200"/>
              </a:spcBef>
              <a:spcAft>
                <a:spcPts val="0"/>
              </a:spcAft>
              <a:buNone/>
            </a:pPr>
            <a:r>
              <a:rPr lang="en" sz="1200">
                <a:solidFill>
                  <a:schemeClr val="dk1"/>
                </a:solidFill>
              </a:rPr>
              <a:t>Node.js is the newest entry to the list of languages supported by AWS. Node.js applications are written in JavaScript and can be run within the Node.js runtime on OS X, Microsoft Windows, and Linux. Leaders such as Yahoo and LinkedIn have implemented portions of their applications on Node.js.</a:t>
            </a:r>
            <a:endParaRPr sz="1200">
              <a:solidFill>
                <a:schemeClr val="dk1"/>
              </a:solidFill>
            </a:endParaRPr>
          </a:p>
          <a:p>
            <a:pPr marL="0" lvl="0" indent="0" algn="just" rtl="0">
              <a:spcBef>
                <a:spcPts val="1200"/>
              </a:spcBef>
              <a:spcAft>
                <a:spcPts val="0"/>
              </a:spcAft>
              <a:buNone/>
            </a:pPr>
            <a:r>
              <a:rPr lang="en" sz="1200" b="1">
                <a:solidFill>
                  <a:schemeClr val="dk1"/>
                </a:solidFill>
              </a:rPr>
              <a:t>Why Node.js?</a:t>
            </a:r>
            <a:endParaRPr sz="1200" b="1">
              <a:solidFill>
                <a:schemeClr val="dk1"/>
              </a:solidFill>
            </a:endParaRPr>
          </a:p>
          <a:p>
            <a:pPr marL="457200" lvl="0" indent="-304800" algn="just" rtl="0">
              <a:spcBef>
                <a:spcPts val="1200"/>
              </a:spcBef>
              <a:spcAft>
                <a:spcPts val="0"/>
              </a:spcAft>
              <a:buClr>
                <a:schemeClr val="dk1"/>
              </a:buClr>
              <a:buSzPts val="1200"/>
              <a:buChar char="●"/>
            </a:pPr>
            <a:r>
              <a:rPr lang="en" sz="1200" b="1">
                <a:solidFill>
                  <a:schemeClr val="dk1"/>
                </a:solidFill>
              </a:rPr>
              <a:t>Modules: </a:t>
            </a:r>
            <a:r>
              <a:rPr lang="en" sz="1200">
                <a:solidFill>
                  <a:schemeClr val="dk1"/>
                </a:solidFill>
              </a:rPr>
              <a:t>There are various modules to help developers with their applications in a lot of different ways.</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Better spinup time: </a:t>
            </a:r>
            <a:r>
              <a:rPr lang="en" sz="1200">
                <a:solidFill>
                  <a:schemeClr val="dk1"/>
                </a:solidFill>
              </a:rPr>
              <a:t>Node.js has better spin-up time than C# or Java which makes it a better option for client-facing applications.</a:t>
            </a:r>
            <a:endParaRPr sz="1200">
              <a:solidFill>
                <a:schemeClr val="dk1"/>
              </a:solidFill>
            </a:endParaRPr>
          </a:p>
          <a:p>
            <a:pPr marL="457200" lvl="0" indent="-304800" algn="just" rtl="0">
              <a:spcBef>
                <a:spcPts val="0"/>
              </a:spcBef>
              <a:spcAft>
                <a:spcPts val="0"/>
              </a:spcAft>
              <a:buClr>
                <a:schemeClr val="dk1"/>
              </a:buClr>
              <a:buSzPts val="1200"/>
              <a:buChar char="●"/>
            </a:pPr>
            <a:r>
              <a:rPr lang="en" sz="1200" b="1">
                <a:solidFill>
                  <a:schemeClr val="dk1"/>
                </a:solidFill>
              </a:rPr>
              <a:t>No Buffer:</a:t>
            </a:r>
            <a:r>
              <a:rPr lang="en" sz="1200">
                <a:solidFill>
                  <a:schemeClr val="dk1"/>
                </a:solidFill>
              </a:rPr>
              <a:t> Node.js never buffer any data of its applications</a:t>
            </a:r>
            <a:endParaRPr sz="1200">
              <a:solidFill>
                <a:schemeClr val="dk1"/>
              </a:solidFill>
            </a:endParaRPr>
          </a:p>
          <a:p>
            <a:pPr marL="0" lvl="0" indent="0" algn="just" rtl="0">
              <a:spcBef>
                <a:spcPts val="1200"/>
              </a:spcBef>
              <a:spcAft>
                <a:spcPts val="0"/>
              </a:spcAft>
              <a:buNone/>
            </a:pPr>
            <a:r>
              <a:rPr lang="en" sz="1200">
                <a:solidFill>
                  <a:schemeClr val="dk1"/>
                </a:solidFill>
              </a:rPr>
              <a:t>The  Node.js SDK helps take the complexity out of coding by providing JavaScript objects for AWS services including Amazon S3, Amazon EC2, DynamoDB, and Amazon SWF.</a:t>
            </a:r>
            <a:endParaRPr sz="1200">
              <a:solidFill>
                <a:schemeClr val="dk1"/>
              </a:solidFill>
            </a:endParaRPr>
          </a:p>
          <a:p>
            <a:pPr marL="0" lvl="0" indent="0" algn="just" rtl="0">
              <a:spcBef>
                <a:spcPts val="1200"/>
              </a:spcBef>
              <a:spcAft>
                <a:spcPts val="0"/>
              </a:spcAft>
              <a:buClr>
                <a:schemeClr val="dk1"/>
              </a:buClr>
              <a:buSzPts val="1100"/>
              <a:buFont typeface="Arial"/>
              <a:buNone/>
            </a:pPr>
            <a:endParaRPr sz="1300" b="1">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04123" y="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b="1" dirty="0"/>
              <a:t>Study of Cloud Tools and Platforms</a:t>
            </a:r>
            <a:endParaRPr b="1" dirty="0"/>
          </a:p>
        </p:txBody>
      </p:sp>
    </p:spTree>
    <p:extLst>
      <p:ext uri="{BB962C8B-B14F-4D97-AF65-F5344CB8AC3E}">
        <p14:creationId xmlns:p14="http://schemas.microsoft.com/office/powerpoint/2010/main" val="38854039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Insights about Cloud Computing Architecture</a:t>
            </a:r>
            <a:endParaRPr/>
          </a:p>
        </p:txBody>
      </p:sp>
      <p:sp>
        <p:nvSpPr>
          <p:cNvPr id="192" name="Google Shape;192;p36"/>
          <p:cNvSpPr txBox="1">
            <a:spLocks noGrp="1"/>
          </p:cNvSpPr>
          <p:nvPr>
            <p:ph type="body" idx="1"/>
          </p:nvPr>
        </p:nvSpPr>
        <p:spPr>
          <a:xfrm>
            <a:off x="311700" y="1152475"/>
            <a:ext cx="8520600" cy="37521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Char char="●"/>
            </a:pPr>
            <a:r>
              <a:rPr lang="en" sz="1600">
                <a:solidFill>
                  <a:schemeClr val="dk1"/>
                </a:solidFill>
                <a:highlight>
                  <a:srgbClr val="FFFFFF"/>
                </a:highlight>
              </a:rPr>
              <a:t>Cloud Architecture refers to the various components in terms of </a:t>
            </a:r>
            <a:r>
              <a:rPr lang="en" sz="1600" b="1">
                <a:solidFill>
                  <a:schemeClr val="dk1"/>
                </a:solidFill>
                <a:highlight>
                  <a:srgbClr val="FFFFFF"/>
                </a:highlight>
              </a:rPr>
              <a:t>databases, software capabilities, applications, etc. </a:t>
            </a:r>
            <a:r>
              <a:rPr lang="en" sz="1600">
                <a:solidFill>
                  <a:schemeClr val="dk1"/>
                </a:solidFill>
                <a:highlight>
                  <a:srgbClr val="FFFFFF"/>
                </a:highlight>
              </a:rPr>
              <a:t>which is used by companies of all sizes for leveraging the power of cloud resources to solve all kinds of business problems. </a:t>
            </a:r>
            <a:endParaRPr sz="1600">
              <a:solidFill>
                <a:schemeClr val="dk1"/>
              </a:solidFill>
              <a:highlight>
                <a:srgbClr val="FFFFFF"/>
              </a:highlight>
            </a:endParaRPr>
          </a:p>
          <a:p>
            <a:pPr marL="457200" lvl="0" indent="-330200" algn="l" rtl="0">
              <a:spcBef>
                <a:spcPts val="0"/>
              </a:spcBef>
              <a:spcAft>
                <a:spcPts val="0"/>
              </a:spcAft>
              <a:buClr>
                <a:schemeClr val="dk1"/>
              </a:buClr>
              <a:buSzPts val="1600"/>
              <a:buChar char="●"/>
            </a:pPr>
            <a:r>
              <a:rPr lang="en" sz="1600">
                <a:solidFill>
                  <a:schemeClr val="dk1"/>
                </a:solidFill>
                <a:highlight>
                  <a:srgbClr val="FFFFFF"/>
                </a:highlight>
              </a:rPr>
              <a:t>Even at home, we use cloud technologies for various daily activities. From Microsoft Office 365, Google Docs, and Spotify, these services are provided to us through cloud infrastructure.</a:t>
            </a:r>
            <a:endParaRPr sz="1600">
              <a:solidFill>
                <a:schemeClr val="dk1"/>
              </a:solidFill>
              <a:highlight>
                <a:srgbClr val="FFFFFF"/>
              </a:highlight>
            </a:endParaRPr>
          </a:p>
          <a:p>
            <a:pPr marL="457200" lvl="0" indent="-330200" algn="l" rtl="0">
              <a:spcBef>
                <a:spcPts val="0"/>
              </a:spcBef>
              <a:spcAft>
                <a:spcPts val="0"/>
              </a:spcAft>
              <a:buClr>
                <a:schemeClr val="dk1"/>
              </a:buClr>
              <a:buSzPts val="1600"/>
              <a:buChar char="●"/>
            </a:pPr>
            <a:r>
              <a:rPr lang="en" sz="1600">
                <a:solidFill>
                  <a:schemeClr val="dk1"/>
                </a:solidFill>
                <a:highlight>
                  <a:srgbClr val="FFFFFF"/>
                </a:highlight>
              </a:rPr>
              <a:t>The entire cloud architecture is aimed at providing the users with </a:t>
            </a:r>
            <a:r>
              <a:rPr lang="en" sz="1600" b="1">
                <a:solidFill>
                  <a:schemeClr val="dk1"/>
                </a:solidFill>
                <a:highlight>
                  <a:srgbClr val="FFFFFF"/>
                </a:highlight>
              </a:rPr>
              <a:t>high bandwidth</a:t>
            </a:r>
            <a:r>
              <a:rPr lang="en" sz="1600">
                <a:solidFill>
                  <a:schemeClr val="dk1"/>
                </a:solidFill>
                <a:highlight>
                  <a:srgbClr val="FFFFFF"/>
                </a:highlight>
              </a:rPr>
              <a:t>, allowing users to have </a:t>
            </a:r>
            <a:r>
              <a:rPr lang="en" sz="1600" b="1">
                <a:solidFill>
                  <a:schemeClr val="dk1"/>
                </a:solidFill>
                <a:highlight>
                  <a:srgbClr val="FFFFFF"/>
                </a:highlight>
              </a:rPr>
              <a:t>uninterrupted access</a:t>
            </a:r>
            <a:r>
              <a:rPr lang="en" sz="1600">
                <a:solidFill>
                  <a:schemeClr val="dk1"/>
                </a:solidFill>
                <a:highlight>
                  <a:srgbClr val="FFFFFF"/>
                </a:highlight>
              </a:rPr>
              <a:t> to data and applications, </a:t>
            </a:r>
            <a:r>
              <a:rPr lang="en" sz="1600" b="1">
                <a:solidFill>
                  <a:schemeClr val="dk1"/>
                </a:solidFill>
                <a:highlight>
                  <a:srgbClr val="FFFFFF"/>
                </a:highlight>
              </a:rPr>
              <a:t>on-demand agile network</a:t>
            </a:r>
            <a:r>
              <a:rPr lang="en" sz="1600">
                <a:solidFill>
                  <a:schemeClr val="dk1"/>
                </a:solidFill>
                <a:highlight>
                  <a:srgbClr val="FFFFFF"/>
                </a:highlight>
              </a:rPr>
              <a:t> with possibility to move quickly and </a:t>
            </a:r>
            <a:r>
              <a:rPr lang="en" sz="1600" b="1">
                <a:solidFill>
                  <a:schemeClr val="dk1"/>
                </a:solidFill>
                <a:highlight>
                  <a:srgbClr val="FFFFFF"/>
                </a:highlight>
              </a:rPr>
              <a:t>efficiently</a:t>
            </a:r>
            <a:r>
              <a:rPr lang="en" sz="1600">
                <a:solidFill>
                  <a:schemeClr val="dk1"/>
                </a:solidFill>
                <a:highlight>
                  <a:srgbClr val="FFFFFF"/>
                </a:highlight>
              </a:rPr>
              <a:t> between servers or even between clouds and most importantly network security</a:t>
            </a:r>
            <a:endParaRPr sz="1600">
              <a:solidFill>
                <a:schemeClr val="dk1"/>
              </a:solidFill>
              <a:highlight>
                <a:srgbClr val="FFFFFF"/>
              </a:highlight>
            </a:endParaRPr>
          </a:p>
          <a:p>
            <a:pPr marL="0" lvl="0" indent="0" algn="l" rtl="0">
              <a:spcBef>
                <a:spcPts val="0"/>
              </a:spcBef>
              <a:spcAft>
                <a:spcPts val="1200"/>
              </a:spcAft>
              <a:buNone/>
            </a:pPr>
            <a:endParaRPr sz="2300">
              <a:solidFill>
                <a:schemeClr val="dk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7"/>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Principles of Cloud Computing Architecture Design</a:t>
            </a:r>
            <a:endParaRPr/>
          </a:p>
        </p:txBody>
      </p:sp>
      <p:sp>
        <p:nvSpPr>
          <p:cNvPr id="198" name="Google Shape;198;p37"/>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50">
                <a:solidFill>
                  <a:srgbClr val="253858"/>
                </a:solidFill>
                <a:highlight>
                  <a:srgbClr val="FFFFFF"/>
                </a:highlight>
              </a:rPr>
              <a:t>A complete cloud computing architecture design is also a step-by-step process that begins with collecting requirements and analysis, designing the architecture based on the requirements analysis, evaluating improvements and delivering implementation, and then achieving continuous operations.</a:t>
            </a:r>
            <a:endParaRPr sz="1350">
              <a:solidFill>
                <a:srgbClr val="253858"/>
              </a:solidFill>
              <a:highlight>
                <a:srgbClr val="FFFFFF"/>
              </a:highlight>
            </a:endParaRPr>
          </a:p>
          <a:p>
            <a:pPr marL="0" lvl="0" indent="0" algn="l" rtl="0">
              <a:spcBef>
                <a:spcPts val="1200"/>
              </a:spcBef>
              <a:spcAft>
                <a:spcPts val="0"/>
              </a:spcAft>
              <a:buNone/>
            </a:pPr>
            <a:r>
              <a:rPr lang="en" sz="1350">
                <a:solidFill>
                  <a:srgbClr val="253858"/>
                </a:solidFill>
                <a:highlight>
                  <a:srgbClr val="FFFFFF"/>
                </a:highlight>
              </a:rPr>
              <a:t>To proceed with architecture design based on Cloud Computing, all technical solutions should follow certain principles, which is the target to be hit in architecture design. </a:t>
            </a:r>
            <a:endParaRPr sz="1350">
              <a:solidFill>
                <a:srgbClr val="253858"/>
              </a:solidFill>
              <a:highlight>
                <a:srgbClr val="FFFFFF"/>
              </a:highlight>
            </a:endParaRPr>
          </a:p>
          <a:p>
            <a:pPr marL="0" lvl="0" indent="0" algn="l" rtl="0">
              <a:spcBef>
                <a:spcPts val="1200"/>
              </a:spcBef>
              <a:spcAft>
                <a:spcPts val="1200"/>
              </a:spcAft>
              <a:buNone/>
            </a:pPr>
            <a:r>
              <a:rPr lang="en" sz="1350">
                <a:solidFill>
                  <a:srgbClr val="253858"/>
                </a:solidFill>
                <a:highlight>
                  <a:srgbClr val="FFFFFF"/>
                </a:highlight>
              </a:rPr>
              <a:t>There are 6 principles of cloud computing architecture design, including reasonable </a:t>
            </a:r>
            <a:r>
              <a:rPr lang="en" sz="1350" b="1">
                <a:solidFill>
                  <a:srgbClr val="253858"/>
                </a:solidFill>
                <a:highlight>
                  <a:srgbClr val="FFFFFF"/>
                </a:highlight>
              </a:rPr>
              <a:t>deployment, business continuity, elastic expansion, performance efficiency, security compliance, and continuous operation</a:t>
            </a:r>
            <a:r>
              <a:rPr lang="en" sz="1350">
                <a:solidFill>
                  <a:srgbClr val="253858"/>
                </a:solidFill>
                <a:highlight>
                  <a:srgbClr val="FFFFFF"/>
                </a:highlight>
              </a:rPr>
              <a:t>.</a:t>
            </a:r>
            <a:endParaRPr sz="1350">
              <a:solidFill>
                <a:srgbClr val="253858"/>
              </a:solidFill>
              <a:highlight>
                <a:srgbClr val="FFFFFF"/>
              </a:highligh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8"/>
          <p:cNvSpPr txBox="1">
            <a:spLocks noGrp="1"/>
          </p:cNvSpPr>
          <p:nvPr>
            <p:ph type="body" idx="1"/>
          </p:nvPr>
        </p:nvSpPr>
        <p:spPr>
          <a:xfrm>
            <a:off x="311700" y="466675"/>
            <a:ext cx="8520600" cy="3416400"/>
          </a:xfrm>
          <a:prstGeom prst="rect">
            <a:avLst/>
          </a:prstGeom>
        </p:spPr>
        <p:txBody>
          <a:bodyPr spcFirstLastPara="1" wrap="square" lIns="91425" tIns="91425" rIns="91425" bIns="91425" anchor="t" anchorCtr="0">
            <a:normAutofit/>
          </a:bodyPr>
          <a:lstStyle/>
          <a:p>
            <a:pPr marL="0" lvl="0" indent="0" algn="l" rtl="0">
              <a:lnSpc>
                <a:spcPct val="110000"/>
              </a:lnSpc>
              <a:spcBef>
                <a:spcPts val="1500"/>
              </a:spcBef>
              <a:spcAft>
                <a:spcPts val="0"/>
              </a:spcAft>
              <a:buNone/>
            </a:pPr>
            <a:r>
              <a:rPr lang="en" sz="1350" b="1">
                <a:solidFill>
                  <a:srgbClr val="337FE5"/>
                </a:solidFill>
                <a:highlight>
                  <a:srgbClr val="FFFFFF"/>
                </a:highlight>
              </a:rPr>
              <a:t>Principle 1: Reasonable Deployment</a:t>
            </a:r>
            <a:endParaRPr sz="1350" b="1">
              <a:solidFill>
                <a:srgbClr val="337FE5"/>
              </a:solidFill>
              <a:highlight>
                <a:srgbClr val="FFFFFF"/>
              </a:highlight>
            </a:endParaRPr>
          </a:p>
          <a:p>
            <a:pPr marL="457200" lvl="0" indent="-307975" algn="l" rtl="0">
              <a:spcBef>
                <a:spcPts val="80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The deployment of business systems on the public cloud includes the cloud hosts in the form of virtual machines and physical cloud hosts with </a:t>
            </a:r>
            <a:r>
              <a:rPr lang="en" sz="1250" b="1">
                <a:solidFill>
                  <a:srgbClr val="253858"/>
                </a:solidFill>
                <a:highlight>
                  <a:srgbClr val="FFFFFF"/>
                </a:highlight>
                <a:latin typeface="Montserrat"/>
                <a:ea typeface="Montserrat"/>
                <a:cs typeface="Montserrat"/>
                <a:sym typeface="Montserrat"/>
              </a:rPr>
              <a:t>higher performance</a:t>
            </a:r>
            <a:r>
              <a:rPr lang="en" sz="1250">
                <a:solidFill>
                  <a:srgbClr val="253858"/>
                </a:solidFill>
                <a:highlight>
                  <a:srgbClr val="FFFFFF"/>
                </a:highlight>
                <a:latin typeface="Montserrat"/>
                <a:ea typeface="Montserrat"/>
                <a:cs typeface="Montserrat"/>
                <a:sym typeface="Montserrat"/>
              </a:rPr>
              <a:t>. Hosting services include hosted applications and hosted physical servers.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The cloud computing </a:t>
            </a:r>
            <a:r>
              <a:rPr lang="en" sz="1250" b="1">
                <a:solidFill>
                  <a:srgbClr val="253858"/>
                </a:solidFill>
                <a:highlight>
                  <a:srgbClr val="FFFFFF"/>
                </a:highlight>
                <a:latin typeface="Montserrat"/>
                <a:ea typeface="Montserrat"/>
                <a:cs typeface="Montserrat"/>
                <a:sym typeface="Montserrat"/>
              </a:rPr>
              <a:t>operating system </a:t>
            </a:r>
            <a:r>
              <a:rPr lang="en" sz="1250">
                <a:solidFill>
                  <a:srgbClr val="253858"/>
                </a:solidFill>
                <a:highlight>
                  <a:srgbClr val="FFFFFF"/>
                </a:highlight>
                <a:latin typeface="Montserrat"/>
                <a:ea typeface="Montserrat"/>
                <a:cs typeface="Montserrat"/>
                <a:sym typeface="Montserrat"/>
              </a:rPr>
              <a:t>is extracted and packaged as </a:t>
            </a:r>
            <a:r>
              <a:rPr lang="en" sz="1250" b="1">
                <a:solidFill>
                  <a:srgbClr val="253858"/>
                </a:solidFill>
                <a:highlight>
                  <a:srgbClr val="FFFFFF"/>
                </a:highlight>
                <a:latin typeface="Montserrat"/>
                <a:ea typeface="Montserrat"/>
                <a:cs typeface="Montserrat"/>
                <a:sym typeface="Montserrat"/>
              </a:rPr>
              <a:t>independent software </a:t>
            </a:r>
            <a:r>
              <a:rPr lang="en" sz="1250">
                <a:solidFill>
                  <a:srgbClr val="253858"/>
                </a:solidFill>
                <a:highlight>
                  <a:srgbClr val="FFFFFF"/>
                </a:highlight>
                <a:latin typeface="Montserrat"/>
                <a:ea typeface="Montserrat"/>
                <a:cs typeface="Montserrat"/>
                <a:sym typeface="Montserrat"/>
              </a:rPr>
              <a:t>and services to be deployed in the user's private environment. Unlike public clouds, which are available to "any" user, private deployments are only available to a select few users.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Hybrid architecture enables </a:t>
            </a:r>
            <a:r>
              <a:rPr lang="en" sz="1250" b="1">
                <a:solidFill>
                  <a:srgbClr val="253858"/>
                </a:solidFill>
                <a:highlight>
                  <a:srgbClr val="FFFFFF"/>
                </a:highlight>
                <a:latin typeface="Montserrat"/>
                <a:ea typeface="Montserrat"/>
                <a:cs typeface="Montserrat"/>
                <a:sym typeface="Montserrat"/>
              </a:rPr>
              <a:t>unified management and scheduling of resources</a:t>
            </a:r>
            <a:r>
              <a:rPr lang="en" sz="1250">
                <a:solidFill>
                  <a:srgbClr val="253858"/>
                </a:solidFill>
                <a:highlight>
                  <a:srgbClr val="FFFFFF"/>
                </a:highlight>
                <a:latin typeface="Montserrat"/>
                <a:ea typeface="Montserrat"/>
                <a:cs typeface="Montserrat"/>
                <a:sym typeface="Montserrat"/>
              </a:rPr>
              <a:t> for public cloud and privatized deployed platforms, traditional VMware, OpenStack virtualization platforms or physical servers. </a:t>
            </a:r>
            <a:endParaRPr sz="1250">
              <a:solidFill>
                <a:srgbClr val="253858"/>
              </a:solidFill>
              <a:highlight>
                <a:srgbClr val="FFFFFF"/>
              </a:highlight>
              <a:latin typeface="Montserrat"/>
              <a:ea typeface="Montserrat"/>
              <a:cs typeface="Montserrat"/>
              <a:sym typeface="Montserrat"/>
            </a:endParaRPr>
          </a:p>
        </p:txBody>
      </p:sp>
      <p:pic>
        <p:nvPicPr>
          <p:cNvPr id="204" name="Google Shape;204;p38"/>
          <p:cNvPicPr preferRelativeResize="0"/>
          <p:nvPr/>
        </p:nvPicPr>
        <p:blipFill>
          <a:blip r:embed="rId3">
            <a:alphaModFix/>
          </a:blip>
          <a:stretch>
            <a:fillRect/>
          </a:stretch>
        </p:blipFill>
        <p:spPr>
          <a:xfrm>
            <a:off x="6380025" y="3356275"/>
            <a:ext cx="2763974" cy="16729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9"/>
          <p:cNvSpPr txBox="1">
            <a:spLocks noGrp="1"/>
          </p:cNvSpPr>
          <p:nvPr>
            <p:ph type="body" idx="1"/>
          </p:nvPr>
        </p:nvSpPr>
        <p:spPr>
          <a:xfrm>
            <a:off x="311700" y="466675"/>
            <a:ext cx="8520600" cy="3416400"/>
          </a:xfrm>
          <a:prstGeom prst="rect">
            <a:avLst/>
          </a:prstGeom>
        </p:spPr>
        <p:txBody>
          <a:bodyPr spcFirstLastPara="1" wrap="square" lIns="91425" tIns="91425" rIns="91425" bIns="91425" anchor="t" anchorCtr="0">
            <a:normAutofit/>
          </a:bodyPr>
          <a:lstStyle/>
          <a:p>
            <a:pPr marL="0" lvl="0" indent="0" algn="l" rtl="0">
              <a:lnSpc>
                <a:spcPct val="110000"/>
              </a:lnSpc>
              <a:spcBef>
                <a:spcPts val="1500"/>
              </a:spcBef>
              <a:spcAft>
                <a:spcPts val="0"/>
              </a:spcAft>
              <a:buClr>
                <a:schemeClr val="dk1"/>
              </a:buClr>
              <a:buSzPts val="1100"/>
              <a:buFont typeface="Arial"/>
              <a:buNone/>
            </a:pPr>
            <a:r>
              <a:rPr lang="en" sz="1350" b="1">
                <a:solidFill>
                  <a:srgbClr val="337FE5"/>
                </a:solidFill>
                <a:highlight>
                  <a:srgbClr val="FFFFFF"/>
                </a:highlight>
              </a:rPr>
              <a:t>Principle 2: Business Continuity</a:t>
            </a:r>
            <a:endParaRPr sz="1350" b="1">
              <a:solidFill>
                <a:srgbClr val="337FE5"/>
              </a:solidFill>
              <a:highlight>
                <a:srgbClr val="FFFFFF"/>
              </a:highlight>
            </a:endParaRPr>
          </a:p>
          <a:p>
            <a:pPr marL="0" lvl="0" indent="0" algn="l" rtl="0">
              <a:spcBef>
                <a:spcPts val="800"/>
              </a:spcBef>
              <a:spcAft>
                <a:spcPts val="0"/>
              </a:spcAft>
              <a:buNone/>
            </a:pPr>
            <a:r>
              <a:rPr lang="en" sz="1250">
                <a:solidFill>
                  <a:srgbClr val="253858"/>
                </a:solidFill>
                <a:highlight>
                  <a:srgbClr val="FFFFFF"/>
                </a:highlight>
                <a:latin typeface="Montserrat"/>
                <a:ea typeface="Montserrat"/>
                <a:cs typeface="Montserrat"/>
                <a:sym typeface="Montserrat"/>
              </a:rPr>
              <a:t>Business continuity mainly refers to the 3 aspects of </a:t>
            </a:r>
            <a:r>
              <a:rPr lang="en" sz="1250" b="1">
                <a:solidFill>
                  <a:srgbClr val="253858"/>
                </a:solidFill>
                <a:highlight>
                  <a:srgbClr val="FFFFFF"/>
                </a:highlight>
                <a:latin typeface="Montserrat"/>
                <a:ea typeface="Montserrat"/>
                <a:cs typeface="Montserrat"/>
                <a:sym typeface="Montserrat"/>
              </a:rPr>
              <a:t>high availability, continuous operations, and disaster recovery </a:t>
            </a:r>
            <a:r>
              <a:rPr lang="en" sz="1250">
                <a:solidFill>
                  <a:srgbClr val="253858"/>
                </a:solidFill>
                <a:highlight>
                  <a:srgbClr val="FFFFFF"/>
                </a:highlight>
                <a:latin typeface="Montserrat"/>
                <a:ea typeface="Montserrat"/>
                <a:cs typeface="Montserrat"/>
                <a:sym typeface="Montserrat"/>
              </a:rPr>
              <a:t>and the design pattern is developed according to this logic.</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800"/>
              </a:spcBef>
              <a:spcAft>
                <a:spcPts val="0"/>
              </a:spcAft>
              <a:buClr>
                <a:srgbClr val="253858"/>
              </a:buClr>
              <a:buSzPts val="1250"/>
              <a:buFont typeface="Montserrat"/>
              <a:buChar char="●"/>
            </a:pPr>
            <a:r>
              <a:rPr lang="en" sz="1250" b="1">
                <a:solidFill>
                  <a:srgbClr val="253858"/>
                </a:solidFill>
                <a:highlight>
                  <a:srgbClr val="FFFFFF"/>
                </a:highlight>
                <a:latin typeface="Montserrat"/>
                <a:ea typeface="Montserrat"/>
                <a:cs typeface="Montserrat"/>
                <a:sym typeface="Montserrat"/>
              </a:rPr>
              <a:t>High Availability</a:t>
            </a:r>
            <a:r>
              <a:rPr lang="en" sz="1250">
                <a:solidFill>
                  <a:srgbClr val="253858"/>
                </a:solidFill>
                <a:highlight>
                  <a:srgbClr val="FFFFFF"/>
                </a:highlight>
                <a:latin typeface="Montserrat"/>
                <a:ea typeface="Montserrat"/>
                <a:cs typeface="Montserrat"/>
                <a:sym typeface="Montserrat"/>
              </a:rPr>
              <a:t> refers to avoiding business interruption by redundancy and other designs when the resources running the business fail.</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b="1">
                <a:solidFill>
                  <a:srgbClr val="253858"/>
                </a:solidFill>
                <a:highlight>
                  <a:srgbClr val="FFFFFF"/>
                </a:highlight>
                <a:latin typeface="Montserrat"/>
                <a:ea typeface="Montserrat"/>
                <a:cs typeface="Montserrat"/>
                <a:sym typeface="Montserrat"/>
              </a:rPr>
              <a:t>Continuous Operations</a:t>
            </a:r>
            <a:r>
              <a:rPr lang="en" sz="1250">
                <a:solidFill>
                  <a:srgbClr val="253858"/>
                </a:solidFill>
                <a:highlight>
                  <a:srgbClr val="FFFFFF"/>
                </a:highlight>
                <a:latin typeface="Montserrat"/>
                <a:ea typeface="Montserrat"/>
                <a:cs typeface="Montserrat"/>
                <a:sym typeface="Montserrat"/>
              </a:rPr>
              <a:t> mean that the resources for business operation are fault-free and the business can continuously provide services.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b="1">
                <a:solidFill>
                  <a:srgbClr val="253858"/>
                </a:solidFill>
                <a:highlight>
                  <a:srgbClr val="FFFFFF"/>
                </a:highlight>
                <a:latin typeface="Montserrat"/>
                <a:ea typeface="Montserrat"/>
                <a:cs typeface="Montserrat"/>
                <a:sym typeface="Montserrat"/>
              </a:rPr>
              <a:t>Disaster Recovery</a:t>
            </a:r>
            <a:r>
              <a:rPr lang="en" sz="1250">
                <a:solidFill>
                  <a:srgbClr val="253858"/>
                </a:solidFill>
                <a:highlight>
                  <a:srgbClr val="FFFFFF"/>
                </a:highlight>
                <a:latin typeface="Montserrat"/>
                <a:ea typeface="Montserrat"/>
                <a:cs typeface="Montserrat"/>
                <a:sym typeface="Montserrat"/>
              </a:rPr>
              <a:t> refers to the ability to restore applications and data in different environments when the business operating environment is damaged.</a:t>
            </a:r>
            <a:endParaRPr sz="1250"/>
          </a:p>
        </p:txBody>
      </p:sp>
      <p:pic>
        <p:nvPicPr>
          <p:cNvPr id="210" name="Google Shape;210;p39"/>
          <p:cNvPicPr preferRelativeResize="0"/>
          <p:nvPr/>
        </p:nvPicPr>
        <p:blipFill>
          <a:blip r:embed="rId3">
            <a:alphaModFix/>
          </a:blip>
          <a:stretch>
            <a:fillRect/>
          </a:stretch>
        </p:blipFill>
        <p:spPr>
          <a:xfrm>
            <a:off x="6130625" y="3518000"/>
            <a:ext cx="2913374" cy="16255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40"/>
          <p:cNvSpPr txBox="1">
            <a:spLocks noGrp="1"/>
          </p:cNvSpPr>
          <p:nvPr>
            <p:ph type="body" idx="1"/>
          </p:nvPr>
        </p:nvSpPr>
        <p:spPr>
          <a:xfrm>
            <a:off x="311700" y="466675"/>
            <a:ext cx="8520600" cy="3416400"/>
          </a:xfrm>
          <a:prstGeom prst="rect">
            <a:avLst/>
          </a:prstGeom>
        </p:spPr>
        <p:txBody>
          <a:bodyPr spcFirstLastPara="1" wrap="square" lIns="91425" tIns="91425" rIns="91425" bIns="91425" anchor="t" anchorCtr="0">
            <a:normAutofit fontScale="92500"/>
          </a:bodyPr>
          <a:lstStyle/>
          <a:p>
            <a:pPr marL="0" lvl="0" indent="0" algn="l" rtl="0">
              <a:lnSpc>
                <a:spcPct val="110000"/>
              </a:lnSpc>
              <a:spcBef>
                <a:spcPts val="1500"/>
              </a:spcBef>
              <a:spcAft>
                <a:spcPts val="0"/>
              </a:spcAft>
              <a:buClr>
                <a:schemeClr val="dk1"/>
              </a:buClr>
              <a:buSzPts val="1100"/>
              <a:buFont typeface="Arial"/>
              <a:buNone/>
            </a:pPr>
            <a:r>
              <a:rPr lang="en" sz="1350" b="1">
                <a:solidFill>
                  <a:srgbClr val="337FE5"/>
                </a:solidFill>
                <a:highlight>
                  <a:srgbClr val="FFFFFF"/>
                </a:highlight>
              </a:rPr>
              <a:t>Principle 3: Elastic Expansion</a:t>
            </a:r>
            <a:endParaRPr sz="1350" b="1">
              <a:solidFill>
                <a:srgbClr val="337FE5"/>
              </a:solidFill>
              <a:highlight>
                <a:srgbClr val="FFFFFF"/>
              </a:highlight>
            </a:endParaRPr>
          </a:p>
          <a:p>
            <a:pPr marL="457200" lvl="0" indent="-307975" algn="l" rtl="0">
              <a:spcBef>
                <a:spcPts val="80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Tightly coupled systems are not easy to expand, and it is difficult to troubleshoot problems when software bugs and system failures occur. </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To maintain the elastic expansion of the system, the first step is to decouple the system components, including the decoupling of dynamic data and static data. </a:t>
            </a:r>
            <a:endParaRPr sz="1250">
              <a:solidFill>
                <a:srgbClr val="253858"/>
              </a:solidFill>
              <a:highlight>
                <a:srgbClr val="FFFFFF"/>
              </a:highlight>
              <a:latin typeface="Montserrat"/>
              <a:ea typeface="Montserrat"/>
              <a:cs typeface="Montserrat"/>
              <a:sym typeface="Montserrat"/>
            </a:endParaRPr>
          </a:p>
          <a:p>
            <a:pPr marL="0" lvl="0" indent="0" algn="l" rtl="0">
              <a:spcBef>
                <a:spcPts val="0"/>
              </a:spcBef>
              <a:spcAft>
                <a:spcPts val="0"/>
              </a:spcAft>
              <a:buNone/>
            </a:pPr>
            <a:endParaRPr sz="1250">
              <a:solidFill>
                <a:srgbClr val="253858"/>
              </a:solidFill>
              <a:highlight>
                <a:srgbClr val="FFFFFF"/>
              </a:highlight>
              <a:latin typeface="Montserrat"/>
              <a:ea typeface="Montserrat"/>
              <a:cs typeface="Montserrat"/>
              <a:sym typeface="Montserrat"/>
            </a:endParaRPr>
          </a:p>
          <a:p>
            <a:pPr marL="0" lvl="0" indent="0" algn="l" rtl="0">
              <a:spcBef>
                <a:spcPts val="0"/>
              </a:spcBef>
              <a:spcAft>
                <a:spcPts val="0"/>
              </a:spcAft>
              <a:buNone/>
            </a:pPr>
            <a:r>
              <a:rPr lang="en" sz="1250">
                <a:solidFill>
                  <a:srgbClr val="253858"/>
                </a:solidFill>
                <a:highlight>
                  <a:srgbClr val="FFFFFF"/>
                </a:highlight>
                <a:latin typeface="Montserrat"/>
                <a:ea typeface="Montserrat"/>
                <a:cs typeface="Montserrat"/>
                <a:sym typeface="Montserrat"/>
              </a:rPr>
              <a:t>Component decoupling is a prerequisite for achieving expandability and can be done in the following ways.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80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Remain stateless and store state data in Redis.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Put in load balancing, as expansion and scaling had no effect on the overall business.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Decoupled by message queues or API Gateway. Producers and consumers can be expanded without affecting each other.</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Achieve global load balancing of business. Back-end business can be expanded in a hybrid architecture and multi-cloud environment.</a:t>
            </a:r>
            <a:endParaRPr sz="2000"/>
          </a:p>
        </p:txBody>
      </p:sp>
      <p:pic>
        <p:nvPicPr>
          <p:cNvPr id="216" name="Google Shape;216;p40"/>
          <p:cNvPicPr preferRelativeResize="0"/>
          <p:nvPr/>
        </p:nvPicPr>
        <p:blipFill>
          <a:blip r:embed="rId3">
            <a:alphaModFix/>
          </a:blip>
          <a:stretch>
            <a:fillRect/>
          </a:stretch>
        </p:blipFill>
        <p:spPr>
          <a:xfrm>
            <a:off x="6442900" y="3564075"/>
            <a:ext cx="2653050" cy="15794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1"/>
          <p:cNvSpPr txBox="1">
            <a:spLocks noGrp="1"/>
          </p:cNvSpPr>
          <p:nvPr>
            <p:ph type="body" idx="1"/>
          </p:nvPr>
        </p:nvSpPr>
        <p:spPr>
          <a:xfrm>
            <a:off x="311700" y="466675"/>
            <a:ext cx="8520600" cy="3416400"/>
          </a:xfrm>
          <a:prstGeom prst="rect">
            <a:avLst/>
          </a:prstGeom>
        </p:spPr>
        <p:txBody>
          <a:bodyPr spcFirstLastPara="1" wrap="square" lIns="91425" tIns="91425" rIns="91425" bIns="91425" anchor="t" anchorCtr="0">
            <a:normAutofit/>
          </a:bodyPr>
          <a:lstStyle/>
          <a:p>
            <a:pPr marL="0" lvl="0" indent="0" algn="l" rtl="0">
              <a:lnSpc>
                <a:spcPct val="110000"/>
              </a:lnSpc>
              <a:spcBef>
                <a:spcPts val="1500"/>
              </a:spcBef>
              <a:spcAft>
                <a:spcPts val="0"/>
              </a:spcAft>
              <a:buClr>
                <a:schemeClr val="dk1"/>
              </a:buClr>
              <a:buSzPts val="1100"/>
              <a:buFont typeface="Arial"/>
              <a:buNone/>
            </a:pPr>
            <a:r>
              <a:rPr lang="en" sz="1350" b="1">
                <a:solidFill>
                  <a:srgbClr val="337FE5"/>
                </a:solidFill>
                <a:highlight>
                  <a:srgbClr val="FFFFFF"/>
                </a:highlight>
              </a:rPr>
              <a:t>Principle 4: Performance Efficiency</a:t>
            </a:r>
            <a:endParaRPr sz="1350" b="1">
              <a:solidFill>
                <a:srgbClr val="337FE5"/>
              </a:solidFill>
              <a:highlight>
                <a:srgbClr val="FFFFFF"/>
              </a:highlight>
            </a:endParaRPr>
          </a:p>
          <a:p>
            <a:pPr marL="457200" lvl="0" indent="-307975" algn="l" rtl="0">
              <a:spcBef>
                <a:spcPts val="80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The primary goal in performance efficiency is to discover and enhance the performance of the application and improve the efficiency of resources and components.</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The first is </a:t>
            </a:r>
            <a:r>
              <a:rPr lang="en" sz="1250" b="1">
                <a:solidFill>
                  <a:srgbClr val="253858"/>
                </a:solidFill>
                <a:highlight>
                  <a:srgbClr val="FFFFFF"/>
                </a:highlight>
                <a:latin typeface="Montserrat"/>
                <a:ea typeface="Montserrat"/>
                <a:cs typeface="Montserrat"/>
                <a:sym typeface="Montserrat"/>
              </a:rPr>
              <a:t>computing performance</a:t>
            </a:r>
            <a:r>
              <a:rPr lang="en" sz="1250">
                <a:solidFill>
                  <a:srgbClr val="253858"/>
                </a:solidFill>
                <a:highlight>
                  <a:srgbClr val="FFFFFF"/>
                </a:highlight>
                <a:latin typeface="Montserrat"/>
                <a:ea typeface="Montserrat"/>
                <a:cs typeface="Montserrat"/>
                <a:sym typeface="Montserrat"/>
              </a:rPr>
              <a:t>. The single-machine performance is improved by using high-configuration cloud hosts or physical cloud hosts, and the overall service performance is expanded through clusters. </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The second is </a:t>
            </a:r>
            <a:r>
              <a:rPr lang="en" sz="1250" b="1">
                <a:solidFill>
                  <a:srgbClr val="253858"/>
                </a:solidFill>
                <a:highlight>
                  <a:srgbClr val="FFFFFF"/>
                </a:highlight>
                <a:latin typeface="Montserrat"/>
                <a:ea typeface="Montserrat"/>
                <a:cs typeface="Montserrat"/>
                <a:sym typeface="Montserrat"/>
              </a:rPr>
              <a:t>storage and caching</a:t>
            </a:r>
            <a:r>
              <a:rPr lang="en" sz="1250">
                <a:solidFill>
                  <a:srgbClr val="253858"/>
                </a:solidFill>
                <a:highlight>
                  <a:srgbClr val="FFFFFF"/>
                </a:highlight>
                <a:latin typeface="Montserrat"/>
                <a:ea typeface="Montserrat"/>
                <a:cs typeface="Montserrat"/>
                <a:sym typeface="Montserrat"/>
              </a:rPr>
              <a:t>. Cache hot data and store temporary state data by Redis, and performing in-memory calculations can improve business performance. </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The third is the </a:t>
            </a:r>
            <a:r>
              <a:rPr lang="en" sz="1250" b="1">
                <a:solidFill>
                  <a:srgbClr val="253858"/>
                </a:solidFill>
                <a:highlight>
                  <a:srgbClr val="FFFFFF"/>
                </a:highlight>
                <a:latin typeface="Montserrat"/>
                <a:ea typeface="Montserrat"/>
                <a:cs typeface="Montserrat"/>
                <a:sym typeface="Montserrat"/>
              </a:rPr>
              <a:t>optimization of network</a:t>
            </a:r>
            <a:r>
              <a:rPr lang="en" sz="1250">
                <a:solidFill>
                  <a:srgbClr val="253858"/>
                </a:solidFill>
                <a:highlight>
                  <a:srgbClr val="FFFFFF"/>
                </a:highlight>
                <a:latin typeface="Montserrat"/>
                <a:ea typeface="Montserrat"/>
                <a:cs typeface="Montserrat"/>
                <a:sym typeface="Montserrat"/>
              </a:rPr>
              <a:t>. Select the optimal data center when the business is deployed globally, and improve the network performance based on global infrastructure network.</a:t>
            </a:r>
            <a:endParaRPr sz="1250">
              <a:solidFill>
                <a:srgbClr val="253858"/>
              </a:solidFill>
              <a:highlight>
                <a:srgbClr val="FFFFFF"/>
              </a:highlight>
              <a:latin typeface="Montserrat"/>
              <a:ea typeface="Montserrat"/>
              <a:cs typeface="Montserrat"/>
              <a:sym typeface="Montserrat"/>
            </a:endParaRPr>
          </a:p>
        </p:txBody>
      </p:sp>
      <p:pic>
        <p:nvPicPr>
          <p:cNvPr id="222" name="Google Shape;222;p41"/>
          <p:cNvPicPr preferRelativeResize="0"/>
          <p:nvPr/>
        </p:nvPicPr>
        <p:blipFill>
          <a:blip r:embed="rId3">
            <a:alphaModFix/>
          </a:blip>
          <a:stretch>
            <a:fillRect/>
          </a:stretch>
        </p:blipFill>
        <p:spPr>
          <a:xfrm>
            <a:off x="6291700" y="3501725"/>
            <a:ext cx="2852300" cy="16417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2"/>
          <p:cNvSpPr txBox="1">
            <a:spLocks noGrp="1"/>
          </p:cNvSpPr>
          <p:nvPr>
            <p:ph type="body" idx="1"/>
          </p:nvPr>
        </p:nvSpPr>
        <p:spPr>
          <a:xfrm>
            <a:off x="311700" y="4666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lnSpc>
                <a:spcPct val="110000"/>
              </a:lnSpc>
              <a:spcBef>
                <a:spcPts val="1500"/>
              </a:spcBef>
              <a:spcAft>
                <a:spcPts val="0"/>
              </a:spcAft>
              <a:buNone/>
            </a:pPr>
            <a:r>
              <a:rPr lang="en" sz="1467" b="1">
                <a:solidFill>
                  <a:srgbClr val="337FE5"/>
                </a:solidFill>
                <a:highlight>
                  <a:srgbClr val="FFFFFF"/>
                </a:highlight>
              </a:rPr>
              <a:t>Principle 5: Security Compliance</a:t>
            </a:r>
            <a:endParaRPr sz="1467" b="1">
              <a:solidFill>
                <a:srgbClr val="337FE5"/>
              </a:solidFill>
              <a:highlight>
                <a:srgbClr val="FFFFFF"/>
              </a:highlight>
            </a:endParaRPr>
          </a:p>
          <a:p>
            <a:pPr marL="0" lvl="0" indent="0" algn="l" rtl="0">
              <a:lnSpc>
                <a:spcPct val="110000"/>
              </a:lnSpc>
              <a:spcBef>
                <a:spcPts val="1500"/>
              </a:spcBef>
              <a:spcAft>
                <a:spcPts val="0"/>
              </a:spcAft>
              <a:buNone/>
            </a:pPr>
            <a:r>
              <a:rPr lang="en" sz="1450">
                <a:solidFill>
                  <a:srgbClr val="253858"/>
                </a:solidFill>
                <a:highlight>
                  <a:srgbClr val="FFFFFF"/>
                </a:highlight>
                <a:latin typeface="Montserrat"/>
                <a:ea typeface="Montserrat"/>
                <a:cs typeface="Montserrat"/>
                <a:sym typeface="Montserrat"/>
              </a:rPr>
              <a:t>On the one hand, security compliance is to meet the </a:t>
            </a:r>
            <a:r>
              <a:rPr lang="en" sz="1450" b="1">
                <a:solidFill>
                  <a:srgbClr val="253858"/>
                </a:solidFill>
                <a:highlight>
                  <a:srgbClr val="FFFFFF"/>
                </a:highlight>
                <a:latin typeface="Montserrat"/>
                <a:ea typeface="Montserrat"/>
                <a:cs typeface="Montserrat"/>
                <a:sym typeface="Montserrat"/>
              </a:rPr>
              <a:t>business security</a:t>
            </a:r>
            <a:r>
              <a:rPr lang="en" sz="1450">
                <a:solidFill>
                  <a:srgbClr val="253858"/>
                </a:solidFill>
                <a:highlight>
                  <a:srgbClr val="FFFFFF"/>
                </a:highlight>
                <a:latin typeface="Montserrat"/>
                <a:ea typeface="Montserrat"/>
                <a:cs typeface="Montserrat"/>
                <a:sym typeface="Montserrat"/>
              </a:rPr>
              <a:t> protection of their own needs, on the other hand, it is to meet the security supervision requirements.In the specific implementation, these two aspects will be crossed together.</a:t>
            </a:r>
            <a:endParaRPr sz="1450" b="1">
              <a:solidFill>
                <a:srgbClr val="337FE5"/>
              </a:solidFill>
              <a:highlight>
                <a:srgbClr val="FFFFFF"/>
              </a:highlight>
              <a:latin typeface="Montserrat"/>
              <a:ea typeface="Montserrat"/>
              <a:cs typeface="Montserrat"/>
              <a:sym typeface="Montserrat"/>
            </a:endParaRPr>
          </a:p>
          <a:p>
            <a:pPr marL="457200" lvl="0" indent="-313769" algn="l" rtl="0">
              <a:spcBef>
                <a:spcPts val="800"/>
              </a:spcBef>
              <a:spcAft>
                <a:spcPts val="0"/>
              </a:spcAft>
              <a:buClr>
                <a:srgbClr val="253858"/>
              </a:buClr>
              <a:buSzPct val="100000"/>
              <a:buFont typeface="Montserrat"/>
              <a:buChar char="●"/>
            </a:pPr>
            <a:r>
              <a:rPr lang="en" sz="1450" b="1">
                <a:solidFill>
                  <a:srgbClr val="253858"/>
                </a:solidFill>
                <a:highlight>
                  <a:srgbClr val="FFFFFF"/>
                </a:highlight>
                <a:latin typeface="Montserrat"/>
                <a:ea typeface="Montserrat"/>
                <a:cs typeface="Montserrat"/>
                <a:sym typeface="Montserrat"/>
              </a:rPr>
              <a:t>Set up master accounts and sub-accounts</a:t>
            </a:r>
            <a:r>
              <a:rPr lang="en" sz="1450">
                <a:solidFill>
                  <a:srgbClr val="253858"/>
                </a:solidFill>
                <a:highlight>
                  <a:srgbClr val="FFFFFF"/>
                </a:highlight>
                <a:latin typeface="Montserrat"/>
                <a:ea typeface="Montserrat"/>
                <a:cs typeface="Montserrat"/>
                <a:sym typeface="Montserrat"/>
              </a:rPr>
              <a:t> in the account system, and manage public keys and private keys separately; Set appropriate roles and assign the </a:t>
            </a:r>
            <a:r>
              <a:rPr lang="en" sz="1450" b="1">
                <a:solidFill>
                  <a:srgbClr val="253858"/>
                </a:solidFill>
                <a:highlight>
                  <a:srgbClr val="FFFFFF"/>
                </a:highlight>
                <a:latin typeface="Montserrat"/>
                <a:ea typeface="Montserrat"/>
                <a:cs typeface="Montserrat"/>
                <a:sym typeface="Montserrat"/>
              </a:rPr>
              <a:t>minimum permissions</a:t>
            </a:r>
            <a:r>
              <a:rPr lang="en" sz="1450">
                <a:solidFill>
                  <a:srgbClr val="253858"/>
                </a:solidFill>
                <a:highlight>
                  <a:srgbClr val="FFFFFF"/>
                </a:highlight>
                <a:latin typeface="Montserrat"/>
                <a:ea typeface="Montserrat"/>
                <a:cs typeface="Montserrat"/>
                <a:sym typeface="Montserrat"/>
              </a:rPr>
              <a:t> required to accounts and roles.</a:t>
            </a:r>
            <a:endParaRPr sz="1450">
              <a:solidFill>
                <a:srgbClr val="253858"/>
              </a:solidFill>
              <a:highlight>
                <a:srgbClr val="FFFFFF"/>
              </a:highlight>
              <a:latin typeface="Montserrat"/>
              <a:ea typeface="Montserrat"/>
              <a:cs typeface="Montserrat"/>
              <a:sym typeface="Montserrat"/>
            </a:endParaRPr>
          </a:p>
          <a:p>
            <a:pPr marL="457200" lvl="0" indent="-313769" algn="l" rtl="0">
              <a:spcBef>
                <a:spcPts val="0"/>
              </a:spcBef>
              <a:spcAft>
                <a:spcPts val="0"/>
              </a:spcAft>
              <a:buClr>
                <a:srgbClr val="253858"/>
              </a:buClr>
              <a:buSzPct val="100000"/>
              <a:buFont typeface="Montserrat"/>
              <a:buChar char="●"/>
            </a:pPr>
            <a:r>
              <a:rPr lang="en" sz="1450" b="1">
                <a:solidFill>
                  <a:srgbClr val="253858"/>
                </a:solidFill>
                <a:highlight>
                  <a:srgbClr val="FFFFFF"/>
                </a:highlight>
                <a:latin typeface="Montserrat"/>
                <a:ea typeface="Montserrat"/>
                <a:cs typeface="Montserrat"/>
                <a:sym typeface="Montserrat"/>
              </a:rPr>
              <a:t>Controlling network access</a:t>
            </a:r>
            <a:r>
              <a:rPr lang="en" sz="1450">
                <a:solidFill>
                  <a:srgbClr val="253858"/>
                </a:solidFill>
                <a:highlight>
                  <a:srgbClr val="FFFFFF"/>
                </a:highlight>
                <a:latin typeface="Montserrat"/>
                <a:ea typeface="Montserrat"/>
                <a:cs typeface="Montserrat"/>
                <a:sym typeface="Montserrat"/>
              </a:rPr>
              <a:t> through ACLs; Restrict open ports on cloud hosts through security groups; Control communication across subnets through subnetting and routing. Configure the database and the cloud hosts that only need internal access to the intranet VPCs, set the VPCs that are allowed to access, and set them to not connect to the extranet.</a:t>
            </a:r>
            <a:endParaRPr sz="1450">
              <a:solidFill>
                <a:srgbClr val="253858"/>
              </a:solidFill>
              <a:highlight>
                <a:srgbClr val="FFFFFF"/>
              </a:highlight>
              <a:latin typeface="Montserrat"/>
              <a:ea typeface="Montserrat"/>
              <a:cs typeface="Montserrat"/>
              <a:sym typeface="Montserrat"/>
            </a:endParaRPr>
          </a:p>
          <a:p>
            <a:pPr marL="457200" lvl="0" indent="-313769" algn="l" rtl="0">
              <a:spcBef>
                <a:spcPts val="0"/>
              </a:spcBef>
              <a:spcAft>
                <a:spcPts val="0"/>
              </a:spcAft>
              <a:buClr>
                <a:srgbClr val="253858"/>
              </a:buClr>
              <a:buSzPct val="100000"/>
              <a:buFont typeface="Montserrat"/>
              <a:buChar char="●"/>
            </a:pPr>
            <a:r>
              <a:rPr lang="en" sz="1450">
                <a:solidFill>
                  <a:srgbClr val="253858"/>
                </a:solidFill>
                <a:highlight>
                  <a:srgbClr val="FFFFFF"/>
                </a:highlight>
                <a:latin typeface="Montserrat"/>
                <a:ea typeface="Montserrat"/>
                <a:cs typeface="Montserrat"/>
                <a:sym typeface="Montserrat"/>
              </a:rPr>
              <a:t>Prevent DDoS, cc, SQL injection, XSS and other attacks.</a:t>
            </a:r>
            <a:endParaRPr sz="1450">
              <a:solidFill>
                <a:srgbClr val="253858"/>
              </a:solidFill>
              <a:highlight>
                <a:srgbClr val="FFFFFF"/>
              </a:highlight>
              <a:latin typeface="Montserrat"/>
              <a:ea typeface="Montserrat"/>
              <a:cs typeface="Montserrat"/>
              <a:sym typeface="Montserrat"/>
            </a:endParaRPr>
          </a:p>
          <a:p>
            <a:pPr marL="457200" lvl="0" indent="-313769" algn="l" rtl="0">
              <a:spcBef>
                <a:spcPts val="0"/>
              </a:spcBef>
              <a:spcAft>
                <a:spcPts val="0"/>
              </a:spcAft>
              <a:buClr>
                <a:srgbClr val="253858"/>
              </a:buClr>
              <a:buSzPct val="100000"/>
              <a:buFont typeface="Montserrat"/>
              <a:buChar char="●"/>
            </a:pPr>
            <a:r>
              <a:rPr lang="en" sz="1450" b="1">
                <a:solidFill>
                  <a:srgbClr val="253858"/>
                </a:solidFill>
                <a:highlight>
                  <a:srgbClr val="FFFFFF"/>
                </a:highlight>
                <a:latin typeface="Montserrat"/>
                <a:ea typeface="Montserrat"/>
                <a:cs typeface="Montserrat"/>
                <a:sym typeface="Montserrat"/>
              </a:rPr>
              <a:t>Security audit</a:t>
            </a:r>
            <a:r>
              <a:rPr lang="en" sz="1450">
                <a:solidFill>
                  <a:srgbClr val="253858"/>
                </a:solidFill>
                <a:highlight>
                  <a:srgbClr val="FFFFFF"/>
                </a:highlight>
                <a:latin typeface="Montserrat"/>
                <a:ea typeface="Montserrat"/>
                <a:cs typeface="Montserrat"/>
                <a:sym typeface="Montserrat"/>
              </a:rPr>
              <a:t>; Keep access logs and operation logs; Gradually realize low-frequency storage and archive storage, etc.</a:t>
            </a:r>
            <a:endParaRPr sz="1450"/>
          </a:p>
        </p:txBody>
      </p:sp>
      <p:pic>
        <p:nvPicPr>
          <p:cNvPr id="228" name="Google Shape;228;p42"/>
          <p:cNvPicPr preferRelativeResize="0"/>
          <p:nvPr/>
        </p:nvPicPr>
        <p:blipFill>
          <a:blip r:embed="rId3">
            <a:alphaModFix/>
          </a:blip>
          <a:stretch>
            <a:fillRect/>
          </a:stretch>
        </p:blipFill>
        <p:spPr>
          <a:xfrm>
            <a:off x="6037125" y="3425425"/>
            <a:ext cx="3061850" cy="1667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3"/>
          <p:cNvSpPr txBox="1">
            <a:spLocks noGrp="1"/>
          </p:cNvSpPr>
          <p:nvPr>
            <p:ph type="body" idx="1"/>
          </p:nvPr>
        </p:nvSpPr>
        <p:spPr>
          <a:xfrm>
            <a:off x="311700" y="466675"/>
            <a:ext cx="8520600" cy="3416400"/>
          </a:xfrm>
          <a:prstGeom prst="rect">
            <a:avLst/>
          </a:prstGeom>
        </p:spPr>
        <p:txBody>
          <a:bodyPr spcFirstLastPara="1" wrap="square" lIns="91425" tIns="91425" rIns="91425" bIns="91425" anchor="t" anchorCtr="0">
            <a:normAutofit/>
          </a:bodyPr>
          <a:lstStyle/>
          <a:p>
            <a:pPr marL="0" lvl="0" indent="0" algn="l" rtl="0">
              <a:lnSpc>
                <a:spcPct val="110000"/>
              </a:lnSpc>
              <a:spcBef>
                <a:spcPts val="1500"/>
              </a:spcBef>
              <a:spcAft>
                <a:spcPts val="0"/>
              </a:spcAft>
              <a:buNone/>
            </a:pPr>
            <a:r>
              <a:rPr lang="en" sz="1350" b="1">
                <a:solidFill>
                  <a:srgbClr val="337FE5"/>
                </a:solidFill>
                <a:highlight>
                  <a:srgbClr val="FFFFFF"/>
                </a:highlight>
              </a:rPr>
              <a:t>Principle 6: Continuous Operation</a:t>
            </a:r>
            <a:endParaRPr sz="1350" b="1">
              <a:solidFill>
                <a:srgbClr val="337FE5"/>
              </a:solidFill>
              <a:highlight>
                <a:srgbClr val="FFFFFF"/>
              </a:highlight>
            </a:endParaRPr>
          </a:p>
          <a:p>
            <a:pPr marL="457200" lvl="0" indent="-307975" algn="l" rtl="0">
              <a:lnSpc>
                <a:spcPct val="110000"/>
              </a:lnSpc>
              <a:spcBef>
                <a:spcPts val="150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Cloud resources, cloud services, events and users' applications will be monitored in continuous operation, and </a:t>
            </a:r>
            <a:r>
              <a:rPr lang="en" sz="1250" b="1">
                <a:solidFill>
                  <a:srgbClr val="253858"/>
                </a:solidFill>
                <a:highlight>
                  <a:srgbClr val="FFFFFF"/>
                </a:highlight>
                <a:latin typeface="Montserrat"/>
                <a:ea typeface="Montserrat"/>
                <a:cs typeface="Montserrat"/>
                <a:sym typeface="Montserrat"/>
              </a:rPr>
              <a:t>alarms will be set</a:t>
            </a:r>
            <a:r>
              <a:rPr lang="en" sz="1250">
                <a:solidFill>
                  <a:srgbClr val="253858"/>
                </a:solidFill>
                <a:highlight>
                  <a:srgbClr val="FFFFFF"/>
                </a:highlight>
                <a:latin typeface="Montserrat"/>
                <a:ea typeface="Montserrat"/>
                <a:cs typeface="Montserrat"/>
                <a:sym typeface="Montserrat"/>
              </a:rPr>
              <a:t>. </a:t>
            </a:r>
            <a:endParaRPr sz="1250">
              <a:solidFill>
                <a:srgbClr val="253858"/>
              </a:solidFill>
              <a:highlight>
                <a:srgbClr val="FFFFFF"/>
              </a:highlight>
              <a:latin typeface="Montserrat"/>
              <a:ea typeface="Montserrat"/>
              <a:cs typeface="Montserrat"/>
              <a:sym typeface="Montserrat"/>
            </a:endParaRPr>
          </a:p>
          <a:p>
            <a:pPr marL="457200" lvl="0" indent="-307975" algn="l" rtl="0">
              <a:lnSpc>
                <a:spcPct val="110000"/>
              </a:lnSpc>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When alarm conditions are reached, relevant personnel will be notified by phone, SMS, email, WeChat, etc. </a:t>
            </a:r>
            <a:endParaRPr sz="1250">
              <a:solidFill>
                <a:srgbClr val="253858"/>
              </a:solidFill>
              <a:highlight>
                <a:srgbClr val="FFFFFF"/>
              </a:highlight>
              <a:latin typeface="Montserrat"/>
              <a:ea typeface="Montserrat"/>
              <a:cs typeface="Montserrat"/>
              <a:sym typeface="Montserrat"/>
            </a:endParaRPr>
          </a:p>
          <a:p>
            <a:pPr marL="457200" lvl="0" indent="-307975" algn="l" rtl="0">
              <a:lnSpc>
                <a:spcPct val="110000"/>
              </a:lnSpc>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Alarms will be handed over to callback functions, which can realize automated fault handling or corresponding contingency plans and reduce manual intervention.</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In addition, it needs to have automatic response and processing functions. Automatic scaling can automatically expand or shrink the number of cloud hosts by monitoring indicators such as CPU.</a:t>
            </a:r>
            <a:endParaRPr sz="1250">
              <a:solidFill>
                <a:srgbClr val="253858"/>
              </a:solidFill>
              <a:highlight>
                <a:srgbClr val="FFFFFF"/>
              </a:highlight>
              <a:latin typeface="Montserrat"/>
              <a:ea typeface="Montserrat"/>
              <a:cs typeface="Montserrat"/>
              <a:sym typeface="Montserrat"/>
            </a:endParaRPr>
          </a:p>
          <a:p>
            <a:pPr marL="457200" lvl="0" indent="-307975" algn="l" rtl="0">
              <a:spcBef>
                <a:spcPts val="0"/>
              </a:spcBef>
              <a:spcAft>
                <a:spcPts val="0"/>
              </a:spcAft>
              <a:buClr>
                <a:srgbClr val="253858"/>
              </a:buClr>
              <a:buSzPts val="1250"/>
              <a:buFont typeface="Montserrat"/>
              <a:buChar char="●"/>
            </a:pPr>
            <a:r>
              <a:rPr lang="en" sz="1250">
                <a:solidFill>
                  <a:srgbClr val="253858"/>
                </a:solidFill>
                <a:highlight>
                  <a:srgbClr val="FFFFFF"/>
                </a:highlight>
                <a:latin typeface="Montserrat"/>
                <a:ea typeface="Montserrat"/>
                <a:cs typeface="Montserrat"/>
                <a:sym typeface="Montserrat"/>
              </a:rPr>
              <a:t>Detect changes in consumption and business costs in a timely manner and optimize costs. Set alarm values for account balances to avoid rapid spending and achieve cost control.</a:t>
            </a:r>
            <a:endParaRPr sz="1250">
              <a:solidFill>
                <a:srgbClr val="253858"/>
              </a:solidFill>
              <a:highlight>
                <a:srgbClr val="FFFFFF"/>
              </a:highlight>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Gallery">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997</TotalTime>
  <Words>7184</Words>
  <Application>Microsoft Office PowerPoint</Application>
  <PresentationFormat>On-screen Show (16:9)</PresentationFormat>
  <Paragraphs>457</Paragraphs>
  <Slides>77</Slides>
  <Notes>56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77</vt:i4>
      </vt:variant>
    </vt:vector>
  </HeadingPairs>
  <TitlesOfParts>
    <vt:vector size="86" baseType="lpstr">
      <vt:lpstr>Palatino Linotype</vt:lpstr>
      <vt:lpstr>Wingdings</vt:lpstr>
      <vt:lpstr>source-serif-pro</vt:lpstr>
      <vt:lpstr>Montserrat</vt:lpstr>
      <vt:lpstr>Times New Roman</vt:lpstr>
      <vt:lpstr>Amazon Ember</vt:lpstr>
      <vt:lpstr>Arial</vt:lpstr>
      <vt:lpstr>Gallery</vt:lpstr>
      <vt:lpstr>Simple Light</vt:lpstr>
      <vt:lpstr>Module 3 Cloud Architecture</vt:lpstr>
      <vt:lpstr>Content</vt:lpstr>
      <vt:lpstr>Cloud Architecture- Layers and Models</vt:lpstr>
      <vt:lpstr>Cloud Architecture- Layers and Models</vt:lpstr>
      <vt:lpstr>Cloud Architecture- Layers and Models</vt:lpstr>
      <vt:lpstr>Cloud Architecture- Layers and Models</vt:lpstr>
      <vt:lpstr>Cloud Architecture- Layers and Models</vt:lpstr>
      <vt:lpstr>Cloud Architecture- Layers and Models</vt:lpstr>
      <vt:lpstr>Cloud Architecture- Layers and Models</vt:lpstr>
      <vt:lpstr>Cloud Architecture- Layers and Models</vt:lpstr>
      <vt:lpstr>Cloud Application Requirements</vt:lpstr>
      <vt:lpstr>Cloud Application Requirements</vt:lpstr>
      <vt:lpstr>Cloud Application Requirements</vt:lpstr>
      <vt:lpstr>PowerPoint Presentation</vt:lpstr>
      <vt:lpstr>Service Oriented Architecture (SOA) for Cloud Application</vt:lpstr>
      <vt:lpstr>Service Oriented Architecture (SOA) for Cloud Application</vt:lpstr>
      <vt:lpstr>PowerPoint Presentation</vt:lpstr>
      <vt:lpstr>Role of Service-Oriented Architecture in Cloud Computing </vt:lpstr>
      <vt:lpstr>PowerPoint Presentation</vt:lpstr>
      <vt:lpstr>PowerPoint Presentation</vt:lpstr>
      <vt:lpstr>PowerPoint Presentation</vt:lpstr>
      <vt:lpstr>Parallelization within Cloud Application</vt:lpstr>
      <vt:lpstr>PowerPoint Presentation</vt:lpstr>
      <vt:lpstr>PowerPoint Presentation</vt:lpstr>
      <vt:lpstr>PowerPoint Presentation</vt:lpstr>
      <vt:lpstr>PowerPoint Presentation</vt:lpstr>
      <vt:lpstr>PowerPoint Presentation</vt:lpstr>
      <vt:lpstr>PowerPoint Presentation</vt:lpstr>
      <vt:lpstr>Advantages of Parallelization </vt:lpstr>
      <vt:lpstr>Parallelization within Cloud Applications </vt:lpstr>
      <vt:lpstr>Parallel Computing</vt:lpstr>
      <vt:lpstr>Parallel Computing Architecture</vt:lpstr>
      <vt:lpstr>PowerPoint Presentation</vt:lpstr>
      <vt:lpstr>PowerPoint Presentation</vt:lpstr>
      <vt:lpstr>Multi Tier Application Architecture</vt:lpstr>
      <vt:lpstr>Two Tier Architecture </vt:lpstr>
      <vt:lpstr>Three Tier Architecture </vt:lpstr>
      <vt:lpstr>Multi Tier/ N-Tier Architecture </vt:lpstr>
      <vt:lpstr>Multi Tier/ N-Tier Architecture </vt:lpstr>
      <vt:lpstr>Multi Tier/ N-Tier Architecture </vt:lpstr>
      <vt:lpstr>Multi Tier/ N-Tier Architecture </vt:lpstr>
      <vt:lpstr>Multi Tier/ N-Tier Architecture in Cloud Computing</vt:lpstr>
      <vt:lpstr>Multi-tier Architecture </vt:lpstr>
      <vt:lpstr>Types of Multi-tier Architecture </vt:lpstr>
      <vt:lpstr>Example of Multi-tier Architecture </vt:lpstr>
      <vt:lpstr>Three-tier architecture overview </vt:lpstr>
      <vt:lpstr>Serverless logic tier </vt:lpstr>
      <vt:lpstr>Data tier </vt:lpstr>
      <vt:lpstr>Presentation tier </vt:lpstr>
      <vt:lpstr>Programming Support for Google Apps engine</vt:lpstr>
      <vt:lpstr>Programming Support for AWS</vt:lpstr>
      <vt:lpstr>Programming Support for AWS</vt:lpstr>
      <vt:lpstr>Programming Support for AWS</vt:lpstr>
      <vt:lpstr>Programming Support for AWS</vt:lpstr>
      <vt:lpstr>Programming Support for AWS</vt:lpstr>
      <vt:lpstr>Programming Support for AWS</vt:lpstr>
      <vt:lpstr>Programming Support for AWS</vt:lpstr>
      <vt:lpstr>Programming Support for AWS</vt:lpstr>
      <vt:lpstr>Programming Support for AWS</vt:lpstr>
      <vt:lpstr>Programming Support for AWS</vt:lpstr>
      <vt:lpstr>AWS Cloud Development Kit (AWS CDK) accelerates cloud development using common programming languages to model your applications.</vt:lpstr>
      <vt:lpstr>Programming Support for Amazon EC2</vt:lpstr>
      <vt:lpstr>PowerPoint Presentation</vt:lpstr>
      <vt:lpstr>PowerPoint Presentation</vt:lpstr>
      <vt:lpstr>PowerPoint Presentation</vt:lpstr>
      <vt:lpstr>PowerPoint Presentation</vt:lpstr>
      <vt:lpstr>PowerPoint Presentation</vt:lpstr>
      <vt:lpstr>PowerPoint Presentation</vt:lpstr>
      <vt:lpstr>Study of Cloud Tools and Platforms</vt:lpstr>
      <vt:lpstr>Insights about Cloud Computing Architecture</vt:lpstr>
      <vt:lpstr>Principles of Cloud Computing Architecture Design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Aditi Sharma</dc:creator>
  <cp:lastModifiedBy>Dipali Dakhole</cp:lastModifiedBy>
  <cp:revision>75</cp:revision>
  <dcterms:modified xsi:type="dcterms:W3CDTF">2026-08-25T04:28:02Z</dcterms:modified>
</cp:coreProperties>
</file>